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648"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780DA-1088-7571-03E8-668FD8FBF2F4}"/>
              </a:ext>
            </a:extLst>
          </p:cNvPr>
          <p:cNvSpPr>
            <a:spLocks noGrp="1"/>
          </p:cNvSpPr>
          <p:nvPr>
            <p:ph type="ctrTitle"/>
          </p:nvPr>
        </p:nvSpPr>
        <p:spPr>
          <a:xfrm>
            <a:off x="2032000" y="1496484"/>
            <a:ext cx="12192000" cy="3183467"/>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9E5A13E-D518-2014-6203-15B1611296FC}"/>
              </a:ext>
            </a:extLst>
          </p:cNvPr>
          <p:cNvSpPr>
            <a:spLocks noGrp="1"/>
          </p:cNvSpPr>
          <p:nvPr>
            <p:ph type="subTitle" idx="1"/>
          </p:nvPr>
        </p:nvSpPr>
        <p:spPr>
          <a:xfrm>
            <a:off x="2032000" y="4802717"/>
            <a:ext cx="12192000" cy="220768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D8C144-81AF-F9B2-4AFA-5717C5256328}"/>
              </a:ext>
            </a:extLst>
          </p:cNvPr>
          <p:cNvSpPr>
            <a:spLocks noGrp="1"/>
          </p:cNvSpPr>
          <p:nvPr>
            <p:ph type="dt" sz="half" idx="10"/>
          </p:nvPr>
        </p:nvSpPr>
        <p:spPr/>
        <p:txBody>
          <a:bodyPr/>
          <a:lstStyle/>
          <a:p>
            <a:fld id="{C063CC88-061E-41B9-9501-3FB27E38C9F5}" type="datetimeFigureOut">
              <a:rPr lang="en-US" smtClean="0"/>
              <a:t>6/2/2026</a:t>
            </a:fld>
            <a:endParaRPr lang="en-US"/>
          </a:p>
        </p:txBody>
      </p:sp>
      <p:sp>
        <p:nvSpPr>
          <p:cNvPr id="5" name="Footer Placeholder 4">
            <a:extLst>
              <a:ext uri="{FF2B5EF4-FFF2-40B4-BE49-F238E27FC236}">
                <a16:creationId xmlns:a16="http://schemas.microsoft.com/office/drawing/2014/main" id="{332C4BFA-59AA-8079-E4F7-39139584C0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A55005-C39B-7B31-8D52-E46F2373F07D}"/>
              </a:ext>
            </a:extLst>
          </p:cNvPr>
          <p:cNvSpPr>
            <a:spLocks noGrp="1"/>
          </p:cNvSpPr>
          <p:nvPr>
            <p:ph type="sldNum" sz="quarter" idx="12"/>
          </p:nvPr>
        </p:nvSpPr>
        <p:spPr/>
        <p:txBody>
          <a:bodyPr/>
          <a:lstStyle/>
          <a:p>
            <a:fld id="{5BD6C0D8-0BE0-46BE-90EC-F008C1286A90}" type="slidenum">
              <a:rPr lang="en-US" smtClean="0"/>
              <a:t>‹#›</a:t>
            </a:fld>
            <a:endParaRPr lang="en-US"/>
          </a:p>
        </p:txBody>
      </p:sp>
    </p:spTree>
    <p:extLst>
      <p:ext uri="{BB962C8B-B14F-4D97-AF65-F5344CB8AC3E}">
        <p14:creationId xmlns:p14="http://schemas.microsoft.com/office/powerpoint/2010/main" val="12251606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005C9-C5D9-C37D-FD9B-2212BE3EE6A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FFD7BF-74DB-2A8F-8AEA-F7DF9E0303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B277DB-8F30-7743-121C-C4D3F47C9F49}"/>
              </a:ext>
            </a:extLst>
          </p:cNvPr>
          <p:cNvSpPr>
            <a:spLocks noGrp="1"/>
          </p:cNvSpPr>
          <p:nvPr>
            <p:ph type="dt" sz="half" idx="10"/>
          </p:nvPr>
        </p:nvSpPr>
        <p:spPr/>
        <p:txBody>
          <a:bodyPr/>
          <a:lstStyle/>
          <a:p>
            <a:fld id="{C063CC88-061E-41B9-9501-3FB27E38C9F5}" type="datetimeFigureOut">
              <a:rPr lang="en-US" smtClean="0"/>
              <a:t>6/2/2026</a:t>
            </a:fld>
            <a:endParaRPr lang="en-US"/>
          </a:p>
        </p:txBody>
      </p:sp>
      <p:sp>
        <p:nvSpPr>
          <p:cNvPr id="5" name="Footer Placeholder 4">
            <a:extLst>
              <a:ext uri="{FF2B5EF4-FFF2-40B4-BE49-F238E27FC236}">
                <a16:creationId xmlns:a16="http://schemas.microsoft.com/office/drawing/2014/main" id="{35FD3FE0-0165-4F58-9FEB-949D9E9E10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31E48B-CA7D-28F8-7540-A7CFB1A93BE4}"/>
              </a:ext>
            </a:extLst>
          </p:cNvPr>
          <p:cNvSpPr>
            <a:spLocks noGrp="1"/>
          </p:cNvSpPr>
          <p:nvPr>
            <p:ph type="sldNum" sz="quarter" idx="12"/>
          </p:nvPr>
        </p:nvSpPr>
        <p:spPr/>
        <p:txBody>
          <a:bodyPr/>
          <a:lstStyle/>
          <a:p>
            <a:fld id="{5BD6C0D8-0BE0-46BE-90EC-F008C1286A90}" type="slidenum">
              <a:rPr lang="en-US" smtClean="0"/>
              <a:t>‹#›</a:t>
            </a:fld>
            <a:endParaRPr lang="en-US"/>
          </a:p>
        </p:txBody>
      </p:sp>
    </p:spTree>
    <p:extLst>
      <p:ext uri="{BB962C8B-B14F-4D97-AF65-F5344CB8AC3E}">
        <p14:creationId xmlns:p14="http://schemas.microsoft.com/office/powerpoint/2010/main" val="6611783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13D3B-937F-FFCC-94DD-9BE38D91DAA0}"/>
              </a:ext>
            </a:extLst>
          </p:cNvPr>
          <p:cNvSpPr>
            <a:spLocks noGrp="1"/>
          </p:cNvSpPr>
          <p:nvPr>
            <p:ph type="title"/>
          </p:nvPr>
        </p:nvSpPr>
        <p:spPr>
          <a:xfrm>
            <a:off x="1109133" y="2279653"/>
            <a:ext cx="14020800" cy="3803649"/>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09BFE2C-BF78-1F57-D4C6-BB160FBDC267}"/>
              </a:ext>
            </a:extLst>
          </p:cNvPr>
          <p:cNvSpPr>
            <a:spLocks noGrp="1"/>
          </p:cNvSpPr>
          <p:nvPr>
            <p:ph type="body" idx="1"/>
          </p:nvPr>
        </p:nvSpPr>
        <p:spPr>
          <a:xfrm>
            <a:off x="1109133" y="6119286"/>
            <a:ext cx="14020800" cy="2000249"/>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0C87CF-4F0C-F5D0-F572-89B4EE51B2C9}"/>
              </a:ext>
            </a:extLst>
          </p:cNvPr>
          <p:cNvSpPr>
            <a:spLocks noGrp="1"/>
          </p:cNvSpPr>
          <p:nvPr>
            <p:ph type="dt" sz="half" idx="10"/>
          </p:nvPr>
        </p:nvSpPr>
        <p:spPr/>
        <p:txBody>
          <a:bodyPr/>
          <a:lstStyle/>
          <a:p>
            <a:fld id="{C063CC88-061E-41B9-9501-3FB27E38C9F5}" type="datetimeFigureOut">
              <a:rPr lang="en-US" smtClean="0"/>
              <a:t>6/2/2026</a:t>
            </a:fld>
            <a:endParaRPr lang="en-US"/>
          </a:p>
        </p:txBody>
      </p:sp>
      <p:sp>
        <p:nvSpPr>
          <p:cNvPr id="5" name="Footer Placeholder 4">
            <a:extLst>
              <a:ext uri="{FF2B5EF4-FFF2-40B4-BE49-F238E27FC236}">
                <a16:creationId xmlns:a16="http://schemas.microsoft.com/office/drawing/2014/main" id="{5748E61C-04CA-F803-7DFF-97D57E7EC8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085117-14E3-2B8B-DCD7-2B7A5C5CCC27}"/>
              </a:ext>
            </a:extLst>
          </p:cNvPr>
          <p:cNvSpPr>
            <a:spLocks noGrp="1"/>
          </p:cNvSpPr>
          <p:nvPr>
            <p:ph type="sldNum" sz="quarter" idx="12"/>
          </p:nvPr>
        </p:nvSpPr>
        <p:spPr/>
        <p:txBody>
          <a:bodyPr/>
          <a:lstStyle/>
          <a:p>
            <a:fld id="{5BD6C0D8-0BE0-46BE-90EC-F008C1286A90}" type="slidenum">
              <a:rPr lang="en-US" smtClean="0"/>
              <a:t>‹#›</a:t>
            </a:fld>
            <a:endParaRPr lang="en-US"/>
          </a:p>
        </p:txBody>
      </p:sp>
    </p:spTree>
    <p:extLst>
      <p:ext uri="{BB962C8B-B14F-4D97-AF65-F5344CB8AC3E}">
        <p14:creationId xmlns:p14="http://schemas.microsoft.com/office/powerpoint/2010/main" val="2470648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2147C-DB19-62C3-F8E8-6CFEFC89F7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5BA3A36-7C84-2877-083B-8229FC13C299}"/>
              </a:ext>
            </a:extLst>
          </p:cNvPr>
          <p:cNvSpPr>
            <a:spLocks noGrp="1"/>
          </p:cNvSpPr>
          <p:nvPr>
            <p:ph sz="half" idx="1"/>
          </p:nvPr>
        </p:nvSpPr>
        <p:spPr>
          <a:xfrm>
            <a:off x="1117600" y="2434167"/>
            <a:ext cx="690880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C9A60A4-1013-5983-E37C-C5ABEFDAB8BF}"/>
              </a:ext>
            </a:extLst>
          </p:cNvPr>
          <p:cNvSpPr>
            <a:spLocks noGrp="1"/>
          </p:cNvSpPr>
          <p:nvPr>
            <p:ph sz="half" idx="2"/>
          </p:nvPr>
        </p:nvSpPr>
        <p:spPr>
          <a:xfrm>
            <a:off x="8229600" y="2434167"/>
            <a:ext cx="690880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BB0AF31-5DB6-1300-7864-5A7FCFB915C1}"/>
              </a:ext>
            </a:extLst>
          </p:cNvPr>
          <p:cNvSpPr>
            <a:spLocks noGrp="1"/>
          </p:cNvSpPr>
          <p:nvPr>
            <p:ph type="dt" sz="half" idx="10"/>
          </p:nvPr>
        </p:nvSpPr>
        <p:spPr/>
        <p:txBody>
          <a:bodyPr/>
          <a:lstStyle/>
          <a:p>
            <a:fld id="{C063CC88-061E-41B9-9501-3FB27E38C9F5}" type="datetimeFigureOut">
              <a:rPr lang="en-US" smtClean="0"/>
              <a:t>6/2/2026</a:t>
            </a:fld>
            <a:endParaRPr lang="en-US"/>
          </a:p>
        </p:txBody>
      </p:sp>
      <p:sp>
        <p:nvSpPr>
          <p:cNvPr id="6" name="Footer Placeholder 5">
            <a:extLst>
              <a:ext uri="{FF2B5EF4-FFF2-40B4-BE49-F238E27FC236}">
                <a16:creationId xmlns:a16="http://schemas.microsoft.com/office/drawing/2014/main" id="{10446BDD-3A36-AFF5-DA2D-80A822DBD3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980D75-9CA9-FB24-ADD1-F2BD11E6B4AB}"/>
              </a:ext>
            </a:extLst>
          </p:cNvPr>
          <p:cNvSpPr>
            <a:spLocks noGrp="1"/>
          </p:cNvSpPr>
          <p:nvPr>
            <p:ph type="sldNum" sz="quarter" idx="12"/>
          </p:nvPr>
        </p:nvSpPr>
        <p:spPr/>
        <p:txBody>
          <a:bodyPr/>
          <a:lstStyle/>
          <a:p>
            <a:fld id="{5BD6C0D8-0BE0-46BE-90EC-F008C1286A90}" type="slidenum">
              <a:rPr lang="en-US" smtClean="0"/>
              <a:t>‹#›</a:t>
            </a:fld>
            <a:endParaRPr lang="en-US"/>
          </a:p>
        </p:txBody>
      </p:sp>
    </p:spTree>
    <p:extLst>
      <p:ext uri="{BB962C8B-B14F-4D97-AF65-F5344CB8AC3E}">
        <p14:creationId xmlns:p14="http://schemas.microsoft.com/office/powerpoint/2010/main" val="37612519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D4C73-4187-DB71-7151-197F2169810B}"/>
              </a:ext>
            </a:extLst>
          </p:cNvPr>
          <p:cNvSpPr>
            <a:spLocks noGrp="1"/>
          </p:cNvSpPr>
          <p:nvPr>
            <p:ph type="title"/>
          </p:nvPr>
        </p:nvSpPr>
        <p:spPr>
          <a:xfrm>
            <a:off x="1119717" y="486836"/>
            <a:ext cx="14020800" cy="1767417"/>
          </a:xfrm>
        </p:spPr>
        <p:txBody>
          <a:bodyPr/>
          <a:lstStyle/>
          <a:p>
            <a:r>
              <a:rPr lang="en-US"/>
              <a:t>Click to edit Master title style</a:t>
            </a:r>
          </a:p>
        </p:txBody>
      </p:sp>
      <p:sp>
        <p:nvSpPr>
          <p:cNvPr id="3" name="Text Placeholder 2">
            <a:extLst>
              <a:ext uri="{FF2B5EF4-FFF2-40B4-BE49-F238E27FC236}">
                <a16:creationId xmlns:a16="http://schemas.microsoft.com/office/drawing/2014/main" id="{5DF054CD-721D-27A1-D032-A58BB4473299}"/>
              </a:ext>
            </a:extLst>
          </p:cNvPr>
          <p:cNvSpPr>
            <a:spLocks noGrp="1"/>
          </p:cNvSpPr>
          <p:nvPr>
            <p:ph type="body" idx="1"/>
          </p:nvPr>
        </p:nvSpPr>
        <p:spPr>
          <a:xfrm>
            <a:off x="1119719" y="2241551"/>
            <a:ext cx="6877049" cy="109854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8323B9-B96D-C727-B163-0F04142611A0}"/>
              </a:ext>
            </a:extLst>
          </p:cNvPr>
          <p:cNvSpPr>
            <a:spLocks noGrp="1"/>
          </p:cNvSpPr>
          <p:nvPr>
            <p:ph sz="half" idx="2"/>
          </p:nvPr>
        </p:nvSpPr>
        <p:spPr>
          <a:xfrm>
            <a:off x="1119719" y="3340100"/>
            <a:ext cx="6877049"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225B3C6-D10A-8B94-3EC7-4FF7A8880E89}"/>
              </a:ext>
            </a:extLst>
          </p:cNvPr>
          <p:cNvSpPr>
            <a:spLocks noGrp="1"/>
          </p:cNvSpPr>
          <p:nvPr>
            <p:ph type="body" sz="quarter" idx="3"/>
          </p:nvPr>
        </p:nvSpPr>
        <p:spPr>
          <a:xfrm>
            <a:off x="8229601" y="2241551"/>
            <a:ext cx="6910917" cy="109854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1788A3-2EA7-66AE-8BE8-7F6D1AFAADB7}"/>
              </a:ext>
            </a:extLst>
          </p:cNvPr>
          <p:cNvSpPr>
            <a:spLocks noGrp="1"/>
          </p:cNvSpPr>
          <p:nvPr>
            <p:ph sz="quarter" idx="4"/>
          </p:nvPr>
        </p:nvSpPr>
        <p:spPr>
          <a:xfrm>
            <a:off x="8229601" y="3340100"/>
            <a:ext cx="6910917"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CEAB39B-F416-B0C3-2E5F-682AE1A6D92E}"/>
              </a:ext>
            </a:extLst>
          </p:cNvPr>
          <p:cNvSpPr>
            <a:spLocks noGrp="1"/>
          </p:cNvSpPr>
          <p:nvPr>
            <p:ph type="dt" sz="half" idx="10"/>
          </p:nvPr>
        </p:nvSpPr>
        <p:spPr/>
        <p:txBody>
          <a:bodyPr/>
          <a:lstStyle/>
          <a:p>
            <a:fld id="{C063CC88-061E-41B9-9501-3FB27E38C9F5}" type="datetimeFigureOut">
              <a:rPr lang="en-US" smtClean="0"/>
              <a:t>6/2/2026</a:t>
            </a:fld>
            <a:endParaRPr lang="en-US"/>
          </a:p>
        </p:txBody>
      </p:sp>
      <p:sp>
        <p:nvSpPr>
          <p:cNvPr id="8" name="Footer Placeholder 7">
            <a:extLst>
              <a:ext uri="{FF2B5EF4-FFF2-40B4-BE49-F238E27FC236}">
                <a16:creationId xmlns:a16="http://schemas.microsoft.com/office/drawing/2014/main" id="{2A4F8EEB-797C-FAB0-3101-911340D7C06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9CA6746-5E6E-572F-E669-B0F28A9EE6AA}"/>
              </a:ext>
            </a:extLst>
          </p:cNvPr>
          <p:cNvSpPr>
            <a:spLocks noGrp="1"/>
          </p:cNvSpPr>
          <p:nvPr>
            <p:ph type="sldNum" sz="quarter" idx="12"/>
          </p:nvPr>
        </p:nvSpPr>
        <p:spPr/>
        <p:txBody>
          <a:bodyPr/>
          <a:lstStyle/>
          <a:p>
            <a:fld id="{5BD6C0D8-0BE0-46BE-90EC-F008C1286A90}" type="slidenum">
              <a:rPr lang="en-US" smtClean="0"/>
              <a:t>‹#›</a:t>
            </a:fld>
            <a:endParaRPr lang="en-US"/>
          </a:p>
        </p:txBody>
      </p:sp>
    </p:spTree>
    <p:extLst>
      <p:ext uri="{BB962C8B-B14F-4D97-AF65-F5344CB8AC3E}">
        <p14:creationId xmlns:p14="http://schemas.microsoft.com/office/powerpoint/2010/main" val="3778556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F5C01-B816-5221-5F81-774279CC47C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CAC4E64-1637-ABDA-1807-97811F07BD92}"/>
              </a:ext>
            </a:extLst>
          </p:cNvPr>
          <p:cNvSpPr>
            <a:spLocks noGrp="1"/>
          </p:cNvSpPr>
          <p:nvPr>
            <p:ph type="dt" sz="half" idx="10"/>
          </p:nvPr>
        </p:nvSpPr>
        <p:spPr/>
        <p:txBody>
          <a:bodyPr/>
          <a:lstStyle/>
          <a:p>
            <a:fld id="{C063CC88-061E-41B9-9501-3FB27E38C9F5}" type="datetimeFigureOut">
              <a:rPr lang="en-US" smtClean="0"/>
              <a:t>6/2/2026</a:t>
            </a:fld>
            <a:endParaRPr lang="en-US"/>
          </a:p>
        </p:txBody>
      </p:sp>
      <p:sp>
        <p:nvSpPr>
          <p:cNvPr id="4" name="Footer Placeholder 3">
            <a:extLst>
              <a:ext uri="{FF2B5EF4-FFF2-40B4-BE49-F238E27FC236}">
                <a16:creationId xmlns:a16="http://schemas.microsoft.com/office/drawing/2014/main" id="{70217BF0-DF0A-173E-4852-F0F1AC0714C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2A3AEB0-BB70-953F-1D25-28EA2624AA64}"/>
              </a:ext>
            </a:extLst>
          </p:cNvPr>
          <p:cNvSpPr>
            <a:spLocks noGrp="1"/>
          </p:cNvSpPr>
          <p:nvPr>
            <p:ph type="sldNum" sz="quarter" idx="12"/>
          </p:nvPr>
        </p:nvSpPr>
        <p:spPr/>
        <p:txBody>
          <a:bodyPr/>
          <a:lstStyle/>
          <a:p>
            <a:fld id="{5BD6C0D8-0BE0-46BE-90EC-F008C1286A90}" type="slidenum">
              <a:rPr lang="en-US" smtClean="0"/>
              <a:t>‹#›</a:t>
            </a:fld>
            <a:endParaRPr lang="en-US"/>
          </a:p>
        </p:txBody>
      </p:sp>
    </p:spTree>
    <p:extLst>
      <p:ext uri="{BB962C8B-B14F-4D97-AF65-F5344CB8AC3E}">
        <p14:creationId xmlns:p14="http://schemas.microsoft.com/office/powerpoint/2010/main" val="2281062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63A1E4-808E-B749-7EB8-CF13FFF20D11}"/>
              </a:ext>
            </a:extLst>
          </p:cNvPr>
          <p:cNvSpPr>
            <a:spLocks noGrp="1"/>
          </p:cNvSpPr>
          <p:nvPr>
            <p:ph type="dt" sz="half" idx="10"/>
          </p:nvPr>
        </p:nvSpPr>
        <p:spPr/>
        <p:txBody>
          <a:bodyPr/>
          <a:lstStyle/>
          <a:p>
            <a:fld id="{C063CC88-061E-41B9-9501-3FB27E38C9F5}" type="datetimeFigureOut">
              <a:rPr lang="en-US" smtClean="0"/>
              <a:t>6/2/2026</a:t>
            </a:fld>
            <a:endParaRPr lang="en-US"/>
          </a:p>
        </p:txBody>
      </p:sp>
      <p:sp>
        <p:nvSpPr>
          <p:cNvPr id="3" name="Footer Placeholder 2">
            <a:extLst>
              <a:ext uri="{FF2B5EF4-FFF2-40B4-BE49-F238E27FC236}">
                <a16:creationId xmlns:a16="http://schemas.microsoft.com/office/drawing/2014/main" id="{F1D63986-CE6C-F06E-F463-EB5CF88CDB9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C2536F5-1CA9-273B-2584-DC937B72A96A}"/>
              </a:ext>
            </a:extLst>
          </p:cNvPr>
          <p:cNvSpPr>
            <a:spLocks noGrp="1"/>
          </p:cNvSpPr>
          <p:nvPr>
            <p:ph type="sldNum" sz="quarter" idx="12"/>
          </p:nvPr>
        </p:nvSpPr>
        <p:spPr/>
        <p:txBody>
          <a:bodyPr/>
          <a:lstStyle/>
          <a:p>
            <a:fld id="{5BD6C0D8-0BE0-46BE-90EC-F008C1286A90}" type="slidenum">
              <a:rPr lang="en-US" smtClean="0"/>
              <a:t>‹#›</a:t>
            </a:fld>
            <a:endParaRPr lang="en-US"/>
          </a:p>
        </p:txBody>
      </p:sp>
    </p:spTree>
    <p:extLst>
      <p:ext uri="{BB962C8B-B14F-4D97-AF65-F5344CB8AC3E}">
        <p14:creationId xmlns:p14="http://schemas.microsoft.com/office/powerpoint/2010/main" val="2295401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428AB-EC66-94AB-D5C9-55BD22EEABA2}"/>
              </a:ext>
            </a:extLst>
          </p:cNvPr>
          <p:cNvSpPr>
            <a:spLocks noGrp="1"/>
          </p:cNvSpPr>
          <p:nvPr>
            <p:ph type="title"/>
          </p:nvPr>
        </p:nvSpPr>
        <p:spPr>
          <a:xfrm>
            <a:off x="1119719" y="609600"/>
            <a:ext cx="5242983" cy="21336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A211071-DDFE-FE73-59FF-4C9775DB70DF}"/>
              </a:ext>
            </a:extLst>
          </p:cNvPr>
          <p:cNvSpPr>
            <a:spLocks noGrp="1"/>
          </p:cNvSpPr>
          <p:nvPr>
            <p:ph idx="1"/>
          </p:nvPr>
        </p:nvSpPr>
        <p:spPr>
          <a:xfrm>
            <a:off x="6910917" y="1316569"/>
            <a:ext cx="8229600" cy="649816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EAFD24-DDB4-A31C-675C-F06C12980179}"/>
              </a:ext>
            </a:extLst>
          </p:cNvPr>
          <p:cNvSpPr>
            <a:spLocks noGrp="1"/>
          </p:cNvSpPr>
          <p:nvPr>
            <p:ph type="body" sz="half" idx="2"/>
          </p:nvPr>
        </p:nvSpPr>
        <p:spPr>
          <a:xfrm>
            <a:off x="1119719" y="2743200"/>
            <a:ext cx="5242983" cy="508211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1ECE8F-C895-E152-E9ED-63856B4F3213}"/>
              </a:ext>
            </a:extLst>
          </p:cNvPr>
          <p:cNvSpPr>
            <a:spLocks noGrp="1"/>
          </p:cNvSpPr>
          <p:nvPr>
            <p:ph type="dt" sz="half" idx="10"/>
          </p:nvPr>
        </p:nvSpPr>
        <p:spPr/>
        <p:txBody>
          <a:bodyPr/>
          <a:lstStyle/>
          <a:p>
            <a:fld id="{C063CC88-061E-41B9-9501-3FB27E38C9F5}" type="datetimeFigureOut">
              <a:rPr lang="en-US" smtClean="0"/>
              <a:t>6/2/2026</a:t>
            </a:fld>
            <a:endParaRPr lang="en-US"/>
          </a:p>
        </p:txBody>
      </p:sp>
      <p:sp>
        <p:nvSpPr>
          <p:cNvPr id="6" name="Footer Placeholder 5">
            <a:extLst>
              <a:ext uri="{FF2B5EF4-FFF2-40B4-BE49-F238E27FC236}">
                <a16:creationId xmlns:a16="http://schemas.microsoft.com/office/drawing/2014/main" id="{321C2B18-20E8-0C8D-D930-A35EFD28D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1593E6-FE73-BF6D-2439-623DAFA516D0}"/>
              </a:ext>
            </a:extLst>
          </p:cNvPr>
          <p:cNvSpPr>
            <a:spLocks noGrp="1"/>
          </p:cNvSpPr>
          <p:nvPr>
            <p:ph type="sldNum" sz="quarter" idx="12"/>
          </p:nvPr>
        </p:nvSpPr>
        <p:spPr/>
        <p:txBody>
          <a:bodyPr/>
          <a:lstStyle/>
          <a:p>
            <a:fld id="{5BD6C0D8-0BE0-46BE-90EC-F008C1286A90}" type="slidenum">
              <a:rPr lang="en-US" smtClean="0"/>
              <a:t>‹#›</a:t>
            </a:fld>
            <a:endParaRPr lang="en-US"/>
          </a:p>
        </p:txBody>
      </p:sp>
    </p:spTree>
    <p:extLst>
      <p:ext uri="{BB962C8B-B14F-4D97-AF65-F5344CB8AC3E}">
        <p14:creationId xmlns:p14="http://schemas.microsoft.com/office/powerpoint/2010/main" val="2451850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2ADE7-035C-AF71-B824-958E2E15E397}"/>
              </a:ext>
            </a:extLst>
          </p:cNvPr>
          <p:cNvSpPr>
            <a:spLocks noGrp="1"/>
          </p:cNvSpPr>
          <p:nvPr>
            <p:ph type="title"/>
          </p:nvPr>
        </p:nvSpPr>
        <p:spPr>
          <a:xfrm>
            <a:off x="1119719" y="609600"/>
            <a:ext cx="5242983" cy="21336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DAB65EC-281F-93A1-079D-6B55DBF78672}"/>
              </a:ext>
            </a:extLst>
          </p:cNvPr>
          <p:cNvSpPr>
            <a:spLocks noGrp="1"/>
          </p:cNvSpPr>
          <p:nvPr>
            <p:ph type="pic" idx="1"/>
          </p:nvPr>
        </p:nvSpPr>
        <p:spPr>
          <a:xfrm>
            <a:off x="6910917" y="1316569"/>
            <a:ext cx="8229600" cy="649816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8DAA50A-44AA-5C7C-1F4D-6A7A35E7925F}"/>
              </a:ext>
            </a:extLst>
          </p:cNvPr>
          <p:cNvSpPr>
            <a:spLocks noGrp="1"/>
          </p:cNvSpPr>
          <p:nvPr>
            <p:ph type="body" sz="half" idx="2"/>
          </p:nvPr>
        </p:nvSpPr>
        <p:spPr>
          <a:xfrm>
            <a:off x="1119719" y="2743200"/>
            <a:ext cx="5242983" cy="508211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557946-9394-A0BA-7159-8B56B9630D8D}"/>
              </a:ext>
            </a:extLst>
          </p:cNvPr>
          <p:cNvSpPr>
            <a:spLocks noGrp="1"/>
          </p:cNvSpPr>
          <p:nvPr>
            <p:ph type="dt" sz="half" idx="10"/>
          </p:nvPr>
        </p:nvSpPr>
        <p:spPr/>
        <p:txBody>
          <a:bodyPr/>
          <a:lstStyle/>
          <a:p>
            <a:fld id="{C063CC88-061E-41B9-9501-3FB27E38C9F5}" type="datetimeFigureOut">
              <a:rPr lang="en-US" smtClean="0"/>
              <a:t>6/2/2026</a:t>
            </a:fld>
            <a:endParaRPr lang="en-US"/>
          </a:p>
        </p:txBody>
      </p:sp>
      <p:sp>
        <p:nvSpPr>
          <p:cNvPr id="6" name="Footer Placeholder 5">
            <a:extLst>
              <a:ext uri="{FF2B5EF4-FFF2-40B4-BE49-F238E27FC236}">
                <a16:creationId xmlns:a16="http://schemas.microsoft.com/office/drawing/2014/main" id="{C1D80388-A957-2AB9-58DF-84A82D2D50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7AF882-F45B-1F96-F8DA-322BD2AEE40C}"/>
              </a:ext>
            </a:extLst>
          </p:cNvPr>
          <p:cNvSpPr>
            <a:spLocks noGrp="1"/>
          </p:cNvSpPr>
          <p:nvPr>
            <p:ph type="sldNum" sz="quarter" idx="12"/>
          </p:nvPr>
        </p:nvSpPr>
        <p:spPr/>
        <p:txBody>
          <a:bodyPr/>
          <a:lstStyle/>
          <a:p>
            <a:fld id="{5BD6C0D8-0BE0-46BE-90EC-F008C1286A90}" type="slidenum">
              <a:rPr lang="en-US" smtClean="0"/>
              <a:t>‹#›</a:t>
            </a:fld>
            <a:endParaRPr lang="en-US"/>
          </a:p>
        </p:txBody>
      </p:sp>
    </p:spTree>
    <p:extLst>
      <p:ext uri="{BB962C8B-B14F-4D97-AF65-F5344CB8AC3E}">
        <p14:creationId xmlns:p14="http://schemas.microsoft.com/office/powerpoint/2010/main" val="12076081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DEE99-E087-EF2E-0B3B-85FD12DDBE4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0C0A217-2A90-CA45-0062-BAB17B2BB53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983E6E-6053-C721-66CF-58A394D13AB5}"/>
              </a:ext>
            </a:extLst>
          </p:cNvPr>
          <p:cNvSpPr>
            <a:spLocks noGrp="1"/>
          </p:cNvSpPr>
          <p:nvPr>
            <p:ph type="dt" sz="half" idx="10"/>
          </p:nvPr>
        </p:nvSpPr>
        <p:spPr/>
        <p:txBody>
          <a:bodyPr/>
          <a:lstStyle/>
          <a:p>
            <a:fld id="{C063CC88-061E-41B9-9501-3FB27E38C9F5}" type="datetimeFigureOut">
              <a:rPr lang="en-US" smtClean="0"/>
              <a:t>6/2/2026</a:t>
            </a:fld>
            <a:endParaRPr lang="en-US"/>
          </a:p>
        </p:txBody>
      </p:sp>
      <p:sp>
        <p:nvSpPr>
          <p:cNvPr id="5" name="Footer Placeholder 4">
            <a:extLst>
              <a:ext uri="{FF2B5EF4-FFF2-40B4-BE49-F238E27FC236}">
                <a16:creationId xmlns:a16="http://schemas.microsoft.com/office/drawing/2014/main" id="{1F963312-6918-0DBB-F46B-70610581CE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A6429C-82BB-9F54-8375-9A3E65022F9F}"/>
              </a:ext>
            </a:extLst>
          </p:cNvPr>
          <p:cNvSpPr>
            <a:spLocks noGrp="1"/>
          </p:cNvSpPr>
          <p:nvPr>
            <p:ph type="sldNum" sz="quarter" idx="12"/>
          </p:nvPr>
        </p:nvSpPr>
        <p:spPr/>
        <p:txBody>
          <a:bodyPr/>
          <a:lstStyle/>
          <a:p>
            <a:fld id="{5BD6C0D8-0BE0-46BE-90EC-F008C1286A90}" type="slidenum">
              <a:rPr lang="en-US" smtClean="0"/>
              <a:t>‹#›</a:t>
            </a:fld>
            <a:endParaRPr lang="en-US"/>
          </a:p>
        </p:txBody>
      </p:sp>
    </p:spTree>
    <p:extLst>
      <p:ext uri="{BB962C8B-B14F-4D97-AF65-F5344CB8AC3E}">
        <p14:creationId xmlns:p14="http://schemas.microsoft.com/office/powerpoint/2010/main" val="5230078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45B15E5-7AF5-9EB8-F9DD-DDE5F84544C6}"/>
              </a:ext>
            </a:extLst>
          </p:cNvPr>
          <p:cNvSpPr>
            <a:spLocks noGrp="1"/>
          </p:cNvSpPr>
          <p:nvPr>
            <p:ph type="title" orient="vert"/>
          </p:nvPr>
        </p:nvSpPr>
        <p:spPr>
          <a:xfrm>
            <a:off x="11633200" y="486834"/>
            <a:ext cx="3505200" cy="774911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3FC1481-8334-2053-9338-0AC1EE3F88D7}"/>
              </a:ext>
            </a:extLst>
          </p:cNvPr>
          <p:cNvSpPr>
            <a:spLocks noGrp="1"/>
          </p:cNvSpPr>
          <p:nvPr>
            <p:ph type="body" orient="vert" idx="1"/>
          </p:nvPr>
        </p:nvSpPr>
        <p:spPr>
          <a:xfrm>
            <a:off x="1117600" y="486834"/>
            <a:ext cx="10312400"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D5C6E5-196C-4DD6-8BFC-0F103770D5A2}"/>
              </a:ext>
            </a:extLst>
          </p:cNvPr>
          <p:cNvSpPr>
            <a:spLocks noGrp="1"/>
          </p:cNvSpPr>
          <p:nvPr>
            <p:ph type="dt" sz="half" idx="10"/>
          </p:nvPr>
        </p:nvSpPr>
        <p:spPr/>
        <p:txBody>
          <a:bodyPr/>
          <a:lstStyle/>
          <a:p>
            <a:fld id="{C063CC88-061E-41B9-9501-3FB27E38C9F5}" type="datetimeFigureOut">
              <a:rPr lang="en-US" smtClean="0"/>
              <a:t>6/2/2026</a:t>
            </a:fld>
            <a:endParaRPr lang="en-US"/>
          </a:p>
        </p:txBody>
      </p:sp>
      <p:sp>
        <p:nvSpPr>
          <p:cNvPr id="5" name="Footer Placeholder 4">
            <a:extLst>
              <a:ext uri="{FF2B5EF4-FFF2-40B4-BE49-F238E27FC236}">
                <a16:creationId xmlns:a16="http://schemas.microsoft.com/office/drawing/2014/main" id="{EBA96F26-1E82-01B7-AD63-2834DC407D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F80758-BF20-6A76-DEEC-8B18D7E92520}"/>
              </a:ext>
            </a:extLst>
          </p:cNvPr>
          <p:cNvSpPr>
            <a:spLocks noGrp="1"/>
          </p:cNvSpPr>
          <p:nvPr>
            <p:ph type="sldNum" sz="quarter" idx="12"/>
          </p:nvPr>
        </p:nvSpPr>
        <p:spPr/>
        <p:txBody>
          <a:bodyPr/>
          <a:lstStyle/>
          <a:p>
            <a:fld id="{5BD6C0D8-0BE0-46BE-90EC-F008C1286A90}" type="slidenum">
              <a:rPr lang="en-US" smtClean="0"/>
              <a:t>‹#›</a:t>
            </a:fld>
            <a:endParaRPr lang="en-US"/>
          </a:p>
        </p:txBody>
      </p:sp>
    </p:spTree>
    <p:extLst>
      <p:ext uri="{BB962C8B-B14F-4D97-AF65-F5344CB8AC3E}">
        <p14:creationId xmlns:p14="http://schemas.microsoft.com/office/powerpoint/2010/main" val="4751999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CDBDBD-D922-683A-B2C5-502470CBB3EC}"/>
              </a:ext>
            </a:extLst>
          </p:cNvPr>
          <p:cNvSpPr>
            <a:spLocks noGrp="1"/>
          </p:cNvSpPr>
          <p:nvPr>
            <p:ph type="title"/>
          </p:nvPr>
        </p:nvSpPr>
        <p:spPr>
          <a:xfrm>
            <a:off x="1117600" y="486836"/>
            <a:ext cx="14020800" cy="176741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BA9A45B-487C-3D28-6CCD-CA00461DBE74}"/>
              </a:ext>
            </a:extLst>
          </p:cNvPr>
          <p:cNvSpPr>
            <a:spLocks noGrp="1"/>
          </p:cNvSpPr>
          <p:nvPr>
            <p:ph type="body" idx="1"/>
          </p:nvPr>
        </p:nvSpPr>
        <p:spPr>
          <a:xfrm>
            <a:off x="1117600" y="2434167"/>
            <a:ext cx="14020800" cy="58017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53249C-79F3-6D7E-EA94-A0B6760B7CCF}"/>
              </a:ext>
            </a:extLst>
          </p:cNvPr>
          <p:cNvSpPr>
            <a:spLocks noGrp="1"/>
          </p:cNvSpPr>
          <p:nvPr>
            <p:ph type="dt" sz="half" idx="2"/>
          </p:nvPr>
        </p:nvSpPr>
        <p:spPr>
          <a:xfrm>
            <a:off x="1117600" y="8475136"/>
            <a:ext cx="36576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C063CC88-061E-41B9-9501-3FB27E38C9F5}" type="datetimeFigureOut">
              <a:rPr lang="en-US" smtClean="0"/>
              <a:t>6/2/2026</a:t>
            </a:fld>
            <a:endParaRPr lang="en-US"/>
          </a:p>
        </p:txBody>
      </p:sp>
      <p:sp>
        <p:nvSpPr>
          <p:cNvPr id="5" name="Footer Placeholder 4">
            <a:extLst>
              <a:ext uri="{FF2B5EF4-FFF2-40B4-BE49-F238E27FC236}">
                <a16:creationId xmlns:a16="http://schemas.microsoft.com/office/drawing/2014/main" id="{44D3ABE8-9E24-A990-5606-AC40B3D49FBA}"/>
              </a:ext>
            </a:extLst>
          </p:cNvPr>
          <p:cNvSpPr>
            <a:spLocks noGrp="1"/>
          </p:cNvSpPr>
          <p:nvPr>
            <p:ph type="ftr" sz="quarter" idx="3"/>
          </p:nvPr>
        </p:nvSpPr>
        <p:spPr>
          <a:xfrm>
            <a:off x="5384800" y="8475136"/>
            <a:ext cx="54864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7D9696A-1F92-CF00-2B4D-AED59A647FD1}"/>
              </a:ext>
            </a:extLst>
          </p:cNvPr>
          <p:cNvSpPr>
            <a:spLocks noGrp="1"/>
          </p:cNvSpPr>
          <p:nvPr>
            <p:ph type="sldNum" sz="quarter" idx="4"/>
          </p:nvPr>
        </p:nvSpPr>
        <p:spPr>
          <a:xfrm>
            <a:off x="11480800" y="8475136"/>
            <a:ext cx="36576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5BD6C0D8-0BE0-46BE-90EC-F008C1286A90}" type="slidenum">
              <a:rPr lang="en-US" smtClean="0"/>
              <a:t>‹#›</a:t>
            </a:fld>
            <a:endParaRPr lang="en-US"/>
          </a:p>
        </p:txBody>
      </p:sp>
    </p:spTree>
    <p:extLst>
      <p:ext uri="{BB962C8B-B14F-4D97-AF65-F5344CB8AC3E}">
        <p14:creationId xmlns:p14="http://schemas.microsoft.com/office/powerpoint/2010/main" val="26804748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63C306F-0616-D2CA-3689-A74D68347006}"/>
              </a:ext>
            </a:extLst>
          </p:cNvPr>
          <p:cNvSpPr/>
          <p:nvPr/>
        </p:nvSpPr>
        <p:spPr>
          <a:xfrm>
            <a:off x="0" y="0"/>
            <a:ext cx="16256000" cy="9144000"/>
          </a:xfrm>
          <a:prstGeom prst="rect">
            <a:avLst/>
          </a:prstGeom>
          <a:solidFill>
            <a:srgbClr val="12182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0CE5E93-25D4-409F-1DCA-E8332B57380D}"/>
              </a:ext>
            </a:extLst>
          </p:cNvPr>
          <p:cNvSpPr/>
          <p:nvPr/>
        </p:nvSpPr>
        <p:spPr>
          <a:xfrm>
            <a:off x="0" y="0"/>
            <a:ext cx="16256000" cy="228600"/>
          </a:xfrm>
          <a:prstGeom prst="rect">
            <a:avLst/>
          </a:prstGeom>
          <a:solidFill>
            <a:srgbClr val="CD702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8F99A52-1AE8-7EFE-BF3C-62FC05BAB493}"/>
              </a:ext>
            </a:extLst>
          </p:cNvPr>
          <p:cNvSpPr txBox="1"/>
          <p:nvPr/>
        </p:nvSpPr>
        <p:spPr>
          <a:xfrm>
            <a:off x="914400" y="863600"/>
            <a:ext cx="5334000" cy="292388"/>
          </a:xfrm>
          <a:prstGeom prst="rect">
            <a:avLst/>
          </a:prstGeom>
          <a:noFill/>
        </p:spPr>
        <p:txBody>
          <a:bodyPr vert="horz" wrap="square" lIns="0" tIns="0" rIns="0" bIns="0" rtlCol="0">
            <a:spAutoFit/>
          </a:bodyPr>
          <a:lstStyle/>
          <a:p>
            <a:r>
              <a:rPr lang="en-US" sz="1900" b="1">
                <a:solidFill>
                  <a:srgbClr val="CD7027"/>
                </a:solidFill>
                <a:latin typeface="Aptos" panose="020B0004020202020204" pitchFamily="34" charset="0"/>
              </a:rPr>
              <a:t>POOLHUB</a:t>
            </a:r>
          </a:p>
        </p:txBody>
      </p:sp>
      <p:sp>
        <p:nvSpPr>
          <p:cNvPr id="5" name="TextBox 4">
            <a:extLst>
              <a:ext uri="{FF2B5EF4-FFF2-40B4-BE49-F238E27FC236}">
                <a16:creationId xmlns:a16="http://schemas.microsoft.com/office/drawing/2014/main" id="{70490B82-22A4-4C49-945E-164245C9AF56}"/>
              </a:ext>
            </a:extLst>
          </p:cNvPr>
          <p:cNvSpPr txBox="1"/>
          <p:nvPr/>
        </p:nvSpPr>
        <p:spPr>
          <a:xfrm>
            <a:off x="914400" y="1714500"/>
            <a:ext cx="11176000" cy="769441"/>
          </a:xfrm>
          <a:prstGeom prst="rect">
            <a:avLst/>
          </a:prstGeom>
          <a:noFill/>
        </p:spPr>
        <p:txBody>
          <a:bodyPr vert="horz" wrap="square" lIns="0" tIns="0" rIns="0" bIns="0" rtlCol="0">
            <a:spAutoFit/>
          </a:bodyPr>
          <a:lstStyle/>
          <a:p>
            <a:r>
              <a:rPr lang="en-US" sz="5000" b="1">
                <a:solidFill>
                  <a:srgbClr val="FFFFFF"/>
                </a:solidFill>
                <a:latin typeface="Aptos" panose="020B0004020202020204" pitchFamily="34" charset="0"/>
              </a:rPr>
              <a:t>Báo cáo phát triển tuần 3-4</a:t>
            </a:r>
          </a:p>
        </p:txBody>
      </p:sp>
      <p:sp>
        <p:nvSpPr>
          <p:cNvPr id="6" name="TextBox 5">
            <a:extLst>
              <a:ext uri="{FF2B5EF4-FFF2-40B4-BE49-F238E27FC236}">
                <a16:creationId xmlns:a16="http://schemas.microsoft.com/office/drawing/2014/main" id="{7876D8BE-8FE7-2032-94B2-BD0D85F00F6D}"/>
              </a:ext>
            </a:extLst>
          </p:cNvPr>
          <p:cNvSpPr txBox="1"/>
          <p:nvPr/>
        </p:nvSpPr>
        <p:spPr>
          <a:xfrm>
            <a:off x="914400" y="2921000"/>
            <a:ext cx="11176000" cy="338554"/>
          </a:xfrm>
          <a:prstGeom prst="rect">
            <a:avLst/>
          </a:prstGeom>
          <a:noFill/>
        </p:spPr>
        <p:txBody>
          <a:bodyPr vert="horz" wrap="square" lIns="0" tIns="0" rIns="0" bIns="0" rtlCol="0">
            <a:spAutoFit/>
          </a:bodyPr>
          <a:lstStyle/>
          <a:p>
            <a:r>
              <a:rPr lang="en-US" sz="2200">
                <a:solidFill>
                  <a:srgbClr val="CDD6E1"/>
                </a:solidFill>
                <a:latin typeface="Aptos" panose="020B0004020202020204" pitchFamily="34" charset="0"/>
              </a:rPr>
              <a:t>Backend Architecture, Core APIs, JWT Authentication &amp; Authorization</a:t>
            </a:r>
          </a:p>
        </p:txBody>
      </p:sp>
      <p:sp>
        <p:nvSpPr>
          <p:cNvPr id="7" name="Rectangle 6">
            <a:extLst>
              <a:ext uri="{FF2B5EF4-FFF2-40B4-BE49-F238E27FC236}">
                <a16:creationId xmlns:a16="http://schemas.microsoft.com/office/drawing/2014/main" id="{49145C37-A935-F838-7AFB-985EF1252EFB}"/>
              </a:ext>
            </a:extLst>
          </p:cNvPr>
          <p:cNvSpPr/>
          <p:nvPr/>
        </p:nvSpPr>
        <p:spPr>
          <a:xfrm>
            <a:off x="914400" y="4635500"/>
            <a:ext cx="4191000" cy="2286000"/>
          </a:xfrm>
          <a:prstGeom prst="rect">
            <a:avLst/>
          </a:prstGeom>
          <a:solidFill>
            <a:srgbClr val="FCEBDB"/>
          </a:solidFill>
          <a:ln w="12700">
            <a:solidFill>
              <a:srgbClr val="CD70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B4EFB1D-A107-9C07-D4B8-3F56D61EA77B}"/>
              </a:ext>
            </a:extLst>
          </p:cNvPr>
          <p:cNvSpPr/>
          <p:nvPr/>
        </p:nvSpPr>
        <p:spPr>
          <a:xfrm>
            <a:off x="914400" y="4635500"/>
            <a:ext cx="88900" cy="2286000"/>
          </a:xfrm>
          <a:prstGeom prst="rect">
            <a:avLst/>
          </a:prstGeom>
          <a:solidFill>
            <a:srgbClr val="CD702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90CA81D-84DC-958B-FEB7-02998CBE12FE}"/>
              </a:ext>
            </a:extLst>
          </p:cNvPr>
          <p:cNvSpPr txBox="1"/>
          <p:nvPr/>
        </p:nvSpPr>
        <p:spPr>
          <a:xfrm>
            <a:off x="1219200" y="4864100"/>
            <a:ext cx="3657600" cy="215444"/>
          </a:xfrm>
          <a:prstGeom prst="rect">
            <a:avLst/>
          </a:prstGeom>
          <a:noFill/>
        </p:spPr>
        <p:txBody>
          <a:bodyPr vert="horz" wrap="square" lIns="0" tIns="0" rIns="0" bIns="0" rtlCol="0">
            <a:spAutoFit/>
          </a:bodyPr>
          <a:lstStyle/>
          <a:p>
            <a:r>
              <a:rPr lang="en-US" sz="1400" b="1">
                <a:solidFill>
                  <a:srgbClr val="CD7027"/>
                </a:solidFill>
                <a:latin typeface="Aptos" panose="020B0004020202020204" pitchFamily="34" charset="0"/>
              </a:rPr>
              <a:t>Trọng tâm</a:t>
            </a:r>
          </a:p>
        </p:txBody>
      </p:sp>
      <p:sp>
        <p:nvSpPr>
          <p:cNvPr id="10" name="TextBox 9">
            <a:extLst>
              <a:ext uri="{FF2B5EF4-FFF2-40B4-BE49-F238E27FC236}">
                <a16:creationId xmlns:a16="http://schemas.microsoft.com/office/drawing/2014/main" id="{CC74A27C-61DA-427D-DA7E-5F48C955A158}"/>
              </a:ext>
            </a:extLst>
          </p:cNvPr>
          <p:cNvSpPr txBox="1"/>
          <p:nvPr/>
        </p:nvSpPr>
        <p:spPr>
          <a:xfrm>
            <a:off x="1219200" y="5245100"/>
            <a:ext cx="3657600" cy="461665"/>
          </a:xfrm>
          <a:prstGeom prst="rect">
            <a:avLst/>
          </a:prstGeom>
          <a:noFill/>
        </p:spPr>
        <p:txBody>
          <a:bodyPr vert="horz" wrap="square" lIns="0" tIns="0" rIns="0" bIns="0" rtlCol="0">
            <a:spAutoFit/>
          </a:bodyPr>
          <a:lstStyle/>
          <a:p>
            <a:r>
              <a:rPr lang="en-US" sz="3000" b="1">
                <a:solidFill>
                  <a:srgbClr val="171F2A"/>
                </a:solidFill>
                <a:latin typeface="Aptos" panose="020B0004020202020204" pitchFamily="34" charset="0"/>
              </a:rPr>
              <a:t>60% Backend</a:t>
            </a:r>
          </a:p>
        </p:txBody>
      </p:sp>
      <p:sp>
        <p:nvSpPr>
          <p:cNvPr id="11" name="TextBox 10">
            <a:extLst>
              <a:ext uri="{FF2B5EF4-FFF2-40B4-BE49-F238E27FC236}">
                <a16:creationId xmlns:a16="http://schemas.microsoft.com/office/drawing/2014/main" id="{DA13AA0E-F8D4-B3F8-5EF6-8F0D8EFF0417}"/>
              </a:ext>
            </a:extLst>
          </p:cNvPr>
          <p:cNvSpPr txBox="1"/>
          <p:nvPr/>
        </p:nvSpPr>
        <p:spPr>
          <a:xfrm>
            <a:off x="1219200" y="5905500"/>
            <a:ext cx="3657600" cy="784830"/>
          </a:xfrm>
          <a:prstGeom prst="rect">
            <a:avLst/>
          </a:prstGeom>
          <a:noFill/>
        </p:spPr>
        <p:txBody>
          <a:bodyPr vert="horz" wrap="square" lIns="0" tIns="0" rIns="0" bIns="0" rtlCol="0">
            <a:spAutoFit/>
          </a:bodyPr>
          <a:lstStyle/>
          <a:p>
            <a:r>
              <a:rPr lang="en-US" sz="1700">
                <a:solidFill>
                  <a:srgbClr val="5B6574"/>
                </a:solidFill>
                <a:latin typeface="Aptos" panose="020B0004020202020204" pitchFamily="34" charset="0"/>
              </a:rPr>
              <a:t>Tuần 3-4 tạo nền móng API, dữ liệu, bảo mật và phân quyền cho các workflow phía sau.</a:t>
            </a:r>
          </a:p>
        </p:txBody>
      </p:sp>
      <p:sp>
        <p:nvSpPr>
          <p:cNvPr id="12" name="Rectangle 11">
            <a:extLst>
              <a:ext uri="{FF2B5EF4-FFF2-40B4-BE49-F238E27FC236}">
                <a16:creationId xmlns:a16="http://schemas.microsoft.com/office/drawing/2014/main" id="{AF022EB1-FB88-D923-109D-6F473CA9154E}"/>
              </a:ext>
            </a:extLst>
          </p:cNvPr>
          <p:cNvSpPr/>
          <p:nvPr/>
        </p:nvSpPr>
        <p:spPr>
          <a:xfrm>
            <a:off x="5461000" y="4635500"/>
            <a:ext cx="4191000" cy="2286000"/>
          </a:xfrm>
          <a:prstGeom prst="rect">
            <a:avLst/>
          </a:prstGeom>
          <a:solidFill>
            <a:srgbClr val="E2F3EB"/>
          </a:solidFill>
          <a:ln w="12700">
            <a:solidFill>
              <a:srgbClr val="1C80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79F00EF-DAF4-4DAF-4A02-A783C48C843B}"/>
              </a:ext>
            </a:extLst>
          </p:cNvPr>
          <p:cNvSpPr/>
          <p:nvPr/>
        </p:nvSpPr>
        <p:spPr>
          <a:xfrm>
            <a:off x="5461000" y="4635500"/>
            <a:ext cx="88900" cy="2286000"/>
          </a:xfrm>
          <a:prstGeom prst="rect">
            <a:avLst/>
          </a:prstGeom>
          <a:solidFill>
            <a:srgbClr val="1C805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9CB99133-13AB-20B2-F2D5-49842B44F305}"/>
              </a:ext>
            </a:extLst>
          </p:cNvPr>
          <p:cNvSpPr txBox="1"/>
          <p:nvPr/>
        </p:nvSpPr>
        <p:spPr>
          <a:xfrm>
            <a:off x="5765800" y="4864100"/>
            <a:ext cx="3657600" cy="215444"/>
          </a:xfrm>
          <a:prstGeom prst="rect">
            <a:avLst/>
          </a:prstGeom>
          <a:noFill/>
        </p:spPr>
        <p:txBody>
          <a:bodyPr vert="horz" wrap="square" lIns="0" tIns="0" rIns="0" bIns="0" rtlCol="0">
            <a:spAutoFit/>
          </a:bodyPr>
          <a:lstStyle/>
          <a:p>
            <a:r>
              <a:rPr lang="en-US" sz="1400" b="1">
                <a:solidFill>
                  <a:srgbClr val="1C8056"/>
                </a:solidFill>
                <a:latin typeface="Aptos" panose="020B0004020202020204" pitchFamily="34" charset="0"/>
              </a:rPr>
              <a:t>Tình trạng</a:t>
            </a:r>
          </a:p>
        </p:txBody>
      </p:sp>
      <p:sp>
        <p:nvSpPr>
          <p:cNvPr id="15" name="TextBox 14">
            <a:extLst>
              <a:ext uri="{FF2B5EF4-FFF2-40B4-BE49-F238E27FC236}">
                <a16:creationId xmlns:a16="http://schemas.microsoft.com/office/drawing/2014/main" id="{26D71CA4-5168-7611-AC4D-0B3A640B6D63}"/>
              </a:ext>
            </a:extLst>
          </p:cNvPr>
          <p:cNvSpPr txBox="1"/>
          <p:nvPr/>
        </p:nvSpPr>
        <p:spPr>
          <a:xfrm>
            <a:off x="5765800" y="5245100"/>
            <a:ext cx="3657600" cy="461665"/>
          </a:xfrm>
          <a:prstGeom prst="rect">
            <a:avLst/>
          </a:prstGeom>
          <a:noFill/>
        </p:spPr>
        <p:txBody>
          <a:bodyPr vert="horz" wrap="square" lIns="0" tIns="0" rIns="0" bIns="0" rtlCol="0">
            <a:spAutoFit/>
          </a:bodyPr>
          <a:lstStyle/>
          <a:p>
            <a:r>
              <a:rPr lang="en-US" sz="3000" b="1">
                <a:solidFill>
                  <a:srgbClr val="171F2A"/>
                </a:solidFill>
                <a:latin typeface="Aptos" panose="020B0004020202020204" pitchFamily="34" charset="0"/>
              </a:rPr>
              <a:t>Đã build &amp; test pass</a:t>
            </a:r>
          </a:p>
        </p:txBody>
      </p:sp>
      <p:sp>
        <p:nvSpPr>
          <p:cNvPr id="16" name="TextBox 15">
            <a:extLst>
              <a:ext uri="{FF2B5EF4-FFF2-40B4-BE49-F238E27FC236}">
                <a16:creationId xmlns:a16="http://schemas.microsoft.com/office/drawing/2014/main" id="{66704427-41F9-BBA3-CD6A-F01E051C6DFC}"/>
              </a:ext>
            </a:extLst>
          </p:cNvPr>
          <p:cNvSpPr txBox="1"/>
          <p:nvPr/>
        </p:nvSpPr>
        <p:spPr>
          <a:xfrm>
            <a:off x="5765800" y="5905500"/>
            <a:ext cx="3657600" cy="784830"/>
          </a:xfrm>
          <a:prstGeom prst="rect">
            <a:avLst/>
          </a:prstGeom>
          <a:noFill/>
        </p:spPr>
        <p:txBody>
          <a:bodyPr vert="horz" wrap="square" lIns="0" tIns="0" rIns="0" bIns="0" rtlCol="0">
            <a:spAutoFit/>
          </a:bodyPr>
          <a:lstStyle/>
          <a:p>
            <a:r>
              <a:rPr lang="en-US" sz="1700">
                <a:solidFill>
                  <a:srgbClr val="5B6574"/>
                </a:solidFill>
                <a:latin typeface="Aptos" panose="020B0004020202020204" pitchFamily="34" charset="0"/>
              </a:rPr>
              <a:t>Solution .NET 10 chạy được 2/2 tests: Auth unit test và Swagger integration test.</a:t>
            </a:r>
          </a:p>
        </p:txBody>
      </p:sp>
      <p:sp>
        <p:nvSpPr>
          <p:cNvPr id="17" name="Rectangle 16">
            <a:extLst>
              <a:ext uri="{FF2B5EF4-FFF2-40B4-BE49-F238E27FC236}">
                <a16:creationId xmlns:a16="http://schemas.microsoft.com/office/drawing/2014/main" id="{7C7E53FF-E65D-729E-7BD4-373B0D37301F}"/>
              </a:ext>
            </a:extLst>
          </p:cNvPr>
          <p:cNvSpPr/>
          <p:nvPr/>
        </p:nvSpPr>
        <p:spPr>
          <a:xfrm>
            <a:off x="10007600" y="4635500"/>
            <a:ext cx="4191000" cy="2286000"/>
          </a:xfrm>
          <a:prstGeom prst="rect">
            <a:avLst/>
          </a:prstGeom>
          <a:solidFill>
            <a:srgbClr val="E6EEFC"/>
          </a:solidFill>
          <a:ln w="12700">
            <a:solidFill>
              <a:srgbClr val="2D5DA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FEF61DB-026B-6119-2ADF-ABC5AE9BB4DF}"/>
              </a:ext>
            </a:extLst>
          </p:cNvPr>
          <p:cNvSpPr/>
          <p:nvPr/>
        </p:nvSpPr>
        <p:spPr>
          <a:xfrm>
            <a:off x="10007600" y="4635500"/>
            <a:ext cx="88900" cy="2286000"/>
          </a:xfrm>
          <a:prstGeom prst="rect">
            <a:avLst/>
          </a:prstGeom>
          <a:solidFill>
            <a:srgbClr val="2D5DA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067CB907-E814-E1D6-26EA-8196D5C47381}"/>
              </a:ext>
            </a:extLst>
          </p:cNvPr>
          <p:cNvSpPr txBox="1"/>
          <p:nvPr/>
        </p:nvSpPr>
        <p:spPr>
          <a:xfrm>
            <a:off x="10312400" y="4864100"/>
            <a:ext cx="3657600" cy="215444"/>
          </a:xfrm>
          <a:prstGeom prst="rect">
            <a:avLst/>
          </a:prstGeom>
          <a:noFill/>
        </p:spPr>
        <p:txBody>
          <a:bodyPr vert="horz" wrap="square" lIns="0" tIns="0" rIns="0" bIns="0" rtlCol="0">
            <a:spAutoFit/>
          </a:bodyPr>
          <a:lstStyle/>
          <a:p>
            <a:r>
              <a:rPr lang="en-US" sz="1400" b="1">
                <a:solidFill>
                  <a:srgbClr val="2D5DAB"/>
                </a:solidFill>
                <a:latin typeface="Aptos" panose="020B0004020202020204" pitchFamily="34" charset="0"/>
              </a:rPr>
              <a:t>Phạm vi</a:t>
            </a:r>
          </a:p>
        </p:txBody>
      </p:sp>
      <p:sp>
        <p:nvSpPr>
          <p:cNvPr id="20" name="TextBox 19">
            <a:extLst>
              <a:ext uri="{FF2B5EF4-FFF2-40B4-BE49-F238E27FC236}">
                <a16:creationId xmlns:a16="http://schemas.microsoft.com/office/drawing/2014/main" id="{4A299B8E-7DD0-41CA-4D20-8988F0A7C521}"/>
              </a:ext>
            </a:extLst>
          </p:cNvPr>
          <p:cNvSpPr txBox="1"/>
          <p:nvPr/>
        </p:nvSpPr>
        <p:spPr>
          <a:xfrm>
            <a:off x="10312400" y="5245100"/>
            <a:ext cx="3657600" cy="461665"/>
          </a:xfrm>
          <a:prstGeom prst="rect">
            <a:avLst/>
          </a:prstGeom>
          <a:noFill/>
        </p:spPr>
        <p:txBody>
          <a:bodyPr vert="horz" wrap="square" lIns="0" tIns="0" rIns="0" bIns="0" rtlCol="0">
            <a:spAutoFit/>
          </a:bodyPr>
          <a:lstStyle/>
          <a:p>
            <a:r>
              <a:rPr lang="en-US" sz="3000" b="1">
                <a:solidFill>
                  <a:srgbClr val="171F2A"/>
                </a:solidFill>
                <a:latin typeface="Aptos" panose="020B0004020202020204" pitchFamily="34" charset="0"/>
              </a:rPr>
              <a:t>API-first</a:t>
            </a:r>
          </a:p>
        </p:txBody>
      </p:sp>
      <p:sp>
        <p:nvSpPr>
          <p:cNvPr id="21" name="TextBox 20">
            <a:extLst>
              <a:ext uri="{FF2B5EF4-FFF2-40B4-BE49-F238E27FC236}">
                <a16:creationId xmlns:a16="http://schemas.microsoft.com/office/drawing/2014/main" id="{2CBE0616-3CAE-16B3-0DD8-DEB2A9759E7A}"/>
              </a:ext>
            </a:extLst>
          </p:cNvPr>
          <p:cNvSpPr txBox="1"/>
          <p:nvPr/>
        </p:nvSpPr>
        <p:spPr>
          <a:xfrm>
            <a:off x="10312400" y="5905500"/>
            <a:ext cx="3657600" cy="784830"/>
          </a:xfrm>
          <a:prstGeom prst="rect">
            <a:avLst/>
          </a:prstGeom>
          <a:noFill/>
        </p:spPr>
        <p:txBody>
          <a:bodyPr vert="horz" wrap="square" lIns="0" tIns="0" rIns="0" bIns="0" rtlCol="0">
            <a:spAutoFit/>
          </a:bodyPr>
          <a:lstStyle/>
          <a:p>
            <a:r>
              <a:rPr lang="vi-VN" sz="1700">
                <a:solidFill>
                  <a:srgbClr val="5B6574"/>
                </a:solidFill>
                <a:latin typeface="Aptos" panose="020B0004020202020204" pitchFamily="34" charset="0"/>
              </a:rPr>
              <a:t>Frontend chưa phải trọng tâm giai đoạn này; repo hiện tập trung backend và tài liệu demo Postman.</a:t>
            </a:r>
            <a:endParaRPr lang="en-US" sz="1700">
              <a:solidFill>
                <a:srgbClr val="5B6574"/>
              </a:solidFill>
              <a:latin typeface="Aptos" panose="020B0004020202020204" pitchFamily="34" charset="0"/>
            </a:endParaRPr>
          </a:p>
        </p:txBody>
      </p:sp>
      <p:sp>
        <p:nvSpPr>
          <p:cNvPr id="22" name="TextBox 21">
            <a:extLst>
              <a:ext uri="{FF2B5EF4-FFF2-40B4-BE49-F238E27FC236}">
                <a16:creationId xmlns:a16="http://schemas.microsoft.com/office/drawing/2014/main" id="{6C52D1E1-910E-A21A-E260-61DCE6BE5E55}"/>
              </a:ext>
            </a:extLst>
          </p:cNvPr>
          <p:cNvSpPr txBox="1"/>
          <p:nvPr/>
        </p:nvSpPr>
        <p:spPr>
          <a:xfrm>
            <a:off x="914400" y="8432800"/>
            <a:ext cx="12446000" cy="184666"/>
          </a:xfrm>
          <a:prstGeom prst="rect">
            <a:avLst/>
          </a:prstGeom>
          <a:noFill/>
        </p:spPr>
        <p:txBody>
          <a:bodyPr vert="horz" wrap="square" lIns="0" tIns="0" rIns="0" bIns="0" rtlCol="0">
            <a:spAutoFit/>
          </a:bodyPr>
          <a:lstStyle/>
          <a:p>
            <a:r>
              <a:rPr lang="en-US" sz="1200">
                <a:solidFill>
                  <a:srgbClr val="B8C2CF"/>
                </a:solidFill>
                <a:latin typeface="Aptos" panose="020B0004020202020204" pitchFamily="34" charset="0"/>
              </a:rPr>
              <a:t>Nguồn: roadmap 10 tuần, README, source code PoolHub.API/Core/Infrastructure/Services, kết quả dotnet test.</a:t>
            </a:r>
          </a:p>
        </p:txBody>
      </p:sp>
    </p:spTree>
    <p:extLst>
      <p:ext uri="{BB962C8B-B14F-4D97-AF65-F5344CB8AC3E}">
        <p14:creationId xmlns:p14="http://schemas.microsoft.com/office/powerpoint/2010/main" val="6165102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2-marker">
            <a:extLst>
              <a:ext uri="{FF2B5EF4-FFF2-40B4-BE49-F238E27FC236}">
                <a16:creationId xmlns:a16="http://schemas.microsoft.com/office/drawing/2014/main" id="{00C3D443-D933-AF4E-A3DD-18B656354B27}"/>
              </a:ext>
            </a:extLst>
          </p:cNvPr>
          <p:cNvSpPr/>
          <p:nvPr/>
        </p:nvSpPr>
        <p:spPr>
          <a:xfrm>
            <a:off x="914400" y="685800"/>
            <a:ext cx="127000" cy="127000"/>
          </a:xfrm>
          <a:prstGeom prst="rect">
            <a:avLst/>
          </a:prstGeom>
          <a:solidFill>
            <a:srgbClr val="CD702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kicker-2-label">
            <a:extLst>
              <a:ext uri="{FF2B5EF4-FFF2-40B4-BE49-F238E27FC236}">
                <a16:creationId xmlns:a16="http://schemas.microsoft.com/office/drawing/2014/main" id="{08593A9B-BC0B-EEE9-6323-98E9EF85EC31}"/>
              </a:ext>
            </a:extLst>
          </p:cNvPr>
          <p:cNvSpPr txBox="1"/>
          <p:nvPr/>
        </p:nvSpPr>
        <p:spPr>
          <a:xfrm>
            <a:off x="1193800" y="596900"/>
            <a:ext cx="6604000" cy="230832"/>
          </a:xfrm>
          <a:prstGeom prst="rect">
            <a:avLst/>
          </a:prstGeom>
          <a:noFill/>
        </p:spPr>
        <p:txBody>
          <a:bodyPr vert="horz" wrap="square" lIns="0" tIns="0" rIns="0" bIns="0" rtlCol="0">
            <a:spAutoFit/>
          </a:bodyPr>
          <a:lstStyle/>
          <a:p>
            <a:r>
              <a:rPr lang="en-US" sz="1500" b="1" cap="all">
                <a:solidFill>
                  <a:srgbClr val="CD7027"/>
                </a:solidFill>
                <a:latin typeface="Aptos" panose="020B0004020202020204" pitchFamily="34" charset="0"/>
              </a:rPr>
              <a:t>BỐI CẢNH</a:t>
            </a:r>
          </a:p>
        </p:txBody>
      </p:sp>
      <p:sp>
        <p:nvSpPr>
          <p:cNvPr id="4" name="slide-title">
            <a:extLst>
              <a:ext uri="{FF2B5EF4-FFF2-40B4-BE49-F238E27FC236}">
                <a16:creationId xmlns:a16="http://schemas.microsoft.com/office/drawing/2014/main" id="{8AC76890-1047-35CA-8EA9-B6F620A7119D}"/>
              </a:ext>
            </a:extLst>
          </p:cNvPr>
          <p:cNvSpPr txBox="1"/>
          <p:nvPr/>
        </p:nvSpPr>
        <p:spPr>
          <a:xfrm>
            <a:off x="914400" y="1041400"/>
            <a:ext cx="13208000" cy="584775"/>
          </a:xfrm>
          <a:prstGeom prst="rect">
            <a:avLst/>
          </a:prstGeom>
          <a:noFill/>
        </p:spPr>
        <p:txBody>
          <a:bodyPr vert="horz" wrap="square" lIns="0" tIns="0" rIns="0" bIns="0" rtlCol="0">
            <a:spAutoFit/>
          </a:bodyPr>
          <a:lstStyle/>
          <a:p>
            <a:r>
              <a:rPr lang="vi-VN" sz="3800" b="1">
                <a:solidFill>
                  <a:srgbClr val="171F2A"/>
                </a:solidFill>
                <a:latin typeface="Aptos" panose="020B0004020202020204" pitchFamily="34" charset="0"/>
              </a:rPr>
              <a:t>Tuần 3-4 chuyển dự án từ thiết kế sang backend chạy được.</a:t>
            </a:r>
            <a:endParaRPr lang="en-US" sz="3800" b="1">
              <a:solidFill>
                <a:srgbClr val="171F2A"/>
              </a:solidFill>
              <a:latin typeface="Aptos" panose="020B0004020202020204" pitchFamily="34" charset="0"/>
            </a:endParaRPr>
          </a:p>
        </p:txBody>
      </p:sp>
      <p:sp>
        <p:nvSpPr>
          <p:cNvPr id="5" name="slide-subtitle">
            <a:extLst>
              <a:ext uri="{FF2B5EF4-FFF2-40B4-BE49-F238E27FC236}">
                <a16:creationId xmlns:a16="http://schemas.microsoft.com/office/drawing/2014/main" id="{1B6C3CF2-C5EB-B264-14B3-DDC8F614C0F6}"/>
              </a:ext>
            </a:extLst>
          </p:cNvPr>
          <p:cNvSpPr txBox="1"/>
          <p:nvPr/>
        </p:nvSpPr>
        <p:spPr>
          <a:xfrm>
            <a:off x="914400" y="2286000"/>
            <a:ext cx="12446000" cy="307777"/>
          </a:xfrm>
          <a:prstGeom prst="rect">
            <a:avLst/>
          </a:prstGeom>
          <a:noFill/>
        </p:spPr>
        <p:txBody>
          <a:bodyPr vert="horz" wrap="square" lIns="0" tIns="0" rIns="0" bIns="0" rtlCol="0">
            <a:spAutoFit/>
          </a:bodyPr>
          <a:lstStyle/>
          <a:p>
            <a:r>
              <a:rPr lang="vi-VN" sz="2000">
                <a:solidFill>
                  <a:srgbClr val="5B6574"/>
                </a:solidFill>
                <a:latin typeface="Aptos" panose="020B0004020202020204" pitchFamily="34" charset="0"/>
              </a:rPr>
              <a:t>Roadmap yêu cầu xây nền API trước khi bước sang business logic nâng cao và frontend.</a:t>
            </a:r>
            <a:endParaRPr lang="en-US" sz="2000">
              <a:solidFill>
                <a:srgbClr val="5B6574"/>
              </a:solidFill>
              <a:latin typeface="Aptos" panose="020B0004020202020204" pitchFamily="34" charset="0"/>
            </a:endParaRPr>
          </a:p>
        </p:txBody>
      </p:sp>
      <p:sp>
        <p:nvSpPr>
          <p:cNvPr id="6" name="Rectangle 5">
            <a:extLst>
              <a:ext uri="{FF2B5EF4-FFF2-40B4-BE49-F238E27FC236}">
                <a16:creationId xmlns:a16="http://schemas.microsoft.com/office/drawing/2014/main" id="{7EF383C5-CEAA-96F7-5D11-B961B6155430}"/>
              </a:ext>
            </a:extLst>
          </p:cNvPr>
          <p:cNvSpPr/>
          <p:nvPr/>
        </p:nvSpPr>
        <p:spPr>
          <a:xfrm>
            <a:off x="1066800" y="3429000"/>
            <a:ext cx="3175000" cy="1905000"/>
          </a:xfrm>
          <a:prstGeom prst="rect">
            <a:avLst/>
          </a:prstGeom>
          <a:solidFill>
            <a:srgbClr val="E6EEFC"/>
          </a:solidFill>
          <a:ln w="12700">
            <a:solidFill>
              <a:srgbClr val="2D5DA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33A9024-54B4-0BF2-5DCF-901648A80760}"/>
              </a:ext>
            </a:extLst>
          </p:cNvPr>
          <p:cNvSpPr txBox="1"/>
          <p:nvPr/>
        </p:nvSpPr>
        <p:spPr>
          <a:xfrm>
            <a:off x="1346200" y="3708400"/>
            <a:ext cx="2667000" cy="338554"/>
          </a:xfrm>
          <a:prstGeom prst="rect">
            <a:avLst/>
          </a:prstGeom>
          <a:noFill/>
        </p:spPr>
        <p:txBody>
          <a:bodyPr vert="horz" wrap="square" lIns="0" tIns="0" rIns="0" bIns="0" rtlCol="0">
            <a:spAutoFit/>
          </a:bodyPr>
          <a:lstStyle/>
          <a:p>
            <a:r>
              <a:rPr lang="en-US" sz="2200" b="1">
                <a:solidFill>
                  <a:srgbClr val="2D5DAB"/>
                </a:solidFill>
                <a:latin typeface="Aptos" panose="020B0004020202020204" pitchFamily="34" charset="0"/>
              </a:rPr>
              <a:t>Tuần 1-2</a:t>
            </a:r>
          </a:p>
        </p:txBody>
      </p:sp>
      <p:sp>
        <p:nvSpPr>
          <p:cNvPr id="8" name="TextBox 7">
            <a:extLst>
              <a:ext uri="{FF2B5EF4-FFF2-40B4-BE49-F238E27FC236}">
                <a16:creationId xmlns:a16="http://schemas.microsoft.com/office/drawing/2014/main" id="{37B14B48-C2CE-3829-2CB4-C02429B58EAA}"/>
              </a:ext>
            </a:extLst>
          </p:cNvPr>
          <p:cNvSpPr txBox="1"/>
          <p:nvPr/>
        </p:nvSpPr>
        <p:spPr>
          <a:xfrm>
            <a:off x="1346200" y="4292600"/>
            <a:ext cx="2540000" cy="584775"/>
          </a:xfrm>
          <a:prstGeom prst="rect">
            <a:avLst/>
          </a:prstGeom>
          <a:noFill/>
        </p:spPr>
        <p:txBody>
          <a:bodyPr vert="horz" wrap="square" lIns="0" tIns="0" rIns="0" bIns="0" rtlCol="0">
            <a:spAutoFit/>
          </a:bodyPr>
          <a:lstStyle/>
          <a:p>
            <a:r>
              <a:rPr lang="en-US" sz="1900">
                <a:solidFill>
                  <a:srgbClr val="171F2A"/>
                </a:solidFill>
                <a:latin typeface="Aptos" panose="020B0004020202020204" pitchFamily="34" charset="0"/>
              </a:rPr>
              <a:t>Phân tích, ERD, API spec</a:t>
            </a:r>
          </a:p>
        </p:txBody>
      </p:sp>
      <p:cxnSp>
        <p:nvCxnSpPr>
          <p:cNvPr id="9" name="Straight Connector 8">
            <a:extLst>
              <a:ext uri="{FF2B5EF4-FFF2-40B4-BE49-F238E27FC236}">
                <a16:creationId xmlns:a16="http://schemas.microsoft.com/office/drawing/2014/main" id="{7536755D-1D70-DE98-E8E9-F67BD8B82E7E}"/>
              </a:ext>
            </a:extLst>
          </p:cNvPr>
          <p:cNvCxnSpPr/>
          <p:nvPr/>
        </p:nvCxnSpPr>
        <p:spPr>
          <a:xfrm>
            <a:off x="4241800" y="4381500"/>
            <a:ext cx="660400" cy="0"/>
          </a:xfrm>
          <a:prstGeom prst="line">
            <a:avLst/>
          </a:prstGeom>
          <a:ln w="25400">
            <a:solidFill>
              <a:srgbClr val="5B6574"/>
            </a:solidFill>
            <a:tailEnd type="arrow"/>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005D7697-5276-3222-1948-92AD383177B6}"/>
              </a:ext>
            </a:extLst>
          </p:cNvPr>
          <p:cNvSpPr/>
          <p:nvPr/>
        </p:nvSpPr>
        <p:spPr>
          <a:xfrm>
            <a:off x="4876800" y="3429000"/>
            <a:ext cx="3175000" cy="1905000"/>
          </a:xfrm>
          <a:prstGeom prst="rect">
            <a:avLst/>
          </a:prstGeom>
          <a:solidFill>
            <a:srgbClr val="FCEBDB"/>
          </a:solidFill>
          <a:ln w="12700">
            <a:solidFill>
              <a:srgbClr val="CD70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0E0BDE2-5977-AB47-F34A-B26B2A130BD8}"/>
              </a:ext>
            </a:extLst>
          </p:cNvPr>
          <p:cNvSpPr txBox="1"/>
          <p:nvPr/>
        </p:nvSpPr>
        <p:spPr>
          <a:xfrm>
            <a:off x="5156200" y="3708400"/>
            <a:ext cx="2667000" cy="338554"/>
          </a:xfrm>
          <a:prstGeom prst="rect">
            <a:avLst/>
          </a:prstGeom>
          <a:noFill/>
        </p:spPr>
        <p:txBody>
          <a:bodyPr vert="horz" wrap="square" lIns="0" tIns="0" rIns="0" bIns="0" rtlCol="0">
            <a:spAutoFit/>
          </a:bodyPr>
          <a:lstStyle/>
          <a:p>
            <a:r>
              <a:rPr lang="en-US" sz="2200" b="1">
                <a:solidFill>
                  <a:srgbClr val="CD7027"/>
                </a:solidFill>
                <a:latin typeface="Aptos" panose="020B0004020202020204" pitchFamily="34" charset="0"/>
              </a:rPr>
              <a:t>Tuần 3</a:t>
            </a:r>
          </a:p>
        </p:txBody>
      </p:sp>
      <p:sp>
        <p:nvSpPr>
          <p:cNvPr id="12" name="TextBox 11">
            <a:extLst>
              <a:ext uri="{FF2B5EF4-FFF2-40B4-BE49-F238E27FC236}">
                <a16:creationId xmlns:a16="http://schemas.microsoft.com/office/drawing/2014/main" id="{3720D150-4583-EEBB-9C6A-53BF0F8DF896}"/>
              </a:ext>
            </a:extLst>
          </p:cNvPr>
          <p:cNvSpPr txBox="1"/>
          <p:nvPr/>
        </p:nvSpPr>
        <p:spPr>
          <a:xfrm>
            <a:off x="5156200" y="4292600"/>
            <a:ext cx="2540000" cy="584775"/>
          </a:xfrm>
          <a:prstGeom prst="rect">
            <a:avLst/>
          </a:prstGeom>
          <a:noFill/>
        </p:spPr>
        <p:txBody>
          <a:bodyPr vert="horz" wrap="square" lIns="0" tIns="0" rIns="0" bIns="0" rtlCol="0">
            <a:spAutoFit/>
          </a:bodyPr>
          <a:lstStyle/>
          <a:p>
            <a:r>
              <a:rPr lang="en-US" sz="1900">
                <a:solidFill>
                  <a:srgbClr val="171F2A"/>
                </a:solidFill>
                <a:latin typeface="Aptos" panose="020B0004020202020204" pitchFamily="34" charset="0"/>
              </a:rPr>
              <a:t>Kiến trúc backend + CRUD APIs</a:t>
            </a:r>
          </a:p>
        </p:txBody>
      </p:sp>
      <p:cxnSp>
        <p:nvCxnSpPr>
          <p:cNvPr id="13" name="Straight Connector 12">
            <a:extLst>
              <a:ext uri="{FF2B5EF4-FFF2-40B4-BE49-F238E27FC236}">
                <a16:creationId xmlns:a16="http://schemas.microsoft.com/office/drawing/2014/main" id="{60A811B9-6F39-6597-A7F0-97FB654EC3C3}"/>
              </a:ext>
            </a:extLst>
          </p:cNvPr>
          <p:cNvCxnSpPr/>
          <p:nvPr/>
        </p:nvCxnSpPr>
        <p:spPr>
          <a:xfrm>
            <a:off x="8051800" y="4381500"/>
            <a:ext cx="660400" cy="0"/>
          </a:xfrm>
          <a:prstGeom prst="line">
            <a:avLst/>
          </a:prstGeom>
          <a:ln w="25400">
            <a:solidFill>
              <a:srgbClr val="5B6574"/>
            </a:solidFill>
            <a:tailEnd type="arrow"/>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6AA5530-23C5-B3FE-86E9-302DF5182AE6}"/>
              </a:ext>
            </a:extLst>
          </p:cNvPr>
          <p:cNvSpPr/>
          <p:nvPr/>
        </p:nvSpPr>
        <p:spPr>
          <a:xfrm>
            <a:off x="8686800" y="3429000"/>
            <a:ext cx="3175000" cy="1905000"/>
          </a:xfrm>
          <a:prstGeom prst="rect">
            <a:avLst/>
          </a:prstGeom>
          <a:solidFill>
            <a:srgbClr val="E2F3EB"/>
          </a:solidFill>
          <a:ln w="12700">
            <a:solidFill>
              <a:srgbClr val="1C80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87435CDD-AAEB-ABAA-B44A-A7AA42B9F30E}"/>
              </a:ext>
            </a:extLst>
          </p:cNvPr>
          <p:cNvSpPr txBox="1"/>
          <p:nvPr/>
        </p:nvSpPr>
        <p:spPr>
          <a:xfrm>
            <a:off x="8966200" y="3708400"/>
            <a:ext cx="2667000" cy="338554"/>
          </a:xfrm>
          <a:prstGeom prst="rect">
            <a:avLst/>
          </a:prstGeom>
          <a:noFill/>
        </p:spPr>
        <p:txBody>
          <a:bodyPr vert="horz" wrap="square" lIns="0" tIns="0" rIns="0" bIns="0" rtlCol="0">
            <a:spAutoFit/>
          </a:bodyPr>
          <a:lstStyle/>
          <a:p>
            <a:r>
              <a:rPr lang="en-US" sz="2200" b="1">
                <a:solidFill>
                  <a:srgbClr val="1C8056"/>
                </a:solidFill>
                <a:latin typeface="Aptos" panose="020B0004020202020204" pitchFamily="34" charset="0"/>
              </a:rPr>
              <a:t>Tuần 4</a:t>
            </a:r>
          </a:p>
        </p:txBody>
      </p:sp>
      <p:sp>
        <p:nvSpPr>
          <p:cNvPr id="16" name="TextBox 15">
            <a:extLst>
              <a:ext uri="{FF2B5EF4-FFF2-40B4-BE49-F238E27FC236}">
                <a16:creationId xmlns:a16="http://schemas.microsoft.com/office/drawing/2014/main" id="{BB7C5F80-214A-CB42-04FB-438022643471}"/>
              </a:ext>
            </a:extLst>
          </p:cNvPr>
          <p:cNvSpPr txBox="1"/>
          <p:nvPr/>
        </p:nvSpPr>
        <p:spPr>
          <a:xfrm>
            <a:off x="8966200" y="4292600"/>
            <a:ext cx="2540000" cy="584775"/>
          </a:xfrm>
          <a:prstGeom prst="rect">
            <a:avLst/>
          </a:prstGeom>
          <a:noFill/>
        </p:spPr>
        <p:txBody>
          <a:bodyPr vert="horz" wrap="square" lIns="0" tIns="0" rIns="0" bIns="0" rtlCol="0">
            <a:spAutoFit/>
          </a:bodyPr>
          <a:lstStyle/>
          <a:p>
            <a:r>
              <a:rPr lang="en-US" sz="1900">
                <a:solidFill>
                  <a:srgbClr val="171F2A"/>
                </a:solidFill>
                <a:latin typeface="Aptos" panose="020B0004020202020204" pitchFamily="34" charset="0"/>
              </a:rPr>
              <a:t>JWT auth + role authorization</a:t>
            </a:r>
          </a:p>
        </p:txBody>
      </p:sp>
      <p:cxnSp>
        <p:nvCxnSpPr>
          <p:cNvPr id="17" name="Straight Connector 16">
            <a:extLst>
              <a:ext uri="{FF2B5EF4-FFF2-40B4-BE49-F238E27FC236}">
                <a16:creationId xmlns:a16="http://schemas.microsoft.com/office/drawing/2014/main" id="{5FC82332-AD7C-E590-5C06-0DD0763F0ED9}"/>
              </a:ext>
            </a:extLst>
          </p:cNvPr>
          <p:cNvCxnSpPr/>
          <p:nvPr/>
        </p:nvCxnSpPr>
        <p:spPr>
          <a:xfrm>
            <a:off x="11861800" y="4381500"/>
            <a:ext cx="660400" cy="0"/>
          </a:xfrm>
          <a:prstGeom prst="line">
            <a:avLst/>
          </a:prstGeom>
          <a:ln w="25400">
            <a:solidFill>
              <a:srgbClr val="5B6574"/>
            </a:solidFill>
            <a:tailEnd type="arrow"/>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F9D12BA5-0E79-335B-B108-41B966E07FD9}"/>
              </a:ext>
            </a:extLst>
          </p:cNvPr>
          <p:cNvSpPr/>
          <p:nvPr/>
        </p:nvSpPr>
        <p:spPr>
          <a:xfrm>
            <a:off x="12496800" y="3429000"/>
            <a:ext cx="3175000" cy="1905000"/>
          </a:xfrm>
          <a:prstGeom prst="rect">
            <a:avLst/>
          </a:prstGeom>
          <a:solidFill>
            <a:srgbClr val="F8E2E2"/>
          </a:solidFill>
          <a:ln w="12700">
            <a:solidFill>
              <a:srgbClr val="B14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FB595900-9C30-0001-CC1B-988472958748}"/>
              </a:ext>
            </a:extLst>
          </p:cNvPr>
          <p:cNvSpPr txBox="1"/>
          <p:nvPr/>
        </p:nvSpPr>
        <p:spPr>
          <a:xfrm>
            <a:off x="12776200" y="3708400"/>
            <a:ext cx="2667000" cy="338554"/>
          </a:xfrm>
          <a:prstGeom prst="rect">
            <a:avLst/>
          </a:prstGeom>
          <a:noFill/>
        </p:spPr>
        <p:txBody>
          <a:bodyPr vert="horz" wrap="square" lIns="0" tIns="0" rIns="0" bIns="0" rtlCol="0">
            <a:spAutoFit/>
          </a:bodyPr>
          <a:lstStyle/>
          <a:p>
            <a:r>
              <a:rPr lang="en-US" sz="2200" b="1">
                <a:solidFill>
                  <a:srgbClr val="B14040"/>
                </a:solidFill>
                <a:latin typeface="Aptos" panose="020B0004020202020204" pitchFamily="34" charset="0"/>
              </a:rPr>
              <a:t>Tuần 5-6</a:t>
            </a:r>
          </a:p>
        </p:txBody>
      </p:sp>
      <p:sp>
        <p:nvSpPr>
          <p:cNvPr id="20" name="TextBox 19">
            <a:extLst>
              <a:ext uri="{FF2B5EF4-FFF2-40B4-BE49-F238E27FC236}">
                <a16:creationId xmlns:a16="http://schemas.microsoft.com/office/drawing/2014/main" id="{A135FA92-553E-891D-B999-4A993054DA83}"/>
              </a:ext>
            </a:extLst>
          </p:cNvPr>
          <p:cNvSpPr txBox="1"/>
          <p:nvPr/>
        </p:nvSpPr>
        <p:spPr>
          <a:xfrm>
            <a:off x="12776200" y="4292600"/>
            <a:ext cx="2540000" cy="584775"/>
          </a:xfrm>
          <a:prstGeom prst="rect">
            <a:avLst/>
          </a:prstGeom>
          <a:noFill/>
        </p:spPr>
        <p:txBody>
          <a:bodyPr vert="horz" wrap="square" lIns="0" tIns="0" rIns="0" bIns="0" rtlCol="0">
            <a:spAutoFit/>
          </a:bodyPr>
          <a:lstStyle/>
          <a:p>
            <a:r>
              <a:rPr lang="en-US" sz="1900">
                <a:solidFill>
                  <a:srgbClr val="171F2A"/>
                </a:solidFill>
                <a:latin typeface="Aptos" panose="020B0004020202020204" pitchFamily="34" charset="0"/>
              </a:rPr>
              <a:t>Business rules, testing, optimization</a:t>
            </a:r>
          </a:p>
        </p:txBody>
      </p:sp>
      <p:sp>
        <p:nvSpPr>
          <p:cNvPr id="21" name="TextBox 20">
            <a:extLst>
              <a:ext uri="{FF2B5EF4-FFF2-40B4-BE49-F238E27FC236}">
                <a16:creationId xmlns:a16="http://schemas.microsoft.com/office/drawing/2014/main" id="{02F67749-EC49-0942-F9DC-B0A45427C498}"/>
              </a:ext>
            </a:extLst>
          </p:cNvPr>
          <p:cNvSpPr txBox="1"/>
          <p:nvPr/>
        </p:nvSpPr>
        <p:spPr>
          <a:xfrm>
            <a:off x="1143000" y="6286500"/>
            <a:ext cx="3302000" cy="338554"/>
          </a:xfrm>
          <a:prstGeom prst="rect">
            <a:avLst/>
          </a:prstGeom>
          <a:noFill/>
        </p:spPr>
        <p:txBody>
          <a:bodyPr vert="horz" wrap="square" lIns="0" tIns="0" rIns="0" bIns="0" rtlCol="0">
            <a:spAutoFit/>
          </a:bodyPr>
          <a:lstStyle/>
          <a:p>
            <a:r>
              <a:rPr lang="en-US" sz="2200" b="1">
                <a:solidFill>
                  <a:srgbClr val="171F2A"/>
                </a:solidFill>
                <a:latin typeface="Aptos" panose="020B0004020202020204" pitchFamily="34" charset="0"/>
              </a:rPr>
              <a:t>Ý nghĩa checkpoint</a:t>
            </a:r>
          </a:p>
        </p:txBody>
      </p:sp>
      <p:sp>
        <p:nvSpPr>
          <p:cNvPr id="22" name="TextBox 21">
            <a:extLst>
              <a:ext uri="{FF2B5EF4-FFF2-40B4-BE49-F238E27FC236}">
                <a16:creationId xmlns:a16="http://schemas.microsoft.com/office/drawing/2014/main" id="{BFAA906A-369C-1EF7-2600-D751848383B0}"/>
              </a:ext>
            </a:extLst>
          </p:cNvPr>
          <p:cNvSpPr txBox="1"/>
          <p:nvPr/>
        </p:nvSpPr>
        <p:spPr>
          <a:xfrm>
            <a:off x="1143000" y="6794500"/>
            <a:ext cx="13208000" cy="1374735"/>
          </a:xfrm>
          <a:prstGeom prst="rect">
            <a:avLst/>
          </a:prstGeom>
          <a:noFill/>
        </p:spPr>
        <p:txBody>
          <a:bodyPr vert="horz" wrap="square" lIns="0" tIns="0" rIns="0" bIns="0" rtlCol="0">
            <a:spAutoFit/>
          </a:bodyPr>
          <a:lstStyle/>
          <a:p>
            <a:pPr marL="457200" indent="-457200">
              <a:spcAft>
                <a:spcPts val="800"/>
              </a:spcAft>
              <a:buFont typeface="+mj-lt"/>
              <a:buAutoNum type="arabicPeriod"/>
            </a:pPr>
            <a:r>
              <a:rPr lang="vi-VN" sz="1900">
                <a:solidFill>
                  <a:srgbClr val="171F2A"/>
                </a:solidFill>
                <a:latin typeface="Aptos" panose="020B0004020202020204" pitchFamily="34" charset="0"/>
              </a:rPr>
              <a:t>Tuần 3 chứng minh hệ thống có kiến trúc backend rõ ràng, có EF Core, migration, DTO, validation và CRUD endpoints.</a:t>
            </a:r>
          </a:p>
          <a:p>
            <a:pPr marL="457200" indent="-457200">
              <a:spcAft>
                <a:spcPts val="800"/>
              </a:spcAft>
              <a:buFont typeface="+mj-lt"/>
              <a:buAutoNum type="arabicPeriod"/>
            </a:pPr>
            <a:r>
              <a:rPr lang="vi-VN" sz="1900">
                <a:solidFill>
                  <a:srgbClr val="171F2A"/>
                </a:solidFill>
                <a:latin typeface="Aptos" panose="020B0004020202020204" pitchFamily="34" charset="0"/>
              </a:rPr>
              <a:t>Tuần 4 chứng minh API đã có hàng rào bảo mật: login, token, refresh token, role-based authorization và protected APIs.</a:t>
            </a:r>
          </a:p>
          <a:p>
            <a:pPr marL="457200" indent="-457200">
              <a:spcAft>
                <a:spcPts val="800"/>
              </a:spcAft>
              <a:buFont typeface="+mj-lt"/>
              <a:buAutoNum type="arabicPeriod"/>
            </a:pPr>
            <a:r>
              <a:rPr lang="vi-VN" sz="1900">
                <a:solidFill>
                  <a:srgbClr val="171F2A"/>
                </a:solidFill>
                <a:latin typeface="Aptos" panose="020B0004020202020204" pitchFamily="34" charset="0"/>
              </a:rPr>
              <a:t>Kết quả hiện tại là nền để tuần 5 phát triển nghiệp vụ sâu hơn như tồn kho, xử lý order, invoice và search/filter/pagination nâng cao.</a:t>
            </a:r>
            <a:endParaRPr lang="en-US" sz="1900">
              <a:solidFill>
                <a:srgbClr val="171F2A"/>
              </a:solidFill>
              <a:latin typeface="Aptos" panose="020B0004020202020204" pitchFamily="34" charset="0"/>
            </a:endParaRPr>
          </a:p>
        </p:txBody>
      </p:sp>
      <p:cxnSp>
        <p:nvCxnSpPr>
          <p:cNvPr id="23" name="Straight Connector 22">
            <a:extLst>
              <a:ext uri="{FF2B5EF4-FFF2-40B4-BE49-F238E27FC236}">
                <a16:creationId xmlns:a16="http://schemas.microsoft.com/office/drawing/2014/main" id="{51A505FB-EEB6-D185-058B-8C75C4ADC26A}"/>
              </a:ext>
            </a:extLst>
          </p:cNvPr>
          <p:cNvCxnSpPr/>
          <p:nvPr/>
        </p:nvCxnSpPr>
        <p:spPr>
          <a:xfrm>
            <a:off x="914400" y="8509000"/>
            <a:ext cx="14452600" cy="0"/>
          </a:xfrm>
          <a:prstGeom prst="line">
            <a:avLst/>
          </a:prstGeom>
          <a:ln w="12700">
            <a:solidFill>
              <a:srgbClr val="D6DBE1"/>
            </a:solidFill>
          </a:ln>
        </p:spPr>
        <p:style>
          <a:lnRef idx="1">
            <a:schemeClr val="accent1"/>
          </a:lnRef>
          <a:fillRef idx="0">
            <a:schemeClr val="accent1"/>
          </a:fillRef>
          <a:effectRef idx="0">
            <a:schemeClr val="accent1"/>
          </a:effectRef>
          <a:fontRef idx="minor">
            <a:schemeClr val="tx1"/>
          </a:fontRef>
        </p:style>
      </p:cxnSp>
      <p:sp>
        <p:nvSpPr>
          <p:cNvPr id="24" name="footer-source">
            <a:extLst>
              <a:ext uri="{FF2B5EF4-FFF2-40B4-BE49-F238E27FC236}">
                <a16:creationId xmlns:a16="http://schemas.microsoft.com/office/drawing/2014/main" id="{37623DE7-3DC8-22CE-43A5-E71A6DB93BC1}"/>
              </a:ext>
            </a:extLst>
          </p:cNvPr>
          <p:cNvSpPr txBox="1"/>
          <p:nvPr/>
        </p:nvSpPr>
        <p:spPr>
          <a:xfrm>
            <a:off x="914400" y="8661400"/>
            <a:ext cx="7112000" cy="169277"/>
          </a:xfrm>
          <a:prstGeom prst="rect">
            <a:avLst/>
          </a:prstGeom>
          <a:noFill/>
        </p:spPr>
        <p:txBody>
          <a:bodyPr vert="horz" wrap="square" lIns="0" tIns="0" rIns="0" bIns="0" rtlCol="0">
            <a:spAutoFit/>
          </a:bodyPr>
          <a:lstStyle/>
          <a:p>
            <a:r>
              <a:rPr lang="en-US" sz="1100">
                <a:solidFill>
                  <a:srgbClr val="5B6574"/>
                </a:solidFill>
                <a:latin typeface="Aptos" panose="020B0004020202020204" pitchFamily="34" charset="0"/>
              </a:rPr>
              <a:t>PoolHub | Tuần 3-4 backend checkpoint</a:t>
            </a:r>
          </a:p>
        </p:txBody>
      </p:sp>
      <p:sp>
        <p:nvSpPr>
          <p:cNvPr id="25" name="footer-page">
            <a:extLst>
              <a:ext uri="{FF2B5EF4-FFF2-40B4-BE49-F238E27FC236}">
                <a16:creationId xmlns:a16="http://schemas.microsoft.com/office/drawing/2014/main" id="{E9B058EE-6F72-E4BB-D0F1-B9E00D35605E}"/>
              </a:ext>
            </a:extLst>
          </p:cNvPr>
          <p:cNvSpPr txBox="1"/>
          <p:nvPr/>
        </p:nvSpPr>
        <p:spPr>
          <a:xfrm>
            <a:off x="14884400" y="8661400"/>
            <a:ext cx="482600" cy="169277"/>
          </a:xfrm>
          <a:prstGeom prst="rect">
            <a:avLst/>
          </a:prstGeom>
          <a:noFill/>
        </p:spPr>
        <p:txBody>
          <a:bodyPr vert="horz" wrap="square" lIns="0" tIns="0" rIns="0" bIns="0" rtlCol="0">
            <a:spAutoFit/>
          </a:bodyPr>
          <a:lstStyle/>
          <a:p>
            <a:r>
              <a:rPr lang="en-US" sz="1100">
                <a:solidFill>
                  <a:srgbClr val="5B6574"/>
                </a:solidFill>
                <a:latin typeface="Aptos" panose="020B0004020202020204" pitchFamily="34" charset="0"/>
              </a:rPr>
              <a:t>02</a:t>
            </a:r>
          </a:p>
        </p:txBody>
      </p:sp>
    </p:spTree>
    <p:extLst>
      <p:ext uri="{BB962C8B-B14F-4D97-AF65-F5344CB8AC3E}">
        <p14:creationId xmlns:p14="http://schemas.microsoft.com/office/powerpoint/2010/main" val="37764786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3-marker">
            <a:extLst>
              <a:ext uri="{FF2B5EF4-FFF2-40B4-BE49-F238E27FC236}">
                <a16:creationId xmlns:a16="http://schemas.microsoft.com/office/drawing/2014/main" id="{2531B4DD-03D6-D0F2-C2EB-98B468871415}"/>
              </a:ext>
            </a:extLst>
          </p:cNvPr>
          <p:cNvSpPr/>
          <p:nvPr/>
        </p:nvSpPr>
        <p:spPr>
          <a:xfrm>
            <a:off x="914400" y="685800"/>
            <a:ext cx="127000" cy="127000"/>
          </a:xfrm>
          <a:prstGeom prst="rect">
            <a:avLst/>
          </a:prstGeom>
          <a:solidFill>
            <a:srgbClr val="CD702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kicker-3-label">
            <a:extLst>
              <a:ext uri="{FF2B5EF4-FFF2-40B4-BE49-F238E27FC236}">
                <a16:creationId xmlns:a16="http://schemas.microsoft.com/office/drawing/2014/main" id="{F634D089-4246-8125-FE8E-0A7D613801EB}"/>
              </a:ext>
            </a:extLst>
          </p:cNvPr>
          <p:cNvSpPr txBox="1"/>
          <p:nvPr/>
        </p:nvSpPr>
        <p:spPr>
          <a:xfrm>
            <a:off x="1193800" y="596900"/>
            <a:ext cx="6604000" cy="230832"/>
          </a:xfrm>
          <a:prstGeom prst="rect">
            <a:avLst/>
          </a:prstGeom>
          <a:noFill/>
        </p:spPr>
        <p:txBody>
          <a:bodyPr vert="horz" wrap="square" lIns="0" tIns="0" rIns="0" bIns="0" rtlCol="0">
            <a:spAutoFit/>
          </a:bodyPr>
          <a:lstStyle/>
          <a:p>
            <a:r>
              <a:rPr lang="en-US" sz="1500" b="1" cap="all">
                <a:solidFill>
                  <a:srgbClr val="CD7027"/>
                </a:solidFill>
                <a:latin typeface="Aptos" panose="020B0004020202020204" pitchFamily="34" charset="0"/>
              </a:rPr>
              <a:t>TUẦN 3</a:t>
            </a:r>
          </a:p>
        </p:txBody>
      </p:sp>
      <p:sp>
        <p:nvSpPr>
          <p:cNvPr id="4" name="slide-title">
            <a:extLst>
              <a:ext uri="{FF2B5EF4-FFF2-40B4-BE49-F238E27FC236}">
                <a16:creationId xmlns:a16="http://schemas.microsoft.com/office/drawing/2014/main" id="{32F38377-FC5D-5A37-9799-7CD132E69993}"/>
              </a:ext>
            </a:extLst>
          </p:cNvPr>
          <p:cNvSpPr txBox="1"/>
          <p:nvPr/>
        </p:nvSpPr>
        <p:spPr>
          <a:xfrm>
            <a:off x="914400" y="1041400"/>
            <a:ext cx="13208000" cy="1169551"/>
          </a:xfrm>
          <a:prstGeom prst="rect">
            <a:avLst/>
          </a:prstGeom>
          <a:noFill/>
        </p:spPr>
        <p:txBody>
          <a:bodyPr vert="horz" wrap="square" lIns="0" tIns="0" rIns="0" bIns="0" rtlCol="0">
            <a:spAutoFit/>
          </a:bodyPr>
          <a:lstStyle/>
          <a:p>
            <a:r>
              <a:rPr lang="vi-VN" sz="3800" b="1">
                <a:solidFill>
                  <a:srgbClr val="171F2A"/>
                </a:solidFill>
                <a:latin typeface="Aptos" panose="020B0004020202020204" pitchFamily="34" charset="0"/>
              </a:rPr>
              <a:t>Yêu cầu tuần 3 đã được triển khai ở mức nền tảng backend hoàn chỉnh.</a:t>
            </a:r>
            <a:endParaRPr lang="en-US" sz="3800" b="1">
              <a:solidFill>
                <a:srgbClr val="171F2A"/>
              </a:solidFill>
              <a:latin typeface="Aptos" panose="020B0004020202020204" pitchFamily="34" charset="0"/>
            </a:endParaRPr>
          </a:p>
        </p:txBody>
      </p:sp>
      <p:sp>
        <p:nvSpPr>
          <p:cNvPr id="5" name="slide-subtitle">
            <a:extLst>
              <a:ext uri="{FF2B5EF4-FFF2-40B4-BE49-F238E27FC236}">
                <a16:creationId xmlns:a16="http://schemas.microsoft.com/office/drawing/2014/main" id="{65985885-69A2-1941-73E7-6555A8C1372D}"/>
              </a:ext>
            </a:extLst>
          </p:cNvPr>
          <p:cNvSpPr txBox="1"/>
          <p:nvPr/>
        </p:nvSpPr>
        <p:spPr>
          <a:xfrm>
            <a:off x="914400" y="2286000"/>
            <a:ext cx="12446000" cy="307777"/>
          </a:xfrm>
          <a:prstGeom prst="rect">
            <a:avLst/>
          </a:prstGeom>
          <a:noFill/>
        </p:spPr>
        <p:txBody>
          <a:bodyPr vert="horz" wrap="square" lIns="0" tIns="0" rIns="0" bIns="0" rtlCol="0">
            <a:spAutoFit/>
          </a:bodyPr>
          <a:lstStyle/>
          <a:p>
            <a:r>
              <a:rPr lang="en-US" sz="2000">
                <a:solidFill>
                  <a:srgbClr val="5B6574"/>
                </a:solidFill>
                <a:latin typeface="Aptos" panose="020B0004020202020204" pitchFamily="34" charset="0"/>
              </a:rPr>
              <a:t>Đối chiếu roadmap với bằng chứng trong source code.</a:t>
            </a:r>
          </a:p>
        </p:txBody>
      </p:sp>
      <p:sp>
        <p:nvSpPr>
          <p:cNvPr id="6" name="TextBox 5">
            <a:extLst>
              <a:ext uri="{FF2B5EF4-FFF2-40B4-BE49-F238E27FC236}">
                <a16:creationId xmlns:a16="http://schemas.microsoft.com/office/drawing/2014/main" id="{1899CCD7-3128-63C0-F318-284E3497F090}"/>
              </a:ext>
            </a:extLst>
          </p:cNvPr>
          <p:cNvSpPr txBox="1"/>
          <p:nvPr/>
        </p:nvSpPr>
        <p:spPr>
          <a:xfrm>
            <a:off x="1219200" y="2895600"/>
            <a:ext cx="2540000" cy="230832"/>
          </a:xfrm>
          <a:prstGeom prst="rect">
            <a:avLst/>
          </a:prstGeom>
          <a:noFill/>
        </p:spPr>
        <p:txBody>
          <a:bodyPr vert="horz" wrap="square" lIns="0" tIns="0" rIns="0" bIns="0" rtlCol="0">
            <a:spAutoFit/>
          </a:bodyPr>
          <a:lstStyle/>
          <a:p>
            <a:r>
              <a:rPr lang="en-US" sz="1500" b="1">
                <a:solidFill>
                  <a:srgbClr val="5B6574"/>
                </a:solidFill>
                <a:latin typeface="Aptos" panose="020B0004020202020204" pitchFamily="34" charset="0"/>
              </a:rPr>
              <a:t>Hạng mục</a:t>
            </a:r>
          </a:p>
        </p:txBody>
      </p:sp>
      <p:sp>
        <p:nvSpPr>
          <p:cNvPr id="7" name="TextBox 6">
            <a:extLst>
              <a:ext uri="{FF2B5EF4-FFF2-40B4-BE49-F238E27FC236}">
                <a16:creationId xmlns:a16="http://schemas.microsoft.com/office/drawing/2014/main" id="{85EF205D-11F0-73DB-049E-3B350EAB92CA}"/>
              </a:ext>
            </a:extLst>
          </p:cNvPr>
          <p:cNvSpPr txBox="1"/>
          <p:nvPr/>
        </p:nvSpPr>
        <p:spPr>
          <a:xfrm>
            <a:off x="4038600" y="2895600"/>
            <a:ext cx="3810000" cy="230832"/>
          </a:xfrm>
          <a:prstGeom prst="rect">
            <a:avLst/>
          </a:prstGeom>
          <a:noFill/>
        </p:spPr>
        <p:txBody>
          <a:bodyPr vert="horz" wrap="square" lIns="0" tIns="0" rIns="0" bIns="0" rtlCol="0">
            <a:spAutoFit/>
          </a:bodyPr>
          <a:lstStyle/>
          <a:p>
            <a:r>
              <a:rPr lang="en-US" sz="1500" b="1">
                <a:solidFill>
                  <a:srgbClr val="5B6574"/>
                </a:solidFill>
                <a:latin typeface="Aptos" panose="020B0004020202020204" pitchFamily="34" charset="0"/>
              </a:rPr>
              <a:t>Roadmap yêu cầu</a:t>
            </a:r>
          </a:p>
        </p:txBody>
      </p:sp>
      <p:sp>
        <p:nvSpPr>
          <p:cNvPr id="8" name="TextBox 7">
            <a:extLst>
              <a:ext uri="{FF2B5EF4-FFF2-40B4-BE49-F238E27FC236}">
                <a16:creationId xmlns:a16="http://schemas.microsoft.com/office/drawing/2014/main" id="{39BA622D-253C-231A-2911-7E68E8261FED}"/>
              </a:ext>
            </a:extLst>
          </p:cNvPr>
          <p:cNvSpPr txBox="1"/>
          <p:nvPr/>
        </p:nvSpPr>
        <p:spPr>
          <a:xfrm>
            <a:off x="8788400" y="2895600"/>
            <a:ext cx="4445000" cy="230832"/>
          </a:xfrm>
          <a:prstGeom prst="rect">
            <a:avLst/>
          </a:prstGeom>
          <a:noFill/>
        </p:spPr>
        <p:txBody>
          <a:bodyPr vert="horz" wrap="square" lIns="0" tIns="0" rIns="0" bIns="0" rtlCol="0">
            <a:spAutoFit/>
          </a:bodyPr>
          <a:lstStyle/>
          <a:p>
            <a:r>
              <a:rPr lang="en-US" sz="1500" b="1">
                <a:solidFill>
                  <a:srgbClr val="5B6574"/>
                </a:solidFill>
                <a:latin typeface="Aptos" panose="020B0004020202020204" pitchFamily="34" charset="0"/>
              </a:rPr>
              <a:t>Tình trạng thực tế trong repo</a:t>
            </a:r>
          </a:p>
        </p:txBody>
      </p:sp>
      <p:sp>
        <p:nvSpPr>
          <p:cNvPr id="9" name="TextBox 8">
            <a:extLst>
              <a:ext uri="{FF2B5EF4-FFF2-40B4-BE49-F238E27FC236}">
                <a16:creationId xmlns:a16="http://schemas.microsoft.com/office/drawing/2014/main" id="{8ED19AB3-0CF3-7204-AF0E-2C1BB4E1325F}"/>
              </a:ext>
            </a:extLst>
          </p:cNvPr>
          <p:cNvSpPr txBox="1"/>
          <p:nvPr/>
        </p:nvSpPr>
        <p:spPr>
          <a:xfrm>
            <a:off x="13741400" y="2895600"/>
            <a:ext cx="1524000" cy="230832"/>
          </a:xfrm>
          <a:prstGeom prst="rect">
            <a:avLst/>
          </a:prstGeom>
          <a:noFill/>
        </p:spPr>
        <p:txBody>
          <a:bodyPr vert="horz" wrap="square" lIns="0" tIns="0" rIns="0" bIns="0" rtlCol="0">
            <a:spAutoFit/>
          </a:bodyPr>
          <a:lstStyle/>
          <a:p>
            <a:r>
              <a:rPr lang="en-US" sz="1500" b="1">
                <a:solidFill>
                  <a:srgbClr val="5B6574"/>
                </a:solidFill>
                <a:latin typeface="Aptos" panose="020B0004020202020204" pitchFamily="34" charset="0"/>
              </a:rPr>
              <a:t>Đánh giá</a:t>
            </a:r>
          </a:p>
        </p:txBody>
      </p:sp>
      <p:sp>
        <p:nvSpPr>
          <p:cNvPr id="10" name="TextBox 9">
            <a:extLst>
              <a:ext uri="{FF2B5EF4-FFF2-40B4-BE49-F238E27FC236}">
                <a16:creationId xmlns:a16="http://schemas.microsoft.com/office/drawing/2014/main" id="{1AA0E98A-E5A6-48CE-83EB-D3602A63D44A}"/>
              </a:ext>
            </a:extLst>
          </p:cNvPr>
          <p:cNvSpPr txBox="1"/>
          <p:nvPr/>
        </p:nvSpPr>
        <p:spPr>
          <a:xfrm>
            <a:off x="1219200" y="3429000"/>
            <a:ext cx="2667000" cy="276999"/>
          </a:xfrm>
          <a:prstGeom prst="rect">
            <a:avLst/>
          </a:prstGeom>
          <a:noFill/>
        </p:spPr>
        <p:txBody>
          <a:bodyPr vert="horz" wrap="square" lIns="0" tIns="0" rIns="0" bIns="0" rtlCol="0">
            <a:spAutoFit/>
          </a:bodyPr>
          <a:lstStyle/>
          <a:p>
            <a:r>
              <a:rPr lang="en-US" b="1">
                <a:solidFill>
                  <a:srgbClr val="171F2A"/>
                </a:solidFill>
                <a:latin typeface="Aptos" panose="020B0004020202020204" pitchFamily="34" charset="0"/>
              </a:rPr>
              <a:t>API structure</a:t>
            </a:r>
          </a:p>
        </p:txBody>
      </p:sp>
      <p:sp>
        <p:nvSpPr>
          <p:cNvPr id="11" name="TextBox 10">
            <a:extLst>
              <a:ext uri="{FF2B5EF4-FFF2-40B4-BE49-F238E27FC236}">
                <a16:creationId xmlns:a16="http://schemas.microsoft.com/office/drawing/2014/main" id="{76211C5D-8337-536A-101B-96F4187D8458}"/>
              </a:ext>
            </a:extLst>
          </p:cNvPr>
          <p:cNvSpPr txBox="1"/>
          <p:nvPr/>
        </p:nvSpPr>
        <p:spPr>
          <a:xfrm>
            <a:off x="4038600" y="3429000"/>
            <a:ext cx="4381500" cy="261610"/>
          </a:xfrm>
          <a:prstGeom prst="rect">
            <a:avLst/>
          </a:prstGeom>
          <a:noFill/>
        </p:spPr>
        <p:txBody>
          <a:bodyPr vert="horz" wrap="square" lIns="0" tIns="0" rIns="0" bIns="0" rtlCol="0">
            <a:spAutoFit/>
          </a:bodyPr>
          <a:lstStyle/>
          <a:p>
            <a:r>
              <a:rPr lang="en-US" sz="1700">
                <a:solidFill>
                  <a:srgbClr val="5B6574"/>
                </a:solidFill>
                <a:latin typeface="Aptos" panose="020B0004020202020204" pitchFamily="34" charset="0"/>
              </a:rPr>
              <a:t>ASP.NET Web API structure</a:t>
            </a:r>
          </a:p>
        </p:txBody>
      </p:sp>
      <p:sp>
        <p:nvSpPr>
          <p:cNvPr id="12" name="TextBox 11">
            <a:extLst>
              <a:ext uri="{FF2B5EF4-FFF2-40B4-BE49-F238E27FC236}">
                <a16:creationId xmlns:a16="http://schemas.microsoft.com/office/drawing/2014/main" id="{3782904F-821F-2E79-C8AD-404D782E8FA6}"/>
              </a:ext>
            </a:extLst>
          </p:cNvPr>
          <p:cNvSpPr txBox="1"/>
          <p:nvPr/>
        </p:nvSpPr>
        <p:spPr>
          <a:xfrm>
            <a:off x="8788400" y="3429000"/>
            <a:ext cx="4572000" cy="523220"/>
          </a:xfrm>
          <a:prstGeom prst="rect">
            <a:avLst/>
          </a:prstGeom>
          <a:noFill/>
        </p:spPr>
        <p:txBody>
          <a:bodyPr vert="horz" wrap="square" lIns="0" tIns="0" rIns="0" bIns="0" rtlCol="0">
            <a:spAutoFit/>
          </a:bodyPr>
          <a:lstStyle/>
          <a:p>
            <a:r>
              <a:rPr lang="en-US" sz="1700">
                <a:solidFill>
                  <a:srgbClr val="171F2A"/>
                </a:solidFill>
                <a:latin typeface="Aptos" panose="020B0004020202020204" pitchFamily="34" charset="0"/>
              </a:rPr>
              <a:t>Có project PoolHub.API, controllers, Program, Swagger, middleware.</a:t>
            </a:r>
          </a:p>
        </p:txBody>
      </p:sp>
      <p:sp>
        <p:nvSpPr>
          <p:cNvPr id="13" name="Rectangle: Rounded Corners 12">
            <a:extLst>
              <a:ext uri="{FF2B5EF4-FFF2-40B4-BE49-F238E27FC236}">
                <a16:creationId xmlns:a16="http://schemas.microsoft.com/office/drawing/2014/main" id="{C1C71F81-E7A0-7990-9709-5463D8980860}"/>
              </a:ext>
            </a:extLst>
          </p:cNvPr>
          <p:cNvSpPr/>
          <p:nvPr/>
        </p:nvSpPr>
        <p:spPr>
          <a:xfrm>
            <a:off x="13690600" y="3454400"/>
            <a:ext cx="1473200" cy="355600"/>
          </a:xfrm>
          <a:prstGeom prst="roundRect">
            <a:avLst/>
          </a:prstGeom>
          <a:solidFill>
            <a:srgbClr val="1C805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FFFFFF"/>
                </a:solidFill>
                <a:latin typeface="Aptos" panose="020B0004020202020204" pitchFamily="34" charset="0"/>
              </a:rPr>
              <a:t>Đạt</a:t>
            </a:r>
          </a:p>
        </p:txBody>
      </p:sp>
      <p:sp>
        <p:nvSpPr>
          <p:cNvPr id="14" name="TextBox 13">
            <a:extLst>
              <a:ext uri="{FF2B5EF4-FFF2-40B4-BE49-F238E27FC236}">
                <a16:creationId xmlns:a16="http://schemas.microsoft.com/office/drawing/2014/main" id="{780E4813-EFBC-EE42-5E5F-AC9466001D44}"/>
              </a:ext>
            </a:extLst>
          </p:cNvPr>
          <p:cNvSpPr txBox="1"/>
          <p:nvPr/>
        </p:nvSpPr>
        <p:spPr>
          <a:xfrm>
            <a:off x="1219200" y="4318000"/>
            <a:ext cx="2667000" cy="276999"/>
          </a:xfrm>
          <a:prstGeom prst="rect">
            <a:avLst/>
          </a:prstGeom>
          <a:noFill/>
        </p:spPr>
        <p:txBody>
          <a:bodyPr vert="horz" wrap="square" lIns="0" tIns="0" rIns="0" bIns="0" rtlCol="0">
            <a:spAutoFit/>
          </a:bodyPr>
          <a:lstStyle/>
          <a:p>
            <a:r>
              <a:rPr lang="en-US" b="1">
                <a:solidFill>
                  <a:srgbClr val="171F2A"/>
                </a:solidFill>
                <a:latin typeface="Aptos" panose="020B0004020202020204" pitchFamily="34" charset="0"/>
              </a:rPr>
              <a:t>EF Core</a:t>
            </a:r>
          </a:p>
        </p:txBody>
      </p:sp>
      <p:sp>
        <p:nvSpPr>
          <p:cNvPr id="15" name="TextBox 14">
            <a:extLst>
              <a:ext uri="{FF2B5EF4-FFF2-40B4-BE49-F238E27FC236}">
                <a16:creationId xmlns:a16="http://schemas.microsoft.com/office/drawing/2014/main" id="{C7346010-4F21-C74E-5739-4EA033623753}"/>
              </a:ext>
            </a:extLst>
          </p:cNvPr>
          <p:cNvSpPr txBox="1"/>
          <p:nvPr/>
        </p:nvSpPr>
        <p:spPr>
          <a:xfrm>
            <a:off x="4038600" y="4318000"/>
            <a:ext cx="4381500" cy="261610"/>
          </a:xfrm>
          <a:prstGeom prst="rect">
            <a:avLst/>
          </a:prstGeom>
          <a:noFill/>
        </p:spPr>
        <p:txBody>
          <a:bodyPr vert="horz" wrap="square" lIns="0" tIns="0" rIns="0" bIns="0" rtlCol="0">
            <a:spAutoFit/>
          </a:bodyPr>
          <a:lstStyle/>
          <a:p>
            <a:r>
              <a:rPr lang="en-US" sz="1700">
                <a:solidFill>
                  <a:srgbClr val="5B6574"/>
                </a:solidFill>
                <a:latin typeface="Aptos" panose="020B0004020202020204" pitchFamily="34" charset="0"/>
              </a:rPr>
              <a:t>DbContext, schema, migration</a:t>
            </a:r>
          </a:p>
        </p:txBody>
      </p:sp>
      <p:sp>
        <p:nvSpPr>
          <p:cNvPr id="16" name="TextBox 15">
            <a:extLst>
              <a:ext uri="{FF2B5EF4-FFF2-40B4-BE49-F238E27FC236}">
                <a16:creationId xmlns:a16="http://schemas.microsoft.com/office/drawing/2014/main" id="{F76525E7-7BCD-463D-75D4-78FA68D3BE09}"/>
              </a:ext>
            </a:extLst>
          </p:cNvPr>
          <p:cNvSpPr txBox="1"/>
          <p:nvPr/>
        </p:nvSpPr>
        <p:spPr>
          <a:xfrm>
            <a:off x="8788400" y="4318000"/>
            <a:ext cx="4572000" cy="523220"/>
          </a:xfrm>
          <a:prstGeom prst="rect">
            <a:avLst/>
          </a:prstGeom>
          <a:noFill/>
        </p:spPr>
        <p:txBody>
          <a:bodyPr vert="horz" wrap="square" lIns="0" tIns="0" rIns="0" bIns="0" rtlCol="0">
            <a:spAutoFit/>
          </a:bodyPr>
          <a:lstStyle/>
          <a:p>
            <a:r>
              <a:rPr lang="en-US" sz="1700">
                <a:solidFill>
                  <a:srgbClr val="171F2A"/>
                </a:solidFill>
                <a:latin typeface="Aptos" panose="020B0004020202020204" pitchFamily="34" charset="0"/>
              </a:rPr>
              <a:t>PoolHubDbContext có 27 DbSet; migrations InitialWeek4/Fix cascade/precision.</a:t>
            </a:r>
          </a:p>
        </p:txBody>
      </p:sp>
      <p:sp>
        <p:nvSpPr>
          <p:cNvPr id="17" name="Rectangle: Rounded Corners 16">
            <a:extLst>
              <a:ext uri="{FF2B5EF4-FFF2-40B4-BE49-F238E27FC236}">
                <a16:creationId xmlns:a16="http://schemas.microsoft.com/office/drawing/2014/main" id="{1E9C30DC-9DC3-3190-8CEB-F0A820CC23C2}"/>
              </a:ext>
            </a:extLst>
          </p:cNvPr>
          <p:cNvSpPr/>
          <p:nvPr/>
        </p:nvSpPr>
        <p:spPr>
          <a:xfrm>
            <a:off x="13690600" y="4343400"/>
            <a:ext cx="1473200" cy="355600"/>
          </a:xfrm>
          <a:prstGeom prst="roundRect">
            <a:avLst/>
          </a:prstGeom>
          <a:solidFill>
            <a:srgbClr val="1C805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FFFFFF"/>
                </a:solidFill>
                <a:latin typeface="Aptos" panose="020B0004020202020204" pitchFamily="34" charset="0"/>
              </a:rPr>
              <a:t>Đạt</a:t>
            </a:r>
          </a:p>
        </p:txBody>
      </p:sp>
      <p:sp>
        <p:nvSpPr>
          <p:cNvPr id="18" name="TextBox 17">
            <a:extLst>
              <a:ext uri="{FF2B5EF4-FFF2-40B4-BE49-F238E27FC236}">
                <a16:creationId xmlns:a16="http://schemas.microsoft.com/office/drawing/2014/main" id="{40310E5E-60FD-F310-AF19-E7257A0F657A}"/>
              </a:ext>
            </a:extLst>
          </p:cNvPr>
          <p:cNvSpPr txBox="1"/>
          <p:nvPr/>
        </p:nvSpPr>
        <p:spPr>
          <a:xfrm>
            <a:off x="1219200" y="5207000"/>
            <a:ext cx="2667000" cy="276999"/>
          </a:xfrm>
          <a:prstGeom prst="rect">
            <a:avLst/>
          </a:prstGeom>
          <a:noFill/>
        </p:spPr>
        <p:txBody>
          <a:bodyPr vert="horz" wrap="square" lIns="0" tIns="0" rIns="0" bIns="0" rtlCol="0">
            <a:spAutoFit/>
          </a:bodyPr>
          <a:lstStyle/>
          <a:p>
            <a:r>
              <a:rPr lang="en-US" b="1">
                <a:solidFill>
                  <a:srgbClr val="171F2A"/>
                </a:solidFill>
                <a:latin typeface="Aptos" panose="020B0004020202020204" pitchFamily="34" charset="0"/>
              </a:rPr>
              <a:t>Service layer</a:t>
            </a:r>
          </a:p>
        </p:txBody>
      </p:sp>
      <p:sp>
        <p:nvSpPr>
          <p:cNvPr id="19" name="TextBox 18">
            <a:extLst>
              <a:ext uri="{FF2B5EF4-FFF2-40B4-BE49-F238E27FC236}">
                <a16:creationId xmlns:a16="http://schemas.microsoft.com/office/drawing/2014/main" id="{23BB50E6-4FB7-D41E-1E67-BBD1F23DA2D8}"/>
              </a:ext>
            </a:extLst>
          </p:cNvPr>
          <p:cNvSpPr txBox="1"/>
          <p:nvPr/>
        </p:nvSpPr>
        <p:spPr>
          <a:xfrm>
            <a:off x="4038600" y="5207000"/>
            <a:ext cx="4381500" cy="261610"/>
          </a:xfrm>
          <a:prstGeom prst="rect">
            <a:avLst/>
          </a:prstGeom>
          <a:noFill/>
        </p:spPr>
        <p:txBody>
          <a:bodyPr vert="horz" wrap="square" lIns="0" tIns="0" rIns="0" bIns="0" rtlCol="0">
            <a:spAutoFit/>
          </a:bodyPr>
          <a:lstStyle/>
          <a:p>
            <a:r>
              <a:rPr lang="en-US" sz="1700">
                <a:solidFill>
                  <a:srgbClr val="5B6574"/>
                </a:solidFill>
                <a:latin typeface="Aptos" panose="020B0004020202020204" pitchFamily="34" charset="0"/>
              </a:rPr>
              <a:t>Repository/Service pattern</a:t>
            </a:r>
          </a:p>
        </p:txBody>
      </p:sp>
      <p:sp>
        <p:nvSpPr>
          <p:cNvPr id="20" name="TextBox 19">
            <a:extLst>
              <a:ext uri="{FF2B5EF4-FFF2-40B4-BE49-F238E27FC236}">
                <a16:creationId xmlns:a16="http://schemas.microsoft.com/office/drawing/2014/main" id="{93251EE9-438D-6AE8-3619-F821FD579606}"/>
              </a:ext>
            </a:extLst>
          </p:cNvPr>
          <p:cNvSpPr txBox="1"/>
          <p:nvPr/>
        </p:nvSpPr>
        <p:spPr>
          <a:xfrm>
            <a:off x="8788400" y="5207000"/>
            <a:ext cx="4572000" cy="523220"/>
          </a:xfrm>
          <a:prstGeom prst="rect">
            <a:avLst/>
          </a:prstGeom>
          <a:noFill/>
        </p:spPr>
        <p:txBody>
          <a:bodyPr vert="horz" wrap="square" lIns="0" tIns="0" rIns="0" bIns="0" rtlCol="0">
            <a:spAutoFit/>
          </a:bodyPr>
          <a:lstStyle/>
          <a:p>
            <a:r>
              <a:rPr lang="en-US" sz="1700">
                <a:solidFill>
                  <a:srgbClr val="171F2A"/>
                </a:solidFill>
                <a:latin typeface="Aptos" panose="020B0004020202020204" pitchFamily="34" charset="0"/>
              </a:rPr>
              <a:t>Tách Core interfaces, Infrastructure, Services; DI đăng ký service trong Program.</a:t>
            </a:r>
          </a:p>
        </p:txBody>
      </p:sp>
      <p:sp>
        <p:nvSpPr>
          <p:cNvPr id="21" name="Rectangle: Rounded Corners 20">
            <a:extLst>
              <a:ext uri="{FF2B5EF4-FFF2-40B4-BE49-F238E27FC236}">
                <a16:creationId xmlns:a16="http://schemas.microsoft.com/office/drawing/2014/main" id="{42E22E4A-164D-491F-E1B6-4C6E5F985BF6}"/>
              </a:ext>
            </a:extLst>
          </p:cNvPr>
          <p:cNvSpPr/>
          <p:nvPr/>
        </p:nvSpPr>
        <p:spPr>
          <a:xfrm>
            <a:off x="13690600" y="5232400"/>
            <a:ext cx="1473200" cy="355600"/>
          </a:xfrm>
          <a:prstGeom prst="roundRect">
            <a:avLst/>
          </a:prstGeom>
          <a:solidFill>
            <a:srgbClr val="1C805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FFFFFF"/>
                </a:solidFill>
                <a:latin typeface="Aptos" panose="020B0004020202020204" pitchFamily="34" charset="0"/>
              </a:rPr>
              <a:t>Đạt</a:t>
            </a:r>
          </a:p>
        </p:txBody>
      </p:sp>
      <p:sp>
        <p:nvSpPr>
          <p:cNvPr id="22" name="TextBox 21">
            <a:extLst>
              <a:ext uri="{FF2B5EF4-FFF2-40B4-BE49-F238E27FC236}">
                <a16:creationId xmlns:a16="http://schemas.microsoft.com/office/drawing/2014/main" id="{7699F7F8-3183-0373-37AA-E3B5E8135281}"/>
              </a:ext>
            </a:extLst>
          </p:cNvPr>
          <p:cNvSpPr txBox="1"/>
          <p:nvPr/>
        </p:nvSpPr>
        <p:spPr>
          <a:xfrm>
            <a:off x="1219200" y="6096000"/>
            <a:ext cx="2667000" cy="276999"/>
          </a:xfrm>
          <a:prstGeom prst="rect">
            <a:avLst/>
          </a:prstGeom>
          <a:noFill/>
        </p:spPr>
        <p:txBody>
          <a:bodyPr vert="horz" wrap="square" lIns="0" tIns="0" rIns="0" bIns="0" rtlCol="0">
            <a:spAutoFit/>
          </a:bodyPr>
          <a:lstStyle/>
          <a:p>
            <a:r>
              <a:rPr lang="en-US" b="1">
                <a:solidFill>
                  <a:srgbClr val="171F2A"/>
                </a:solidFill>
                <a:latin typeface="Aptos" panose="020B0004020202020204" pitchFamily="34" charset="0"/>
              </a:rPr>
              <a:t>CRUD APIs</a:t>
            </a:r>
          </a:p>
        </p:txBody>
      </p:sp>
      <p:sp>
        <p:nvSpPr>
          <p:cNvPr id="23" name="TextBox 22">
            <a:extLst>
              <a:ext uri="{FF2B5EF4-FFF2-40B4-BE49-F238E27FC236}">
                <a16:creationId xmlns:a16="http://schemas.microsoft.com/office/drawing/2014/main" id="{B045BA4E-214A-6337-5BCF-BA664BD1542F}"/>
              </a:ext>
            </a:extLst>
          </p:cNvPr>
          <p:cNvSpPr txBox="1"/>
          <p:nvPr/>
        </p:nvSpPr>
        <p:spPr>
          <a:xfrm>
            <a:off x="4038600" y="6096000"/>
            <a:ext cx="4381500" cy="261610"/>
          </a:xfrm>
          <a:prstGeom prst="rect">
            <a:avLst/>
          </a:prstGeom>
          <a:noFill/>
        </p:spPr>
        <p:txBody>
          <a:bodyPr vert="horz" wrap="square" lIns="0" tIns="0" rIns="0" bIns="0" rtlCol="0">
            <a:spAutoFit/>
          </a:bodyPr>
          <a:lstStyle/>
          <a:p>
            <a:r>
              <a:rPr lang="en-US" sz="1700">
                <a:solidFill>
                  <a:srgbClr val="5B6574"/>
                </a:solidFill>
                <a:latin typeface="Aptos" panose="020B0004020202020204" pitchFamily="34" charset="0"/>
              </a:rPr>
              <a:t>CRUD dữ liệu chính</a:t>
            </a:r>
          </a:p>
        </p:txBody>
      </p:sp>
      <p:sp>
        <p:nvSpPr>
          <p:cNvPr id="24" name="TextBox 23">
            <a:extLst>
              <a:ext uri="{FF2B5EF4-FFF2-40B4-BE49-F238E27FC236}">
                <a16:creationId xmlns:a16="http://schemas.microsoft.com/office/drawing/2014/main" id="{32003FBA-0359-01C4-82B0-E408C347A35B}"/>
              </a:ext>
            </a:extLst>
          </p:cNvPr>
          <p:cNvSpPr txBox="1"/>
          <p:nvPr/>
        </p:nvSpPr>
        <p:spPr>
          <a:xfrm>
            <a:off x="8788400" y="6096000"/>
            <a:ext cx="4572000" cy="523220"/>
          </a:xfrm>
          <a:prstGeom prst="rect">
            <a:avLst/>
          </a:prstGeom>
          <a:noFill/>
        </p:spPr>
        <p:txBody>
          <a:bodyPr vert="horz" wrap="square" lIns="0" tIns="0" rIns="0" bIns="0" rtlCol="0">
            <a:spAutoFit/>
          </a:bodyPr>
          <a:lstStyle/>
          <a:p>
            <a:r>
              <a:rPr lang="en-US" sz="1700">
                <a:solidFill>
                  <a:srgbClr val="171F2A"/>
                </a:solidFill>
                <a:latin typeface="Aptos" panose="020B0004020202020204" pitchFamily="34" charset="0"/>
              </a:rPr>
              <a:t>Floors, zones, table types, venue tables, products, bookings, pricing plan read.</a:t>
            </a:r>
          </a:p>
        </p:txBody>
      </p:sp>
      <p:sp>
        <p:nvSpPr>
          <p:cNvPr id="25" name="Rectangle: Rounded Corners 24">
            <a:extLst>
              <a:ext uri="{FF2B5EF4-FFF2-40B4-BE49-F238E27FC236}">
                <a16:creationId xmlns:a16="http://schemas.microsoft.com/office/drawing/2014/main" id="{55696646-6E5B-33AC-6A7B-6D8C273DF469}"/>
              </a:ext>
            </a:extLst>
          </p:cNvPr>
          <p:cNvSpPr/>
          <p:nvPr/>
        </p:nvSpPr>
        <p:spPr>
          <a:xfrm>
            <a:off x="13690600" y="6121400"/>
            <a:ext cx="1473200" cy="355600"/>
          </a:xfrm>
          <a:prstGeom prst="roundRect">
            <a:avLst/>
          </a:prstGeom>
          <a:solidFill>
            <a:srgbClr val="CD702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FFFFFF"/>
                </a:solidFill>
                <a:latin typeface="Aptos" panose="020B0004020202020204" pitchFamily="34" charset="0"/>
              </a:rPr>
              <a:t>Đạt một phần</a:t>
            </a:r>
          </a:p>
        </p:txBody>
      </p:sp>
      <p:sp>
        <p:nvSpPr>
          <p:cNvPr id="26" name="TextBox 25">
            <a:extLst>
              <a:ext uri="{FF2B5EF4-FFF2-40B4-BE49-F238E27FC236}">
                <a16:creationId xmlns:a16="http://schemas.microsoft.com/office/drawing/2014/main" id="{BA671635-C2B4-D873-BD89-AFC7AC6FA810}"/>
              </a:ext>
            </a:extLst>
          </p:cNvPr>
          <p:cNvSpPr txBox="1"/>
          <p:nvPr/>
        </p:nvSpPr>
        <p:spPr>
          <a:xfrm>
            <a:off x="1219200" y="6985000"/>
            <a:ext cx="2667000" cy="276999"/>
          </a:xfrm>
          <a:prstGeom prst="rect">
            <a:avLst/>
          </a:prstGeom>
          <a:noFill/>
        </p:spPr>
        <p:txBody>
          <a:bodyPr vert="horz" wrap="square" lIns="0" tIns="0" rIns="0" bIns="0" rtlCol="0">
            <a:spAutoFit/>
          </a:bodyPr>
          <a:lstStyle/>
          <a:p>
            <a:r>
              <a:rPr lang="en-US" b="1">
                <a:solidFill>
                  <a:srgbClr val="171F2A"/>
                </a:solidFill>
                <a:latin typeface="Aptos" panose="020B0004020202020204" pitchFamily="34" charset="0"/>
              </a:rPr>
              <a:t>Validation/DTO</a:t>
            </a:r>
          </a:p>
        </p:txBody>
      </p:sp>
      <p:sp>
        <p:nvSpPr>
          <p:cNvPr id="27" name="TextBox 26">
            <a:extLst>
              <a:ext uri="{FF2B5EF4-FFF2-40B4-BE49-F238E27FC236}">
                <a16:creationId xmlns:a16="http://schemas.microsoft.com/office/drawing/2014/main" id="{C640CE62-B66C-870E-1A92-AD11953AED4B}"/>
              </a:ext>
            </a:extLst>
          </p:cNvPr>
          <p:cNvSpPr txBox="1"/>
          <p:nvPr/>
        </p:nvSpPr>
        <p:spPr>
          <a:xfrm>
            <a:off x="4038600" y="6985000"/>
            <a:ext cx="4381500" cy="261610"/>
          </a:xfrm>
          <a:prstGeom prst="rect">
            <a:avLst/>
          </a:prstGeom>
          <a:noFill/>
        </p:spPr>
        <p:txBody>
          <a:bodyPr vert="horz" wrap="square" lIns="0" tIns="0" rIns="0" bIns="0" rtlCol="0">
            <a:spAutoFit/>
          </a:bodyPr>
          <a:lstStyle/>
          <a:p>
            <a:r>
              <a:rPr lang="en-US" sz="1700">
                <a:solidFill>
                  <a:srgbClr val="5B6574"/>
                </a:solidFill>
                <a:latin typeface="Aptos" panose="020B0004020202020204" pitchFamily="34" charset="0"/>
              </a:rPr>
              <a:t>DTO, validation, async/await</a:t>
            </a:r>
          </a:p>
        </p:txBody>
      </p:sp>
      <p:sp>
        <p:nvSpPr>
          <p:cNvPr id="28" name="TextBox 27">
            <a:extLst>
              <a:ext uri="{FF2B5EF4-FFF2-40B4-BE49-F238E27FC236}">
                <a16:creationId xmlns:a16="http://schemas.microsoft.com/office/drawing/2014/main" id="{9A233DF2-78B6-31BE-7FF1-C28255F90C3D}"/>
              </a:ext>
            </a:extLst>
          </p:cNvPr>
          <p:cNvSpPr txBox="1"/>
          <p:nvPr/>
        </p:nvSpPr>
        <p:spPr>
          <a:xfrm>
            <a:off x="8788400" y="6985000"/>
            <a:ext cx="4572000" cy="523220"/>
          </a:xfrm>
          <a:prstGeom prst="rect">
            <a:avLst/>
          </a:prstGeom>
          <a:noFill/>
        </p:spPr>
        <p:txBody>
          <a:bodyPr vert="horz" wrap="square" lIns="0" tIns="0" rIns="0" bIns="0" rtlCol="0">
            <a:spAutoFit/>
          </a:bodyPr>
          <a:lstStyle/>
          <a:p>
            <a:r>
              <a:rPr lang="en-US" sz="1700">
                <a:solidFill>
                  <a:srgbClr val="171F2A"/>
                </a:solidFill>
                <a:latin typeface="Aptos" panose="020B0004020202020204" pitchFamily="34" charset="0"/>
              </a:rPr>
              <a:t>DTO có DataAnnotations ở Auth; nhiều endpoint dùng DTO và async/await.</a:t>
            </a:r>
          </a:p>
        </p:txBody>
      </p:sp>
      <p:sp>
        <p:nvSpPr>
          <p:cNvPr id="29" name="Rectangle: Rounded Corners 28">
            <a:extLst>
              <a:ext uri="{FF2B5EF4-FFF2-40B4-BE49-F238E27FC236}">
                <a16:creationId xmlns:a16="http://schemas.microsoft.com/office/drawing/2014/main" id="{7508421E-6AE5-FD8B-228B-3EA356B44DEC}"/>
              </a:ext>
            </a:extLst>
          </p:cNvPr>
          <p:cNvSpPr/>
          <p:nvPr/>
        </p:nvSpPr>
        <p:spPr>
          <a:xfrm>
            <a:off x="13690600" y="7010400"/>
            <a:ext cx="1473200" cy="355600"/>
          </a:xfrm>
          <a:prstGeom prst="roundRect">
            <a:avLst/>
          </a:prstGeom>
          <a:solidFill>
            <a:srgbClr val="CD702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FFFFFF"/>
                </a:solidFill>
                <a:latin typeface="Aptos" panose="020B0004020202020204" pitchFamily="34" charset="0"/>
              </a:rPr>
              <a:t>Cần mở rộng</a:t>
            </a:r>
          </a:p>
        </p:txBody>
      </p:sp>
      <p:cxnSp>
        <p:nvCxnSpPr>
          <p:cNvPr id="30" name="Straight Connector 29">
            <a:extLst>
              <a:ext uri="{FF2B5EF4-FFF2-40B4-BE49-F238E27FC236}">
                <a16:creationId xmlns:a16="http://schemas.microsoft.com/office/drawing/2014/main" id="{2BB7032F-931A-2AE4-901C-B67597030F10}"/>
              </a:ext>
            </a:extLst>
          </p:cNvPr>
          <p:cNvCxnSpPr/>
          <p:nvPr/>
        </p:nvCxnSpPr>
        <p:spPr>
          <a:xfrm>
            <a:off x="914400" y="8509000"/>
            <a:ext cx="14452600" cy="0"/>
          </a:xfrm>
          <a:prstGeom prst="line">
            <a:avLst/>
          </a:prstGeom>
          <a:ln w="12700">
            <a:solidFill>
              <a:srgbClr val="D6DBE1"/>
            </a:solidFill>
          </a:ln>
        </p:spPr>
        <p:style>
          <a:lnRef idx="1">
            <a:schemeClr val="accent1"/>
          </a:lnRef>
          <a:fillRef idx="0">
            <a:schemeClr val="accent1"/>
          </a:fillRef>
          <a:effectRef idx="0">
            <a:schemeClr val="accent1"/>
          </a:effectRef>
          <a:fontRef idx="minor">
            <a:schemeClr val="tx1"/>
          </a:fontRef>
        </p:style>
      </p:cxnSp>
      <p:sp>
        <p:nvSpPr>
          <p:cNvPr id="31" name="footer-source">
            <a:extLst>
              <a:ext uri="{FF2B5EF4-FFF2-40B4-BE49-F238E27FC236}">
                <a16:creationId xmlns:a16="http://schemas.microsoft.com/office/drawing/2014/main" id="{3D26B610-3933-E507-0978-E12ADD411716}"/>
              </a:ext>
            </a:extLst>
          </p:cNvPr>
          <p:cNvSpPr txBox="1"/>
          <p:nvPr/>
        </p:nvSpPr>
        <p:spPr>
          <a:xfrm>
            <a:off x="914400" y="8661400"/>
            <a:ext cx="7112000" cy="169277"/>
          </a:xfrm>
          <a:prstGeom prst="rect">
            <a:avLst/>
          </a:prstGeom>
          <a:noFill/>
        </p:spPr>
        <p:txBody>
          <a:bodyPr vert="horz" wrap="square" lIns="0" tIns="0" rIns="0" bIns="0" rtlCol="0">
            <a:spAutoFit/>
          </a:bodyPr>
          <a:lstStyle/>
          <a:p>
            <a:r>
              <a:rPr lang="en-US" sz="1100">
                <a:solidFill>
                  <a:srgbClr val="5B6574"/>
                </a:solidFill>
                <a:latin typeface="Aptos" panose="020B0004020202020204" pitchFamily="34" charset="0"/>
              </a:rPr>
              <a:t>PoolHub | Tuần 3-4 backend checkpoint</a:t>
            </a:r>
          </a:p>
        </p:txBody>
      </p:sp>
      <p:sp>
        <p:nvSpPr>
          <p:cNvPr id="32" name="footer-page">
            <a:extLst>
              <a:ext uri="{FF2B5EF4-FFF2-40B4-BE49-F238E27FC236}">
                <a16:creationId xmlns:a16="http://schemas.microsoft.com/office/drawing/2014/main" id="{912D0514-A9CA-0C14-8E5B-6470DFB210DB}"/>
              </a:ext>
            </a:extLst>
          </p:cNvPr>
          <p:cNvSpPr txBox="1"/>
          <p:nvPr/>
        </p:nvSpPr>
        <p:spPr>
          <a:xfrm>
            <a:off x="14884400" y="8661400"/>
            <a:ext cx="482600" cy="169277"/>
          </a:xfrm>
          <a:prstGeom prst="rect">
            <a:avLst/>
          </a:prstGeom>
          <a:noFill/>
        </p:spPr>
        <p:txBody>
          <a:bodyPr vert="horz" wrap="square" lIns="0" tIns="0" rIns="0" bIns="0" rtlCol="0">
            <a:spAutoFit/>
          </a:bodyPr>
          <a:lstStyle/>
          <a:p>
            <a:r>
              <a:rPr lang="en-US" sz="1100">
                <a:solidFill>
                  <a:srgbClr val="5B6574"/>
                </a:solidFill>
                <a:latin typeface="Aptos" panose="020B0004020202020204" pitchFamily="34" charset="0"/>
              </a:rPr>
              <a:t>03</a:t>
            </a:r>
          </a:p>
        </p:txBody>
      </p:sp>
    </p:spTree>
    <p:extLst>
      <p:ext uri="{BB962C8B-B14F-4D97-AF65-F5344CB8AC3E}">
        <p14:creationId xmlns:p14="http://schemas.microsoft.com/office/powerpoint/2010/main" val="30295971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4-marker">
            <a:extLst>
              <a:ext uri="{FF2B5EF4-FFF2-40B4-BE49-F238E27FC236}">
                <a16:creationId xmlns:a16="http://schemas.microsoft.com/office/drawing/2014/main" id="{E5ABAA18-46C7-184F-FB9A-B08BD8DAEC29}"/>
              </a:ext>
            </a:extLst>
          </p:cNvPr>
          <p:cNvSpPr/>
          <p:nvPr/>
        </p:nvSpPr>
        <p:spPr>
          <a:xfrm>
            <a:off x="914400" y="685800"/>
            <a:ext cx="127000" cy="127000"/>
          </a:xfrm>
          <a:prstGeom prst="rect">
            <a:avLst/>
          </a:prstGeom>
          <a:solidFill>
            <a:srgbClr val="CD702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kicker-4-label">
            <a:extLst>
              <a:ext uri="{FF2B5EF4-FFF2-40B4-BE49-F238E27FC236}">
                <a16:creationId xmlns:a16="http://schemas.microsoft.com/office/drawing/2014/main" id="{58410295-6AAC-AC41-5068-05EFF67A8379}"/>
              </a:ext>
            </a:extLst>
          </p:cNvPr>
          <p:cNvSpPr txBox="1"/>
          <p:nvPr/>
        </p:nvSpPr>
        <p:spPr>
          <a:xfrm>
            <a:off x="1193800" y="596900"/>
            <a:ext cx="6604000" cy="230832"/>
          </a:xfrm>
          <a:prstGeom prst="rect">
            <a:avLst/>
          </a:prstGeom>
          <a:noFill/>
        </p:spPr>
        <p:txBody>
          <a:bodyPr vert="horz" wrap="square" lIns="0" tIns="0" rIns="0" bIns="0" rtlCol="0">
            <a:spAutoFit/>
          </a:bodyPr>
          <a:lstStyle/>
          <a:p>
            <a:r>
              <a:rPr lang="en-US" sz="1500" b="1" cap="all">
                <a:solidFill>
                  <a:srgbClr val="CD7027"/>
                </a:solidFill>
                <a:latin typeface="Aptos" panose="020B0004020202020204" pitchFamily="34" charset="0"/>
              </a:rPr>
              <a:t>KIẾN TRÚC</a:t>
            </a:r>
          </a:p>
        </p:txBody>
      </p:sp>
      <p:sp>
        <p:nvSpPr>
          <p:cNvPr id="4" name="slide-title">
            <a:extLst>
              <a:ext uri="{FF2B5EF4-FFF2-40B4-BE49-F238E27FC236}">
                <a16:creationId xmlns:a16="http://schemas.microsoft.com/office/drawing/2014/main" id="{6FB2A793-703F-425F-6C13-9B67AD350E4D}"/>
              </a:ext>
            </a:extLst>
          </p:cNvPr>
          <p:cNvSpPr txBox="1"/>
          <p:nvPr/>
        </p:nvSpPr>
        <p:spPr>
          <a:xfrm>
            <a:off x="914400" y="1041400"/>
            <a:ext cx="13208000" cy="1169551"/>
          </a:xfrm>
          <a:prstGeom prst="rect">
            <a:avLst/>
          </a:prstGeom>
          <a:noFill/>
        </p:spPr>
        <p:txBody>
          <a:bodyPr vert="horz" wrap="square" lIns="0" tIns="0" rIns="0" bIns="0" rtlCol="0">
            <a:spAutoFit/>
          </a:bodyPr>
          <a:lstStyle/>
          <a:p>
            <a:r>
              <a:rPr lang="en-US" sz="3800" b="1">
                <a:solidFill>
                  <a:srgbClr val="171F2A"/>
                </a:solidFill>
                <a:latin typeface="Aptos" panose="020B0004020202020204" pitchFamily="34" charset="0"/>
              </a:rPr>
              <a:t>Backend đã tách layer đủ rõ để mở rộng nghiệp vụ mà không dồn logic vào controller.</a:t>
            </a:r>
          </a:p>
        </p:txBody>
      </p:sp>
      <p:sp>
        <p:nvSpPr>
          <p:cNvPr id="5" name="slide-subtitle">
            <a:extLst>
              <a:ext uri="{FF2B5EF4-FFF2-40B4-BE49-F238E27FC236}">
                <a16:creationId xmlns:a16="http://schemas.microsoft.com/office/drawing/2014/main" id="{DE5A9AE1-35BC-05D3-FB31-521A26D712C6}"/>
              </a:ext>
            </a:extLst>
          </p:cNvPr>
          <p:cNvSpPr txBox="1"/>
          <p:nvPr/>
        </p:nvSpPr>
        <p:spPr>
          <a:xfrm>
            <a:off x="914400" y="2286000"/>
            <a:ext cx="12446000" cy="307777"/>
          </a:xfrm>
          <a:prstGeom prst="rect">
            <a:avLst/>
          </a:prstGeom>
          <a:noFill/>
        </p:spPr>
        <p:txBody>
          <a:bodyPr vert="horz" wrap="square" lIns="0" tIns="0" rIns="0" bIns="0" rtlCol="0">
            <a:spAutoFit/>
          </a:bodyPr>
          <a:lstStyle/>
          <a:p>
            <a:r>
              <a:rPr lang="vi-VN" sz="2000">
                <a:solidFill>
                  <a:srgbClr val="5B6574"/>
                </a:solidFill>
                <a:latin typeface="Aptos" panose="020B0004020202020204" pitchFamily="34" charset="0"/>
              </a:rPr>
              <a:t>Mô hình hiện tại đi theo hướng layered architecture, gần với Clean Architecture mức sinh viên.</a:t>
            </a:r>
            <a:endParaRPr lang="en-US" sz="2000">
              <a:solidFill>
                <a:srgbClr val="5B6574"/>
              </a:solidFill>
              <a:latin typeface="Aptos" panose="020B0004020202020204" pitchFamily="34" charset="0"/>
            </a:endParaRPr>
          </a:p>
        </p:txBody>
      </p:sp>
      <p:sp>
        <p:nvSpPr>
          <p:cNvPr id="6" name="Rectangle 5">
            <a:extLst>
              <a:ext uri="{FF2B5EF4-FFF2-40B4-BE49-F238E27FC236}">
                <a16:creationId xmlns:a16="http://schemas.microsoft.com/office/drawing/2014/main" id="{6BEF9431-11B6-3A80-B1E1-FB318A9C3122}"/>
              </a:ext>
            </a:extLst>
          </p:cNvPr>
          <p:cNvSpPr/>
          <p:nvPr/>
        </p:nvSpPr>
        <p:spPr>
          <a:xfrm>
            <a:off x="1270000" y="2667000"/>
            <a:ext cx="4699000" cy="889000"/>
          </a:xfrm>
          <a:prstGeom prst="rect">
            <a:avLst/>
          </a:prstGeom>
          <a:solidFill>
            <a:srgbClr val="E6EEFC"/>
          </a:solidFill>
          <a:ln w="12700">
            <a:solidFill>
              <a:srgbClr val="2D5DA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3768FB2-4370-1209-D47D-2B6693EFCC02}"/>
              </a:ext>
            </a:extLst>
          </p:cNvPr>
          <p:cNvSpPr txBox="1"/>
          <p:nvPr/>
        </p:nvSpPr>
        <p:spPr>
          <a:xfrm>
            <a:off x="1574800" y="2832100"/>
            <a:ext cx="1905000" cy="307777"/>
          </a:xfrm>
          <a:prstGeom prst="rect">
            <a:avLst/>
          </a:prstGeom>
          <a:noFill/>
        </p:spPr>
        <p:txBody>
          <a:bodyPr vert="horz" wrap="square" lIns="0" tIns="0" rIns="0" bIns="0" rtlCol="0">
            <a:spAutoFit/>
          </a:bodyPr>
          <a:lstStyle/>
          <a:p>
            <a:r>
              <a:rPr lang="en-US" sz="2000" b="1">
                <a:solidFill>
                  <a:srgbClr val="2D5DAB"/>
                </a:solidFill>
                <a:latin typeface="Aptos" panose="020B0004020202020204" pitchFamily="34" charset="0"/>
              </a:rPr>
              <a:t>PoolHub.API</a:t>
            </a:r>
          </a:p>
        </p:txBody>
      </p:sp>
      <p:sp>
        <p:nvSpPr>
          <p:cNvPr id="8" name="TextBox 7">
            <a:extLst>
              <a:ext uri="{FF2B5EF4-FFF2-40B4-BE49-F238E27FC236}">
                <a16:creationId xmlns:a16="http://schemas.microsoft.com/office/drawing/2014/main" id="{484EE595-5FDF-FCDB-A7A3-A6D34AC68492}"/>
              </a:ext>
            </a:extLst>
          </p:cNvPr>
          <p:cNvSpPr txBox="1"/>
          <p:nvPr/>
        </p:nvSpPr>
        <p:spPr>
          <a:xfrm>
            <a:off x="3556000" y="2857500"/>
            <a:ext cx="4000500" cy="246221"/>
          </a:xfrm>
          <a:prstGeom prst="rect">
            <a:avLst/>
          </a:prstGeom>
          <a:noFill/>
        </p:spPr>
        <p:txBody>
          <a:bodyPr vert="horz" wrap="square" lIns="0" tIns="0" rIns="0" bIns="0" rtlCol="0">
            <a:spAutoFit/>
          </a:bodyPr>
          <a:lstStyle/>
          <a:p>
            <a:r>
              <a:rPr lang="en-US" sz="1600">
                <a:solidFill>
                  <a:srgbClr val="171F2A"/>
                </a:solidFill>
                <a:latin typeface="Aptos" panose="020B0004020202020204" pitchFamily="34" charset="0"/>
              </a:rPr>
              <a:t>Controllers, middleware, Swagger, JWT config</a:t>
            </a:r>
          </a:p>
        </p:txBody>
      </p:sp>
      <p:cxnSp>
        <p:nvCxnSpPr>
          <p:cNvPr id="9" name="Straight Connector 8">
            <a:extLst>
              <a:ext uri="{FF2B5EF4-FFF2-40B4-BE49-F238E27FC236}">
                <a16:creationId xmlns:a16="http://schemas.microsoft.com/office/drawing/2014/main" id="{01B23BBA-86C5-2831-AEDD-A9E6525212F8}"/>
              </a:ext>
            </a:extLst>
          </p:cNvPr>
          <p:cNvCxnSpPr/>
          <p:nvPr/>
        </p:nvCxnSpPr>
        <p:spPr>
          <a:xfrm>
            <a:off x="3632200" y="3581400"/>
            <a:ext cx="0" cy="381000"/>
          </a:xfrm>
          <a:prstGeom prst="line">
            <a:avLst/>
          </a:prstGeom>
          <a:ln w="25400">
            <a:solidFill>
              <a:srgbClr val="5B6574"/>
            </a:solidFill>
            <a:tailEnd type="arrow"/>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49816486-B840-0978-DECD-E70787F7A35A}"/>
              </a:ext>
            </a:extLst>
          </p:cNvPr>
          <p:cNvSpPr/>
          <p:nvPr/>
        </p:nvSpPr>
        <p:spPr>
          <a:xfrm>
            <a:off x="1270000" y="3784600"/>
            <a:ext cx="4699000" cy="889000"/>
          </a:xfrm>
          <a:prstGeom prst="rect">
            <a:avLst/>
          </a:prstGeom>
          <a:solidFill>
            <a:srgbClr val="FCEBDB"/>
          </a:solidFill>
          <a:ln w="12700">
            <a:solidFill>
              <a:srgbClr val="CD70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AA0AD9F-C6E7-ABD4-AAF1-7329C1842E99}"/>
              </a:ext>
            </a:extLst>
          </p:cNvPr>
          <p:cNvSpPr txBox="1"/>
          <p:nvPr/>
        </p:nvSpPr>
        <p:spPr>
          <a:xfrm>
            <a:off x="1574800" y="3949700"/>
            <a:ext cx="1905000" cy="307777"/>
          </a:xfrm>
          <a:prstGeom prst="rect">
            <a:avLst/>
          </a:prstGeom>
          <a:noFill/>
        </p:spPr>
        <p:txBody>
          <a:bodyPr vert="horz" wrap="square" lIns="0" tIns="0" rIns="0" bIns="0" rtlCol="0">
            <a:spAutoFit/>
          </a:bodyPr>
          <a:lstStyle/>
          <a:p>
            <a:r>
              <a:rPr lang="en-US" sz="2000" b="1">
                <a:solidFill>
                  <a:srgbClr val="CD7027"/>
                </a:solidFill>
                <a:latin typeface="Aptos" panose="020B0004020202020204" pitchFamily="34" charset="0"/>
              </a:rPr>
              <a:t>PoolHub.Core</a:t>
            </a:r>
          </a:p>
        </p:txBody>
      </p:sp>
      <p:sp>
        <p:nvSpPr>
          <p:cNvPr id="12" name="TextBox 11">
            <a:extLst>
              <a:ext uri="{FF2B5EF4-FFF2-40B4-BE49-F238E27FC236}">
                <a16:creationId xmlns:a16="http://schemas.microsoft.com/office/drawing/2014/main" id="{C1D8945C-D32B-EF50-F5E0-7EFFA256800F}"/>
              </a:ext>
            </a:extLst>
          </p:cNvPr>
          <p:cNvSpPr txBox="1"/>
          <p:nvPr/>
        </p:nvSpPr>
        <p:spPr>
          <a:xfrm>
            <a:off x="3556000" y="3975100"/>
            <a:ext cx="4000500" cy="246221"/>
          </a:xfrm>
          <a:prstGeom prst="rect">
            <a:avLst/>
          </a:prstGeom>
          <a:noFill/>
        </p:spPr>
        <p:txBody>
          <a:bodyPr vert="horz" wrap="square" lIns="0" tIns="0" rIns="0" bIns="0" rtlCol="0">
            <a:spAutoFit/>
          </a:bodyPr>
          <a:lstStyle/>
          <a:p>
            <a:r>
              <a:rPr lang="en-US" sz="1600">
                <a:solidFill>
                  <a:srgbClr val="171F2A"/>
                </a:solidFill>
                <a:latin typeface="Aptos" panose="020B0004020202020204" pitchFamily="34" charset="0"/>
              </a:rPr>
              <a:t>Entities, DTOs, interfaces, contracts</a:t>
            </a:r>
          </a:p>
        </p:txBody>
      </p:sp>
      <p:cxnSp>
        <p:nvCxnSpPr>
          <p:cNvPr id="13" name="Straight Connector 12">
            <a:extLst>
              <a:ext uri="{FF2B5EF4-FFF2-40B4-BE49-F238E27FC236}">
                <a16:creationId xmlns:a16="http://schemas.microsoft.com/office/drawing/2014/main" id="{EBB30F9F-5AA1-39BA-FFF5-55E7687B638E}"/>
              </a:ext>
            </a:extLst>
          </p:cNvPr>
          <p:cNvCxnSpPr/>
          <p:nvPr/>
        </p:nvCxnSpPr>
        <p:spPr>
          <a:xfrm>
            <a:off x="3632200" y="4699000"/>
            <a:ext cx="0" cy="381000"/>
          </a:xfrm>
          <a:prstGeom prst="line">
            <a:avLst/>
          </a:prstGeom>
          <a:ln w="25400">
            <a:solidFill>
              <a:srgbClr val="5B6574"/>
            </a:solidFill>
            <a:tailEnd type="arrow"/>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F34AC4AC-3FAA-5050-BC07-EFCF0CF4F10D}"/>
              </a:ext>
            </a:extLst>
          </p:cNvPr>
          <p:cNvSpPr/>
          <p:nvPr/>
        </p:nvSpPr>
        <p:spPr>
          <a:xfrm>
            <a:off x="1270000" y="4902200"/>
            <a:ext cx="4699000" cy="889000"/>
          </a:xfrm>
          <a:prstGeom prst="rect">
            <a:avLst/>
          </a:prstGeom>
          <a:solidFill>
            <a:srgbClr val="E2F3EB"/>
          </a:solidFill>
          <a:ln w="12700">
            <a:solidFill>
              <a:srgbClr val="1C80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2A84FB43-A620-7ECB-1CF0-69BC2DD41091}"/>
              </a:ext>
            </a:extLst>
          </p:cNvPr>
          <p:cNvSpPr txBox="1"/>
          <p:nvPr/>
        </p:nvSpPr>
        <p:spPr>
          <a:xfrm>
            <a:off x="1574800" y="5067300"/>
            <a:ext cx="1905000" cy="615553"/>
          </a:xfrm>
          <a:prstGeom prst="rect">
            <a:avLst/>
          </a:prstGeom>
          <a:noFill/>
        </p:spPr>
        <p:txBody>
          <a:bodyPr vert="horz" wrap="square" lIns="0" tIns="0" rIns="0" bIns="0" rtlCol="0">
            <a:spAutoFit/>
          </a:bodyPr>
          <a:lstStyle/>
          <a:p>
            <a:r>
              <a:rPr lang="en-US" sz="2000" b="1">
                <a:solidFill>
                  <a:srgbClr val="1C8056"/>
                </a:solidFill>
                <a:latin typeface="Aptos" panose="020B0004020202020204" pitchFamily="34" charset="0"/>
              </a:rPr>
              <a:t>PoolHub.Services</a:t>
            </a:r>
          </a:p>
        </p:txBody>
      </p:sp>
      <p:sp>
        <p:nvSpPr>
          <p:cNvPr id="16" name="TextBox 15">
            <a:extLst>
              <a:ext uri="{FF2B5EF4-FFF2-40B4-BE49-F238E27FC236}">
                <a16:creationId xmlns:a16="http://schemas.microsoft.com/office/drawing/2014/main" id="{9A23DF33-E291-8F9E-5889-BCA6BAD6E784}"/>
              </a:ext>
            </a:extLst>
          </p:cNvPr>
          <p:cNvSpPr txBox="1"/>
          <p:nvPr/>
        </p:nvSpPr>
        <p:spPr>
          <a:xfrm>
            <a:off x="3556000" y="5092700"/>
            <a:ext cx="4000500" cy="246221"/>
          </a:xfrm>
          <a:prstGeom prst="rect">
            <a:avLst/>
          </a:prstGeom>
          <a:noFill/>
        </p:spPr>
        <p:txBody>
          <a:bodyPr vert="horz" wrap="square" lIns="0" tIns="0" rIns="0" bIns="0" rtlCol="0">
            <a:spAutoFit/>
          </a:bodyPr>
          <a:lstStyle/>
          <a:p>
            <a:r>
              <a:rPr lang="en-US" sz="1600">
                <a:solidFill>
                  <a:srgbClr val="171F2A"/>
                </a:solidFill>
                <a:latin typeface="Aptos" panose="020B0004020202020204" pitchFamily="34" charset="0"/>
              </a:rPr>
              <a:t>AuthService, CrudService, domain services</a:t>
            </a:r>
          </a:p>
        </p:txBody>
      </p:sp>
      <p:cxnSp>
        <p:nvCxnSpPr>
          <p:cNvPr id="17" name="Straight Connector 16">
            <a:extLst>
              <a:ext uri="{FF2B5EF4-FFF2-40B4-BE49-F238E27FC236}">
                <a16:creationId xmlns:a16="http://schemas.microsoft.com/office/drawing/2014/main" id="{2E4EF810-DE9C-6DF3-4DAE-E68801156CDC}"/>
              </a:ext>
            </a:extLst>
          </p:cNvPr>
          <p:cNvCxnSpPr/>
          <p:nvPr/>
        </p:nvCxnSpPr>
        <p:spPr>
          <a:xfrm>
            <a:off x="3632200" y="5816600"/>
            <a:ext cx="0" cy="381000"/>
          </a:xfrm>
          <a:prstGeom prst="line">
            <a:avLst/>
          </a:prstGeom>
          <a:ln w="25400">
            <a:solidFill>
              <a:srgbClr val="5B6574"/>
            </a:solidFill>
            <a:tailEnd type="arrow"/>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BEA1CE06-4BA3-CB34-8B89-F792CC0CCC29}"/>
              </a:ext>
            </a:extLst>
          </p:cNvPr>
          <p:cNvSpPr/>
          <p:nvPr/>
        </p:nvSpPr>
        <p:spPr>
          <a:xfrm>
            <a:off x="1270000" y="6019800"/>
            <a:ext cx="4699000" cy="889000"/>
          </a:xfrm>
          <a:prstGeom prst="rect">
            <a:avLst/>
          </a:prstGeom>
          <a:solidFill>
            <a:srgbClr val="F8E2E2"/>
          </a:solidFill>
          <a:ln w="12700">
            <a:solidFill>
              <a:srgbClr val="B14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4C730AE0-8817-B9F9-C85F-613FB7FD7378}"/>
              </a:ext>
            </a:extLst>
          </p:cNvPr>
          <p:cNvSpPr txBox="1"/>
          <p:nvPr/>
        </p:nvSpPr>
        <p:spPr>
          <a:xfrm>
            <a:off x="1574800" y="6184900"/>
            <a:ext cx="1905000" cy="615553"/>
          </a:xfrm>
          <a:prstGeom prst="rect">
            <a:avLst/>
          </a:prstGeom>
          <a:noFill/>
        </p:spPr>
        <p:txBody>
          <a:bodyPr vert="horz" wrap="square" lIns="0" tIns="0" rIns="0" bIns="0" rtlCol="0">
            <a:spAutoFit/>
          </a:bodyPr>
          <a:lstStyle/>
          <a:p>
            <a:r>
              <a:rPr lang="en-US" sz="2000" b="1">
                <a:solidFill>
                  <a:srgbClr val="B14040"/>
                </a:solidFill>
                <a:latin typeface="Aptos" panose="020B0004020202020204" pitchFamily="34" charset="0"/>
              </a:rPr>
              <a:t>PoolHub.Infrastructure</a:t>
            </a:r>
          </a:p>
        </p:txBody>
      </p:sp>
      <p:sp>
        <p:nvSpPr>
          <p:cNvPr id="20" name="TextBox 19">
            <a:extLst>
              <a:ext uri="{FF2B5EF4-FFF2-40B4-BE49-F238E27FC236}">
                <a16:creationId xmlns:a16="http://schemas.microsoft.com/office/drawing/2014/main" id="{97C1C967-1C3A-B438-04D5-A6E7CCA16FB2}"/>
              </a:ext>
            </a:extLst>
          </p:cNvPr>
          <p:cNvSpPr txBox="1"/>
          <p:nvPr/>
        </p:nvSpPr>
        <p:spPr>
          <a:xfrm>
            <a:off x="3556000" y="6210300"/>
            <a:ext cx="4000500" cy="246221"/>
          </a:xfrm>
          <a:prstGeom prst="rect">
            <a:avLst/>
          </a:prstGeom>
          <a:noFill/>
        </p:spPr>
        <p:txBody>
          <a:bodyPr vert="horz" wrap="square" lIns="0" tIns="0" rIns="0" bIns="0" rtlCol="0">
            <a:spAutoFit/>
          </a:bodyPr>
          <a:lstStyle/>
          <a:p>
            <a:r>
              <a:rPr lang="en-US" sz="1600">
                <a:solidFill>
                  <a:srgbClr val="171F2A"/>
                </a:solidFill>
                <a:latin typeface="Aptos" panose="020B0004020202020204" pitchFamily="34" charset="0"/>
              </a:rPr>
              <a:t>DbContext, migrations, seed data</a:t>
            </a:r>
          </a:p>
        </p:txBody>
      </p:sp>
      <p:cxnSp>
        <p:nvCxnSpPr>
          <p:cNvPr id="21" name="Straight Connector 20">
            <a:extLst>
              <a:ext uri="{FF2B5EF4-FFF2-40B4-BE49-F238E27FC236}">
                <a16:creationId xmlns:a16="http://schemas.microsoft.com/office/drawing/2014/main" id="{B1C1742F-8139-BD04-1A72-B2EFFBB86039}"/>
              </a:ext>
            </a:extLst>
          </p:cNvPr>
          <p:cNvCxnSpPr/>
          <p:nvPr/>
        </p:nvCxnSpPr>
        <p:spPr>
          <a:xfrm>
            <a:off x="3632200" y="6934200"/>
            <a:ext cx="0" cy="381000"/>
          </a:xfrm>
          <a:prstGeom prst="line">
            <a:avLst/>
          </a:prstGeom>
          <a:ln w="25400">
            <a:solidFill>
              <a:srgbClr val="5B6574"/>
            </a:solidFill>
            <a:tailEnd type="arrow"/>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CEB07FA4-4CB4-FC73-B1EA-65F0B00AE24E}"/>
              </a:ext>
            </a:extLst>
          </p:cNvPr>
          <p:cNvSpPr/>
          <p:nvPr/>
        </p:nvSpPr>
        <p:spPr>
          <a:xfrm>
            <a:off x="1270000" y="7137400"/>
            <a:ext cx="4699000" cy="889000"/>
          </a:xfrm>
          <a:prstGeom prst="rect">
            <a:avLst/>
          </a:prstGeom>
          <a:solidFill>
            <a:srgbClr val="EBE8F5"/>
          </a:solidFill>
          <a:ln w="12700">
            <a:solidFill>
              <a:srgbClr val="6F57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DD2937F3-515C-D87A-6417-8A320CBA58A5}"/>
              </a:ext>
            </a:extLst>
          </p:cNvPr>
          <p:cNvSpPr txBox="1"/>
          <p:nvPr/>
        </p:nvSpPr>
        <p:spPr>
          <a:xfrm>
            <a:off x="1574800" y="7302500"/>
            <a:ext cx="1905000" cy="307777"/>
          </a:xfrm>
          <a:prstGeom prst="rect">
            <a:avLst/>
          </a:prstGeom>
          <a:noFill/>
        </p:spPr>
        <p:txBody>
          <a:bodyPr vert="horz" wrap="square" lIns="0" tIns="0" rIns="0" bIns="0" rtlCol="0">
            <a:spAutoFit/>
          </a:bodyPr>
          <a:lstStyle/>
          <a:p>
            <a:r>
              <a:rPr lang="en-US" sz="2000" b="1">
                <a:solidFill>
                  <a:srgbClr val="6F57A5"/>
                </a:solidFill>
                <a:latin typeface="Aptos" panose="020B0004020202020204" pitchFamily="34" charset="0"/>
              </a:rPr>
              <a:t>PoolHub.Shared</a:t>
            </a:r>
          </a:p>
        </p:txBody>
      </p:sp>
      <p:sp>
        <p:nvSpPr>
          <p:cNvPr id="24" name="TextBox 23">
            <a:extLst>
              <a:ext uri="{FF2B5EF4-FFF2-40B4-BE49-F238E27FC236}">
                <a16:creationId xmlns:a16="http://schemas.microsoft.com/office/drawing/2014/main" id="{23ED087A-A199-F609-C6CC-B809CD592D0B}"/>
              </a:ext>
            </a:extLst>
          </p:cNvPr>
          <p:cNvSpPr txBox="1"/>
          <p:nvPr/>
        </p:nvSpPr>
        <p:spPr>
          <a:xfrm>
            <a:off x="3556000" y="7327900"/>
            <a:ext cx="4000500" cy="246221"/>
          </a:xfrm>
          <a:prstGeom prst="rect">
            <a:avLst/>
          </a:prstGeom>
          <a:noFill/>
        </p:spPr>
        <p:txBody>
          <a:bodyPr vert="horz" wrap="square" lIns="0" tIns="0" rIns="0" bIns="0" rtlCol="0">
            <a:spAutoFit/>
          </a:bodyPr>
          <a:lstStyle/>
          <a:p>
            <a:r>
              <a:rPr lang="en-US" sz="1600">
                <a:solidFill>
                  <a:srgbClr val="171F2A"/>
                </a:solidFill>
                <a:latin typeface="Aptos" panose="020B0004020202020204" pitchFamily="34" charset="0"/>
              </a:rPr>
              <a:t>ApiResponse, exceptions, constants</a:t>
            </a:r>
          </a:p>
        </p:txBody>
      </p:sp>
      <p:sp>
        <p:nvSpPr>
          <p:cNvPr id="25" name="TextBox 24">
            <a:extLst>
              <a:ext uri="{FF2B5EF4-FFF2-40B4-BE49-F238E27FC236}">
                <a16:creationId xmlns:a16="http://schemas.microsoft.com/office/drawing/2014/main" id="{E87A6313-5570-3CD9-CD15-17F0F6E47172}"/>
              </a:ext>
            </a:extLst>
          </p:cNvPr>
          <p:cNvSpPr txBox="1"/>
          <p:nvPr/>
        </p:nvSpPr>
        <p:spPr>
          <a:xfrm>
            <a:off x="8382000" y="2921000"/>
            <a:ext cx="3556000" cy="353943"/>
          </a:xfrm>
          <a:prstGeom prst="rect">
            <a:avLst/>
          </a:prstGeom>
          <a:noFill/>
        </p:spPr>
        <p:txBody>
          <a:bodyPr vert="horz" wrap="square" lIns="0" tIns="0" rIns="0" bIns="0" rtlCol="0">
            <a:spAutoFit/>
          </a:bodyPr>
          <a:lstStyle/>
          <a:p>
            <a:r>
              <a:rPr lang="en-US" sz="2300" b="1">
                <a:solidFill>
                  <a:srgbClr val="171F2A"/>
                </a:solidFill>
                <a:latin typeface="Aptos" panose="020B0004020202020204" pitchFamily="34" charset="0"/>
              </a:rPr>
              <a:t>Điểm mạnh</a:t>
            </a:r>
          </a:p>
        </p:txBody>
      </p:sp>
      <p:sp>
        <p:nvSpPr>
          <p:cNvPr id="26" name="TextBox 25">
            <a:extLst>
              <a:ext uri="{FF2B5EF4-FFF2-40B4-BE49-F238E27FC236}">
                <a16:creationId xmlns:a16="http://schemas.microsoft.com/office/drawing/2014/main" id="{A7445F14-996A-E081-08C7-6E0B0460277A}"/>
              </a:ext>
            </a:extLst>
          </p:cNvPr>
          <p:cNvSpPr txBox="1"/>
          <p:nvPr/>
        </p:nvSpPr>
        <p:spPr>
          <a:xfrm>
            <a:off x="8382000" y="3429000"/>
            <a:ext cx="5334000" cy="2457083"/>
          </a:xfrm>
          <a:prstGeom prst="rect">
            <a:avLst/>
          </a:prstGeom>
          <a:noFill/>
        </p:spPr>
        <p:txBody>
          <a:bodyPr vert="horz" wrap="square" lIns="0" tIns="0" rIns="0" bIns="0" rtlCol="0">
            <a:spAutoFit/>
          </a:bodyPr>
          <a:lstStyle/>
          <a:p>
            <a:pPr marL="457200" indent="-457200">
              <a:spcAft>
                <a:spcPts val="800"/>
              </a:spcAft>
              <a:buFont typeface="+mj-lt"/>
              <a:buAutoNum type="arabicPeriod"/>
            </a:pPr>
            <a:r>
              <a:rPr lang="vi-VN" sz="1900">
                <a:solidFill>
                  <a:srgbClr val="171F2A"/>
                </a:solidFill>
                <a:latin typeface="Aptos" panose="020B0004020202020204" pitchFamily="34" charset="0"/>
              </a:rPr>
              <a:t>Controller mỏng, gọi service qua interface.</a:t>
            </a:r>
          </a:p>
          <a:p>
            <a:pPr marL="457200" indent="-457200">
              <a:spcAft>
                <a:spcPts val="800"/>
              </a:spcAft>
              <a:buFont typeface="+mj-lt"/>
              <a:buAutoNum type="arabicPeriod"/>
            </a:pPr>
            <a:r>
              <a:rPr lang="vi-VN" sz="1900">
                <a:solidFill>
                  <a:srgbClr val="171F2A"/>
                </a:solidFill>
                <a:latin typeface="Aptos" panose="020B0004020202020204" pitchFamily="34" charset="0"/>
              </a:rPr>
              <a:t>Dependency Injection tập trung trong Program.cs.</a:t>
            </a:r>
          </a:p>
          <a:p>
            <a:pPr marL="457200" indent="-457200">
              <a:spcAft>
                <a:spcPts val="800"/>
              </a:spcAft>
              <a:buFont typeface="+mj-lt"/>
              <a:buAutoNum type="arabicPeriod"/>
            </a:pPr>
            <a:r>
              <a:rPr lang="vi-VN" sz="1900">
                <a:solidFill>
                  <a:srgbClr val="171F2A"/>
                </a:solidFill>
                <a:latin typeface="Aptos" panose="020B0004020202020204" pitchFamily="34" charset="0"/>
              </a:rPr>
              <a:t>ExceptionMiddleware trả ApiResponse thống nhất.</a:t>
            </a:r>
          </a:p>
          <a:p>
            <a:pPr marL="457200" indent="-457200">
              <a:spcAft>
                <a:spcPts val="800"/>
              </a:spcAft>
              <a:buFont typeface="+mj-lt"/>
              <a:buAutoNum type="arabicPeriod"/>
            </a:pPr>
            <a:r>
              <a:rPr lang="vi-VN" sz="1900">
                <a:solidFill>
                  <a:srgbClr val="171F2A"/>
                </a:solidFill>
                <a:latin typeface="Aptos" panose="020B0004020202020204" pitchFamily="34" charset="0"/>
              </a:rPr>
              <a:t>Swagger có Bearer security definition.</a:t>
            </a:r>
          </a:p>
          <a:p>
            <a:pPr marL="457200" indent="-457200">
              <a:spcAft>
                <a:spcPts val="800"/>
              </a:spcAft>
              <a:buFont typeface="+mj-lt"/>
              <a:buAutoNum type="arabicPeriod"/>
            </a:pPr>
            <a:r>
              <a:rPr lang="vi-VN" sz="1900">
                <a:solidFill>
                  <a:srgbClr val="171F2A"/>
                </a:solidFill>
                <a:latin typeface="Aptos" panose="020B0004020202020204" pitchFamily="34" charset="0"/>
              </a:rPr>
              <a:t>Seed data và migrations giúp demo nhanh hơn.</a:t>
            </a:r>
            <a:endParaRPr lang="en-US" sz="1900">
              <a:solidFill>
                <a:srgbClr val="171F2A"/>
              </a:solidFill>
              <a:latin typeface="Aptos" panose="020B0004020202020204" pitchFamily="34" charset="0"/>
            </a:endParaRPr>
          </a:p>
        </p:txBody>
      </p:sp>
      <p:sp>
        <p:nvSpPr>
          <p:cNvPr id="27" name="TextBox 26">
            <a:extLst>
              <a:ext uri="{FF2B5EF4-FFF2-40B4-BE49-F238E27FC236}">
                <a16:creationId xmlns:a16="http://schemas.microsoft.com/office/drawing/2014/main" id="{44484B68-F58A-124C-FFD6-19C76A9E70ED}"/>
              </a:ext>
            </a:extLst>
          </p:cNvPr>
          <p:cNvSpPr txBox="1"/>
          <p:nvPr/>
        </p:nvSpPr>
        <p:spPr>
          <a:xfrm>
            <a:off x="8382000" y="6350000"/>
            <a:ext cx="4572000" cy="353943"/>
          </a:xfrm>
          <a:prstGeom prst="rect">
            <a:avLst/>
          </a:prstGeom>
          <a:noFill/>
        </p:spPr>
        <p:txBody>
          <a:bodyPr vert="horz" wrap="square" lIns="0" tIns="0" rIns="0" bIns="0" rtlCol="0">
            <a:spAutoFit/>
          </a:bodyPr>
          <a:lstStyle/>
          <a:p>
            <a:r>
              <a:rPr lang="en-US" sz="2300" b="1">
                <a:solidFill>
                  <a:srgbClr val="171F2A"/>
                </a:solidFill>
                <a:latin typeface="Aptos" panose="020B0004020202020204" pitchFamily="34" charset="0"/>
              </a:rPr>
              <a:t>Rủi ro kỹ thuật cần cải thiện</a:t>
            </a:r>
          </a:p>
        </p:txBody>
      </p:sp>
      <p:sp>
        <p:nvSpPr>
          <p:cNvPr id="28" name="TextBox 27">
            <a:extLst>
              <a:ext uri="{FF2B5EF4-FFF2-40B4-BE49-F238E27FC236}">
                <a16:creationId xmlns:a16="http://schemas.microsoft.com/office/drawing/2014/main" id="{F3C60F43-E7FC-0298-130B-37B0E77DE301}"/>
              </a:ext>
            </a:extLst>
          </p:cNvPr>
          <p:cNvSpPr txBox="1"/>
          <p:nvPr/>
        </p:nvSpPr>
        <p:spPr>
          <a:xfrm>
            <a:off x="8382000" y="6858000"/>
            <a:ext cx="5715000" cy="1867178"/>
          </a:xfrm>
          <a:prstGeom prst="rect">
            <a:avLst/>
          </a:prstGeom>
          <a:noFill/>
        </p:spPr>
        <p:txBody>
          <a:bodyPr vert="horz" wrap="square" lIns="0" tIns="0" rIns="0" bIns="0" rtlCol="0">
            <a:spAutoFit/>
          </a:bodyPr>
          <a:lstStyle/>
          <a:p>
            <a:pPr marL="342900" indent="-342900">
              <a:spcAft>
                <a:spcPts val="800"/>
              </a:spcAft>
              <a:buFont typeface="+mj-lt"/>
              <a:buAutoNum type="arabicPeriod"/>
            </a:pPr>
            <a:r>
              <a:rPr lang="vi-VN">
                <a:solidFill>
                  <a:srgbClr val="171F2A"/>
                </a:solidFill>
                <a:latin typeface="Aptos" panose="020B0004020202020204" pitchFamily="34" charset="0"/>
              </a:rPr>
              <a:t>CrudService đang chứa nhiều module, cần tách nhỏ khi nghiệp vụ tăng.</a:t>
            </a:r>
          </a:p>
          <a:p>
            <a:pPr marL="342900" indent="-342900">
              <a:spcAft>
                <a:spcPts val="800"/>
              </a:spcAft>
              <a:buFont typeface="+mj-lt"/>
              <a:buAutoNum type="arabicPeriod"/>
            </a:pPr>
            <a:r>
              <a:rPr lang="vi-VN">
                <a:solidFill>
                  <a:srgbClr val="171F2A"/>
                </a:solidFill>
                <a:latin typeface="Aptos" panose="020B0004020202020204" pitchFamily="34" charset="0"/>
              </a:rPr>
              <a:t>Repository.cs tồn tại nhưng pattern chưa được dùng nhất quán.</a:t>
            </a:r>
          </a:p>
          <a:p>
            <a:pPr marL="342900" indent="-342900">
              <a:spcAft>
                <a:spcPts val="800"/>
              </a:spcAft>
              <a:buFont typeface="+mj-lt"/>
              <a:buAutoNum type="arabicPeriod"/>
            </a:pPr>
            <a:r>
              <a:rPr lang="vi-VN">
                <a:solidFill>
                  <a:srgbClr val="171F2A"/>
                </a:solidFill>
                <a:latin typeface="Aptos" panose="020B0004020202020204" pitchFamily="34" charset="0"/>
              </a:rPr>
              <a:t>Validation còn lệch giữa các DTO; nên chuẩn hóa toàn bộ request.</a:t>
            </a:r>
            <a:endParaRPr lang="en-US">
              <a:solidFill>
                <a:srgbClr val="171F2A"/>
              </a:solidFill>
              <a:latin typeface="Aptos" panose="020B0004020202020204" pitchFamily="34" charset="0"/>
            </a:endParaRPr>
          </a:p>
        </p:txBody>
      </p:sp>
      <p:cxnSp>
        <p:nvCxnSpPr>
          <p:cNvPr id="29" name="Straight Connector 28">
            <a:extLst>
              <a:ext uri="{FF2B5EF4-FFF2-40B4-BE49-F238E27FC236}">
                <a16:creationId xmlns:a16="http://schemas.microsoft.com/office/drawing/2014/main" id="{49BB2BA2-3241-86A3-4165-93082E16E4BF}"/>
              </a:ext>
            </a:extLst>
          </p:cNvPr>
          <p:cNvCxnSpPr/>
          <p:nvPr/>
        </p:nvCxnSpPr>
        <p:spPr>
          <a:xfrm>
            <a:off x="914400" y="8509000"/>
            <a:ext cx="14452600" cy="0"/>
          </a:xfrm>
          <a:prstGeom prst="line">
            <a:avLst/>
          </a:prstGeom>
          <a:ln w="12700">
            <a:solidFill>
              <a:srgbClr val="D6DBE1"/>
            </a:solidFill>
          </a:ln>
        </p:spPr>
        <p:style>
          <a:lnRef idx="1">
            <a:schemeClr val="accent1"/>
          </a:lnRef>
          <a:fillRef idx="0">
            <a:schemeClr val="accent1"/>
          </a:fillRef>
          <a:effectRef idx="0">
            <a:schemeClr val="accent1"/>
          </a:effectRef>
          <a:fontRef idx="minor">
            <a:schemeClr val="tx1"/>
          </a:fontRef>
        </p:style>
      </p:cxnSp>
      <p:sp>
        <p:nvSpPr>
          <p:cNvPr id="30" name="footer-source">
            <a:extLst>
              <a:ext uri="{FF2B5EF4-FFF2-40B4-BE49-F238E27FC236}">
                <a16:creationId xmlns:a16="http://schemas.microsoft.com/office/drawing/2014/main" id="{EB2AB524-0B2A-8D30-256D-468D97160DC6}"/>
              </a:ext>
            </a:extLst>
          </p:cNvPr>
          <p:cNvSpPr txBox="1"/>
          <p:nvPr/>
        </p:nvSpPr>
        <p:spPr>
          <a:xfrm>
            <a:off x="914400" y="8661400"/>
            <a:ext cx="7112000" cy="169277"/>
          </a:xfrm>
          <a:prstGeom prst="rect">
            <a:avLst/>
          </a:prstGeom>
          <a:noFill/>
        </p:spPr>
        <p:txBody>
          <a:bodyPr vert="horz" wrap="square" lIns="0" tIns="0" rIns="0" bIns="0" rtlCol="0">
            <a:spAutoFit/>
          </a:bodyPr>
          <a:lstStyle/>
          <a:p>
            <a:r>
              <a:rPr lang="en-US" sz="1100">
                <a:solidFill>
                  <a:srgbClr val="5B6574"/>
                </a:solidFill>
                <a:latin typeface="Aptos" panose="020B0004020202020204" pitchFamily="34" charset="0"/>
              </a:rPr>
              <a:t>PoolHub | Tuần 3-4 backend checkpoint</a:t>
            </a:r>
          </a:p>
        </p:txBody>
      </p:sp>
      <p:sp>
        <p:nvSpPr>
          <p:cNvPr id="31" name="footer-page">
            <a:extLst>
              <a:ext uri="{FF2B5EF4-FFF2-40B4-BE49-F238E27FC236}">
                <a16:creationId xmlns:a16="http://schemas.microsoft.com/office/drawing/2014/main" id="{32C673FA-2146-15C6-6F54-35BCC3FD832D}"/>
              </a:ext>
            </a:extLst>
          </p:cNvPr>
          <p:cNvSpPr txBox="1"/>
          <p:nvPr/>
        </p:nvSpPr>
        <p:spPr>
          <a:xfrm>
            <a:off x="14884400" y="8661400"/>
            <a:ext cx="482600" cy="169277"/>
          </a:xfrm>
          <a:prstGeom prst="rect">
            <a:avLst/>
          </a:prstGeom>
          <a:noFill/>
        </p:spPr>
        <p:txBody>
          <a:bodyPr vert="horz" wrap="square" lIns="0" tIns="0" rIns="0" bIns="0" rtlCol="0">
            <a:spAutoFit/>
          </a:bodyPr>
          <a:lstStyle/>
          <a:p>
            <a:r>
              <a:rPr lang="en-US" sz="1100">
                <a:solidFill>
                  <a:srgbClr val="5B6574"/>
                </a:solidFill>
                <a:latin typeface="Aptos" panose="020B0004020202020204" pitchFamily="34" charset="0"/>
              </a:rPr>
              <a:t>04</a:t>
            </a:r>
          </a:p>
        </p:txBody>
      </p:sp>
    </p:spTree>
    <p:extLst>
      <p:ext uri="{BB962C8B-B14F-4D97-AF65-F5344CB8AC3E}">
        <p14:creationId xmlns:p14="http://schemas.microsoft.com/office/powerpoint/2010/main" val="35139922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5-marker">
            <a:extLst>
              <a:ext uri="{FF2B5EF4-FFF2-40B4-BE49-F238E27FC236}">
                <a16:creationId xmlns:a16="http://schemas.microsoft.com/office/drawing/2014/main" id="{2E74FBF3-1765-33BF-07A0-E21354C36A42}"/>
              </a:ext>
            </a:extLst>
          </p:cNvPr>
          <p:cNvSpPr/>
          <p:nvPr/>
        </p:nvSpPr>
        <p:spPr>
          <a:xfrm>
            <a:off x="914400" y="685800"/>
            <a:ext cx="127000" cy="127000"/>
          </a:xfrm>
          <a:prstGeom prst="rect">
            <a:avLst/>
          </a:prstGeom>
          <a:solidFill>
            <a:srgbClr val="CD702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kicker-5-label">
            <a:extLst>
              <a:ext uri="{FF2B5EF4-FFF2-40B4-BE49-F238E27FC236}">
                <a16:creationId xmlns:a16="http://schemas.microsoft.com/office/drawing/2014/main" id="{9D26E54C-A19C-DB92-5082-87DC1BAABE28}"/>
              </a:ext>
            </a:extLst>
          </p:cNvPr>
          <p:cNvSpPr txBox="1"/>
          <p:nvPr/>
        </p:nvSpPr>
        <p:spPr>
          <a:xfrm>
            <a:off x="1193800" y="596900"/>
            <a:ext cx="6604000" cy="230832"/>
          </a:xfrm>
          <a:prstGeom prst="rect">
            <a:avLst/>
          </a:prstGeom>
          <a:noFill/>
        </p:spPr>
        <p:txBody>
          <a:bodyPr vert="horz" wrap="square" lIns="0" tIns="0" rIns="0" bIns="0" rtlCol="0">
            <a:spAutoFit/>
          </a:bodyPr>
          <a:lstStyle/>
          <a:p>
            <a:r>
              <a:rPr lang="en-US" sz="1500" b="1" cap="all">
                <a:solidFill>
                  <a:srgbClr val="CD7027"/>
                </a:solidFill>
                <a:latin typeface="Aptos" panose="020B0004020202020204" pitchFamily="34" charset="0"/>
              </a:rPr>
              <a:t>CORE APIS</a:t>
            </a:r>
          </a:p>
        </p:txBody>
      </p:sp>
      <p:sp>
        <p:nvSpPr>
          <p:cNvPr id="4" name="slide-title">
            <a:extLst>
              <a:ext uri="{FF2B5EF4-FFF2-40B4-BE49-F238E27FC236}">
                <a16:creationId xmlns:a16="http://schemas.microsoft.com/office/drawing/2014/main" id="{20C38853-EB79-6BBD-4732-92641E2A3B99}"/>
              </a:ext>
            </a:extLst>
          </p:cNvPr>
          <p:cNvSpPr txBox="1"/>
          <p:nvPr/>
        </p:nvSpPr>
        <p:spPr>
          <a:xfrm>
            <a:off x="914400" y="1041400"/>
            <a:ext cx="13208000" cy="1169551"/>
          </a:xfrm>
          <a:prstGeom prst="rect">
            <a:avLst/>
          </a:prstGeom>
          <a:noFill/>
        </p:spPr>
        <p:txBody>
          <a:bodyPr vert="horz" wrap="square" lIns="0" tIns="0" rIns="0" bIns="0" rtlCol="0">
            <a:spAutoFit/>
          </a:bodyPr>
          <a:lstStyle/>
          <a:p>
            <a:r>
              <a:rPr lang="en-US" sz="3800" b="1">
                <a:solidFill>
                  <a:srgbClr val="171F2A"/>
                </a:solidFill>
                <a:latin typeface="Aptos" panose="020B0004020202020204" pitchFamily="34" charset="0"/>
              </a:rPr>
              <a:t>Các API tuần 3 đã bao phủ dữ liệu vận hành chính của PoolHub.</a:t>
            </a:r>
          </a:p>
        </p:txBody>
      </p:sp>
      <p:sp>
        <p:nvSpPr>
          <p:cNvPr id="5" name="slide-subtitle">
            <a:extLst>
              <a:ext uri="{FF2B5EF4-FFF2-40B4-BE49-F238E27FC236}">
                <a16:creationId xmlns:a16="http://schemas.microsoft.com/office/drawing/2014/main" id="{0E899CD4-3ECB-4B64-1C13-743604C9855C}"/>
              </a:ext>
            </a:extLst>
          </p:cNvPr>
          <p:cNvSpPr txBox="1"/>
          <p:nvPr/>
        </p:nvSpPr>
        <p:spPr>
          <a:xfrm>
            <a:off x="914400" y="2286000"/>
            <a:ext cx="12446000" cy="307777"/>
          </a:xfrm>
          <a:prstGeom prst="rect">
            <a:avLst/>
          </a:prstGeom>
          <a:noFill/>
        </p:spPr>
        <p:txBody>
          <a:bodyPr vert="horz" wrap="square" lIns="0" tIns="0" rIns="0" bIns="0" rtlCol="0">
            <a:spAutoFit/>
          </a:bodyPr>
          <a:lstStyle/>
          <a:p>
            <a:r>
              <a:rPr lang="en-US" sz="2000">
                <a:solidFill>
                  <a:srgbClr val="5B6574"/>
                </a:solidFill>
                <a:latin typeface="Aptos" panose="020B0004020202020204" pitchFamily="34" charset="0"/>
              </a:rPr>
              <a:t>Dự án không chỉ có CRUD mẫu; đã có các module gắn với nghiệp vụ bida/entertainment center.</a:t>
            </a:r>
          </a:p>
        </p:txBody>
      </p:sp>
      <p:sp>
        <p:nvSpPr>
          <p:cNvPr id="6" name="Rectangle 5">
            <a:extLst>
              <a:ext uri="{FF2B5EF4-FFF2-40B4-BE49-F238E27FC236}">
                <a16:creationId xmlns:a16="http://schemas.microsoft.com/office/drawing/2014/main" id="{044D3CB7-4D3C-C41D-F64F-57D6592A4862}"/>
              </a:ext>
            </a:extLst>
          </p:cNvPr>
          <p:cNvSpPr/>
          <p:nvPr/>
        </p:nvSpPr>
        <p:spPr>
          <a:xfrm>
            <a:off x="1041400" y="2921000"/>
            <a:ext cx="4445000" cy="1320800"/>
          </a:xfrm>
          <a:prstGeom prst="rect">
            <a:avLst/>
          </a:prstGeom>
          <a:solidFill>
            <a:srgbClr val="FFFFFF"/>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F8441C1-F64E-2D91-FF44-4607CC6F6C1A}"/>
              </a:ext>
            </a:extLst>
          </p:cNvPr>
          <p:cNvSpPr/>
          <p:nvPr/>
        </p:nvSpPr>
        <p:spPr>
          <a:xfrm>
            <a:off x="1295400" y="3200400"/>
            <a:ext cx="152400" cy="152400"/>
          </a:xfrm>
          <a:prstGeom prst="rect">
            <a:avLst/>
          </a:prstGeom>
          <a:solidFill>
            <a:srgbClr val="2D5DA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70680FB-56DD-A709-8DA9-992E7700C165}"/>
              </a:ext>
            </a:extLst>
          </p:cNvPr>
          <p:cNvSpPr txBox="1"/>
          <p:nvPr/>
        </p:nvSpPr>
        <p:spPr>
          <a:xfrm>
            <a:off x="1600200" y="3098800"/>
            <a:ext cx="2286000" cy="338554"/>
          </a:xfrm>
          <a:prstGeom prst="rect">
            <a:avLst/>
          </a:prstGeom>
          <a:noFill/>
        </p:spPr>
        <p:txBody>
          <a:bodyPr vert="horz" wrap="square" lIns="0" tIns="0" rIns="0" bIns="0" rtlCol="0">
            <a:spAutoFit/>
          </a:bodyPr>
          <a:lstStyle/>
          <a:p>
            <a:r>
              <a:rPr lang="en-US" sz="2200" b="1">
                <a:solidFill>
                  <a:srgbClr val="171F2A"/>
                </a:solidFill>
                <a:latin typeface="Aptos" panose="020B0004020202020204" pitchFamily="34" charset="0"/>
              </a:rPr>
              <a:t>Venue</a:t>
            </a:r>
          </a:p>
        </p:txBody>
      </p:sp>
      <p:sp>
        <p:nvSpPr>
          <p:cNvPr id="9" name="TextBox 8">
            <a:extLst>
              <a:ext uri="{FF2B5EF4-FFF2-40B4-BE49-F238E27FC236}">
                <a16:creationId xmlns:a16="http://schemas.microsoft.com/office/drawing/2014/main" id="{C418588D-AC00-DE63-C96E-99887E6AFD6B}"/>
              </a:ext>
            </a:extLst>
          </p:cNvPr>
          <p:cNvSpPr txBox="1"/>
          <p:nvPr/>
        </p:nvSpPr>
        <p:spPr>
          <a:xfrm>
            <a:off x="1600200" y="3581400"/>
            <a:ext cx="3530600" cy="492443"/>
          </a:xfrm>
          <a:prstGeom prst="rect">
            <a:avLst/>
          </a:prstGeom>
          <a:noFill/>
        </p:spPr>
        <p:txBody>
          <a:bodyPr vert="horz" wrap="square" lIns="0" tIns="0" rIns="0" bIns="0" rtlCol="0">
            <a:spAutoFit/>
          </a:bodyPr>
          <a:lstStyle/>
          <a:p>
            <a:r>
              <a:rPr lang="en-US" sz="1600">
                <a:solidFill>
                  <a:srgbClr val="5B6574"/>
                </a:solidFill>
                <a:latin typeface="Aptos" panose="020B0004020202020204" pitchFamily="34" charset="0"/>
              </a:rPr>
              <a:t>floors, zones, table-types, venue-tables, pricing-plans</a:t>
            </a:r>
          </a:p>
        </p:txBody>
      </p:sp>
      <p:sp>
        <p:nvSpPr>
          <p:cNvPr id="10" name="Rectangle 9">
            <a:extLst>
              <a:ext uri="{FF2B5EF4-FFF2-40B4-BE49-F238E27FC236}">
                <a16:creationId xmlns:a16="http://schemas.microsoft.com/office/drawing/2014/main" id="{86042C64-98B2-2C31-3282-904185C4FDE8}"/>
              </a:ext>
            </a:extLst>
          </p:cNvPr>
          <p:cNvSpPr/>
          <p:nvPr/>
        </p:nvSpPr>
        <p:spPr>
          <a:xfrm>
            <a:off x="5943600" y="2921000"/>
            <a:ext cx="4445000" cy="1320800"/>
          </a:xfrm>
          <a:prstGeom prst="rect">
            <a:avLst/>
          </a:prstGeom>
          <a:solidFill>
            <a:srgbClr val="FFFFFF"/>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74713D2-1769-D0CB-5917-9C8185C1C3E7}"/>
              </a:ext>
            </a:extLst>
          </p:cNvPr>
          <p:cNvSpPr/>
          <p:nvPr/>
        </p:nvSpPr>
        <p:spPr>
          <a:xfrm>
            <a:off x="6197600" y="3200400"/>
            <a:ext cx="152400" cy="152400"/>
          </a:xfrm>
          <a:prstGeom prst="rect">
            <a:avLst/>
          </a:prstGeom>
          <a:solidFill>
            <a:srgbClr val="CD702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5560813-E529-EB0B-F720-8FC713E89D74}"/>
              </a:ext>
            </a:extLst>
          </p:cNvPr>
          <p:cNvSpPr txBox="1"/>
          <p:nvPr/>
        </p:nvSpPr>
        <p:spPr>
          <a:xfrm>
            <a:off x="6502400" y="3098800"/>
            <a:ext cx="2286000" cy="338554"/>
          </a:xfrm>
          <a:prstGeom prst="rect">
            <a:avLst/>
          </a:prstGeom>
          <a:noFill/>
        </p:spPr>
        <p:txBody>
          <a:bodyPr vert="horz" wrap="square" lIns="0" tIns="0" rIns="0" bIns="0" rtlCol="0">
            <a:spAutoFit/>
          </a:bodyPr>
          <a:lstStyle/>
          <a:p>
            <a:r>
              <a:rPr lang="en-US" sz="2200" b="1">
                <a:solidFill>
                  <a:srgbClr val="171F2A"/>
                </a:solidFill>
                <a:latin typeface="Aptos" panose="020B0004020202020204" pitchFamily="34" charset="0"/>
              </a:rPr>
              <a:t>Booking</a:t>
            </a:r>
          </a:p>
        </p:txBody>
      </p:sp>
      <p:sp>
        <p:nvSpPr>
          <p:cNvPr id="13" name="TextBox 12">
            <a:extLst>
              <a:ext uri="{FF2B5EF4-FFF2-40B4-BE49-F238E27FC236}">
                <a16:creationId xmlns:a16="http://schemas.microsoft.com/office/drawing/2014/main" id="{F7142F99-89EF-6E3A-8A58-91F9A6DE2641}"/>
              </a:ext>
            </a:extLst>
          </p:cNvPr>
          <p:cNvSpPr txBox="1"/>
          <p:nvPr/>
        </p:nvSpPr>
        <p:spPr>
          <a:xfrm>
            <a:off x="6502400" y="3581400"/>
            <a:ext cx="3530600" cy="246221"/>
          </a:xfrm>
          <a:prstGeom prst="rect">
            <a:avLst/>
          </a:prstGeom>
          <a:noFill/>
        </p:spPr>
        <p:txBody>
          <a:bodyPr vert="horz" wrap="square" lIns="0" tIns="0" rIns="0" bIns="0" rtlCol="0">
            <a:spAutoFit/>
          </a:bodyPr>
          <a:lstStyle/>
          <a:p>
            <a:r>
              <a:rPr lang="en-US" sz="1600">
                <a:solidFill>
                  <a:srgbClr val="5B6574"/>
                </a:solidFill>
                <a:latin typeface="Aptos" panose="020B0004020202020204" pitchFamily="34" charset="0"/>
              </a:rPr>
              <a:t>create booking, list/get/delete booking</a:t>
            </a:r>
          </a:p>
        </p:txBody>
      </p:sp>
      <p:sp>
        <p:nvSpPr>
          <p:cNvPr id="14" name="Rectangle 13">
            <a:extLst>
              <a:ext uri="{FF2B5EF4-FFF2-40B4-BE49-F238E27FC236}">
                <a16:creationId xmlns:a16="http://schemas.microsoft.com/office/drawing/2014/main" id="{CB639597-BC39-A98A-CA83-81FB3AFC4546}"/>
              </a:ext>
            </a:extLst>
          </p:cNvPr>
          <p:cNvSpPr/>
          <p:nvPr/>
        </p:nvSpPr>
        <p:spPr>
          <a:xfrm>
            <a:off x="1041400" y="4635500"/>
            <a:ext cx="4445000" cy="1320800"/>
          </a:xfrm>
          <a:prstGeom prst="rect">
            <a:avLst/>
          </a:prstGeom>
          <a:solidFill>
            <a:srgbClr val="FFFFFF"/>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DB2665F-87E5-FC43-3A0C-C9A4EC4939A9}"/>
              </a:ext>
            </a:extLst>
          </p:cNvPr>
          <p:cNvSpPr/>
          <p:nvPr/>
        </p:nvSpPr>
        <p:spPr>
          <a:xfrm>
            <a:off x="1295400" y="4914900"/>
            <a:ext cx="152400" cy="152400"/>
          </a:xfrm>
          <a:prstGeom prst="rect">
            <a:avLst/>
          </a:prstGeom>
          <a:solidFill>
            <a:srgbClr val="1C805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6165CAFA-26E6-BB5E-56A4-CBE6CB2477FD}"/>
              </a:ext>
            </a:extLst>
          </p:cNvPr>
          <p:cNvSpPr txBox="1"/>
          <p:nvPr/>
        </p:nvSpPr>
        <p:spPr>
          <a:xfrm>
            <a:off x="1600200" y="4813300"/>
            <a:ext cx="2286000" cy="338554"/>
          </a:xfrm>
          <a:prstGeom prst="rect">
            <a:avLst/>
          </a:prstGeom>
          <a:noFill/>
        </p:spPr>
        <p:txBody>
          <a:bodyPr vert="horz" wrap="square" lIns="0" tIns="0" rIns="0" bIns="0" rtlCol="0">
            <a:spAutoFit/>
          </a:bodyPr>
          <a:lstStyle/>
          <a:p>
            <a:r>
              <a:rPr lang="en-US" sz="2200" b="1">
                <a:solidFill>
                  <a:srgbClr val="171F2A"/>
                </a:solidFill>
                <a:latin typeface="Aptos" panose="020B0004020202020204" pitchFamily="34" charset="0"/>
              </a:rPr>
              <a:t>Product</a:t>
            </a:r>
          </a:p>
        </p:txBody>
      </p:sp>
      <p:sp>
        <p:nvSpPr>
          <p:cNvPr id="17" name="TextBox 16">
            <a:extLst>
              <a:ext uri="{FF2B5EF4-FFF2-40B4-BE49-F238E27FC236}">
                <a16:creationId xmlns:a16="http://schemas.microsoft.com/office/drawing/2014/main" id="{5071C577-C611-E7FC-855D-A31E1B1EAC39}"/>
              </a:ext>
            </a:extLst>
          </p:cNvPr>
          <p:cNvSpPr txBox="1"/>
          <p:nvPr/>
        </p:nvSpPr>
        <p:spPr>
          <a:xfrm>
            <a:off x="1600200" y="5295900"/>
            <a:ext cx="3530600" cy="246221"/>
          </a:xfrm>
          <a:prstGeom prst="rect">
            <a:avLst/>
          </a:prstGeom>
          <a:noFill/>
        </p:spPr>
        <p:txBody>
          <a:bodyPr vert="horz" wrap="square" lIns="0" tIns="0" rIns="0" bIns="0" rtlCol="0">
            <a:spAutoFit/>
          </a:bodyPr>
          <a:lstStyle/>
          <a:p>
            <a:r>
              <a:rPr lang="en-US" sz="1600">
                <a:solidFill>
                  <a:srgbClr val="5B6574"/>
                </a:solidFill>
                <a:latin typeface="Aptos" panose="020B0004020202020204" pitchFamily="34" charset="0"/>
              </a:rPr>
              <a:t>categories, products, search, pagination</a:t>
            </a:r>
          </a:p>
        </p:txBody>
      </p:sp>
      <p:sp>
        <p:nvSpPr>
          <p:cNvPr id="18" name="Rectangle 17">
            <a:extLst>
              <a:ext uri="{FF2B5EF4-FFF2-40B4-BE49-F238E27FC236}">
                <a16:creationId xmlns:a16="http://schemas.microsoft.com/office/drawing/2014/main" id="{09FA1EA4-036F-93D6-400D-8A82F482F9C2}"/>
              </a:ext>
            </a:extLst>
          </p:cNvPr>
          <p:cNvSpPr/>
          <p:nvPr/>
        </p:nvSpPr>
        <p:spPr>
          <a:xfrm>
            <a:off x="5943600" y="4635500"/>
            <a:ext cx="4445000" cy="1320800"/>
          </a:xfrm>
          <a:prstGeom prst="rect">
            <a:avLst/>
          </a:prstGeom>
          <a:solidFill>
            <a:srgbClr val="FFFFFF"/>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F712ADD-BBB7-FA1D-0E8F-A1FEF107E464}"/>
              </a:ext>
            </a:extLst>
          </p:cNvPr>
          <p:cNvSpPr/>
          <p:nvPr/>
        </p:nvSpPr>
        <p:spPr>
          <a:xfrm>
            <a:off x="6197600" y="4914900"/>
            <a:ext cx="152400" cy="152400"/>
          </a:xfrm>
          <a:prstGeom prst="rect">
            <a:avLst/>
          </a:prstGeom>
          <a:solidFill>
            <a:srgbClr val="B1404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D9F6FE00-1106-C59E-AC1E-64A8F48D2C9A}"/>
              </a:ext>
            </a:extLst>
          </p:cNvPr>
          <p:cNvSpPr txBox="1"/>
          <p:nvPr/>
        </p:nvSpPr>
        <p:spPr>
          <a:xfrm>
            <a:off x="6502400" y="4813300"/>
            <a:ext cx="2286000" cy="338554"/>
          </a:xfrm>
          <a:prstGeom prst="rect">
            <a:avLst/>
          </a:prstGeom>
          <a:noFill/>
        </p:spPr>
        <p:txBody>
          <a:bodyPr vert="horz" wrap="square" lIns="0" tIns="0" rIns="0" bIns="0" rtlCol="0">
            <a:spAutoFit/>
          </a:bodyPr>
          <a:lstStyle/>
          <a:p>
            <a:r>
              <a:rPr lang="en-US" sz="2200" b="1">
                <a:solidFill>
                  <a:srgbClr val="171F2A"/>
                </a:solidFill>
                <a:latin typeface="Aptos" panose="020B0004020202020204" pitchFamily="34" charset="0"/>
              </a:rPr>
              <a:t>Session</a:t>
            </a:r>
          </a:p>
        </p:txBody>
      </p:sp>
      <p:sp>
        <p:nvSpPr>
          <p:cNvPr id="21" name="TextBox 20">
            <a:extLst>
              <a:ext uri="{FF2B5EF4-FFF2-40B4-BE49-F238E27FC236}">
                <a16:creationId xmlns:a16="http://schemas.microsoft.com/office/drawing/2014/main" id="{5600FA21-F87D-C91E-5FFB-6CC5A5F06675}"/>
              </a:ext>
            </a:extLst>
          </p:cNvPr>
          <p:cNvSpPr txBox="1"/>
          <p:nvPr/>
        </p:nvSpPr>
        <p:spPr>
          <a:xfrm>
            <a:off x="6502400" y="5295900"/>
            <a:ext cx="3530600" cy="246221"/>
          </a:xfrm>
          <a:prstGeom prst="rect">
            <a:avLst/>
          </a:prstGeom>
          <a:noFill/>
        </p:spPr>
        <p:txBody>
          <a:bodyPr vert="horz" wrap="square" lIns="0" tIns="0" rIns="0" bIns="0" rtlCol="0">
            <a:spAutoFit/>
          </a:bodyPr>
          <a:lstStyle/>
          <a:p>
            <a:r>
              <a:rPr lang="en-US" sz="1600">
                <a:solidFill>
                  <a:srgbClr val="5B6574"/>
                </a:solidFill>
                <a:latin typeface="Aptos" panose="020B0004020202020204" pitchFamily="34" charset="0"/>
              </a:rPr>
              <a:t>start/end/switch table</a:t>
            </a:r>
          </a:p>
        </p:txBody>
      </p:sp>
      <p:sp>
        <p:nvSpPr>
          <p:cNvPr id="22" name="Rectangle 21">
            <a:extLst>
              <a:ext uri="{FF2B5EF4-FFF2-40B4-BE49-F238E27FC236}">
                <a16:creationId xmlns:a16="http://schemas.microsoft.com/office/drawing/2014/main" id="{FE634DBF-DACA-9738-11AE-A32F2FED6C2D}"/>
              </a:ext>
            </a:extLst>
          </p:cNvPr>
          <p:cNvSpPr/>
          <p:nvPr/>
        </p:nvSpPr>
        <p:spPr>
          <a:xfrm>
            <a:off x="1041400" y="6350000"/>
            <a:ext cx="4445000" cy="1320800"/>
          </a:xfrm>
          <a:prstGeom prst="rect">
            <a:avLst/>
          </a:prstGeom>
          <a:solidFill>
            <a:srgbClr val="FFFFFF"/>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E6B4C64D-4CC2-3300-1ED4-7F428A4660AF}"/>
              </a:ext>
            </a:extLst>
          </p:cNvPr>
          <p:cNvSpPr/>
          <p:nvPr/>
        </p:nvSpPr>
        <p:spPr>
          <a:xfrm>
            <a:off x="1295400" y="6629400"/>
            <a:ext cx="152400" cy="152400"/>
          </a:xfrm>
          <a:prstGeom prst="rect">
            <a:avLst/>
          </a:prstGeom>
          <a:solidFill>
            <a:srgbClr val="6F57A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15BA4731-3E08-164C-03F6-78F0080E28BC}"/>
              </a:ext>
            </a:extLst>
          </p:cNvPr>
          <p:cNvSpPr txBox="1"/>
          <p:nvPr/>
        </p:nvSpPr>
        <p:spPr>
          <a:xfrm>
            <a:off x="1600200" y="6527800"/>
            <a:ext cx="2286000" cy="338554"/>
          </a:xfrm>
          <a:prstGeom prst="rect">
            <a:avLst/>
          </a:prstGeom>
          <a:noFill/>
        </p:spPr>
        <p:txBody>
          <a:bodyPr vert="horz" wrap="square" lIns="0" tIns="0" rIns="0" bIns="0" rtlCol="0">
            <a:spAutoFit/>
          </a:bodyPr>
          <a:lstStyle/>
          <a:p>
            <a:r>
              <a:rPr lang="en-US" sz="2200" b="1">
                <a:solidFill>
                  <a:srgbClr val="171F2A"/>
                </a:solidFill>
                <a:latin typeface="Aptos" panose="020B0004020202020204" pitchFamily="34" charset="0"/>
              </a:rPr>
              <a:t>Order</a:t>
            </a:r>
          </a:p>
        </p:txBody>
      </p:sp>
      <p:sp>
        <p:nvSpPr>
          <p:cNvPr id="25" name="TextBox 24">
            <a:extLst>
              <a:ext uri="{FF2B5EF4-FFF2-40B4-BE49-F238E27FC236}">
                <a16:creationId xmlns:a16="http://schemas.microsoft.com/office/drawing/2014/main" id="{5E833A2C-C279-8C87-38D8-8958D42ADC1E}"/>
              </a:ext>
            </a:extLst>
          </p:cNvPr>
          <p:cNvSpPr txBox="1"/>
          <p:nvPr/>
        </p:nvSpPr>
        <p:spPr>
          <a:xfrm>
            <a:off x="1600200" y="7010400"/>
            <a:ext cx="3530600" cy="246221"/>
          </a:xfrm>
          <a:prstGeom prst="rect">
            <a:avLst/>
          </a:prstGeom>
          <a:noFill/>
        </p:spPr>
        <p:txBody>
          <a:bodyPr vert="horz" wrap="square" lIns="0" tIns="0" rIns="0" bIns="0" rtlCol="0">
            <a:spAutoFit/>
          </a:bodyPr>
          <a:lstStyle/>
          <a:p>
            <a:r>
              <a:rPr lang="en-US" sz="1600">
                <a:solidFill>
                  <a:srgbClr val="5B6574"/>
                </a:solidFill>
                <a:latin typeface="Aptos" panose="020B0004020202020204" pitchFamily="34" charset="0"/>
              </a:rPr>
              <a:t>create order, add item, stock check</a:t>
            </a:r>
          </a:p>
        </p:txBody>
      </p:sp>
      <p:sp>
        <p:nvSpPr>
          <p:cNvPr id="26" name="Rectangle 25">
            <a:extLst>
              <a:ext uri="{FF2B5EF4-FFF2-40B4-BE49-F238E27FC236}">
                <a16:creationId xmlns:a16="http://schemas.microsoft.com/office/drawing/2014/main" id="{D028E2F5-BA4E-DFC7-2FFC-7D0AEEFCF186}"/>
              </a:ext>
            </a:extLst>
          </p:cNvPr>
          <p:cNvSpPr/>
          <p:nvPr/>
        </p:nvSpPr>
        <p:spPr>
          <a:xfrm>
            <a:off x="5943600" y="6350000"/>
            <a:ext cx="4445000" cy="1320800"/>
          </a:xfrm>
          <a:prstGeom prst="rect">
            <a:avLst/>
          </a:prstGeom>
          <a:solidFill>
            <a:srgbClr val="FFFFFF"/>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53C4218F-BCC0-3DBB-874E-DF967C9580C4}"/>
              </a:ext>
            </a:extLst>
          </p:cNvPr>
          <p:cNvSpPr/>
          <p:nvPr/>
        </p:nvSpPr>
        <p:spPr>
          <a:xfrm>
            <a:off x="6197600" y="6629400"/>
            <a:ext cx="152400" cy="152400"/>
          </a:xfrm>
          <a:prstGeom prst="rect">
            <a:avLst/>
          </a:prstGeom>
          <a:solidFill>
            <a:srgbClr val="22848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15FF75D0-08EB-E1A9-BCC2-B37762E0C6C3}"/>
              </a:ext>
            </a:extLst>
          </p:cNvPr>
          <p:cNvSpPr txBox="1"/>
          <p:nvPr/>
        </p:nvSpPr>
        <p:spPr>
          <a:xfrm>
            <a:off x="6502400" y="6527800"/>
            <a:ext cx="2286000" cy="338554"/>
          </a:xfrm>
          <a:prstGeom prst="rect">
            <a:avLst/>
          </a:prstGeom>
          <a:noFill/>
        </p:spPr>
        <p:txBody>
          <a:bodyPr vert="horz" wrap="square" lIns="0" tIns="0" rIns="0" bIns="0" rtlCol="0">
            <a:spAutoFit/>
          </a:bodyPr>
          <a:lstStyle/>
          <a:p>
            <a:r>
              <a:rPr lang="en-US" sz="2200" b="1">
                <a:solidFill>
                  <a:srgbClr val="171F2A"/>
                </a:solidFill>
                <a:latin typeface="Aptos" panose="020B0004020202020204" pitchFamily="34" charset="0"/>
              </a:rPr>
              <a:t>Invoice</a:t>
            </a:r>
          </a:p>
        </p:txBody>
      </p:sp>
      <p:sp>
        <p:nvSpPr>
          <p:cNvPr id="29" name="TextBox 28">
            <a:extLst>
              <a:ext uri="{FF2B5EF4-FFF2-40B4-BE49-F238E27FC236}">
                <a16:creationId xmlns:a16="http://schemas.microsoft.com/office/drawing/2014/main" id="{D3D0D773-E7BD-53DB-0697-0D87CF6F94AE}"/>
              </a:ext>
            </a:extLst>
          </p:cNvPr>
          <p:cNvSpPr txBox="1"/>
          <p:nvPr/>
        </p:nvSpPr>
        <p:spPr>
          <a:xfrm>
            <a:off x="6502400" y="7010400"/>
            <a:ext cx="3530600" cy="246221"/>
          </a:xfrm>
          <a:prstGeom prst="rect">
            <a:avLst/>
          </a:prstGeom>
          <a:noFill/>
        </p:spPr>
        <p:txBody>
          <a:bodyPr vert="horz" wrap="square" lIns="0" tIns="0" rIns="0" bIns="0" rtlCol="0">
            <a:spAutoFit/>
          </a:bodyPr>
          <a:lstStyle/>
          <a:p>
            <a:r>
              <a:rPr lang="en-US" sz="1600">
                <a:solidFill>
                  <a:srgbClr val="5B6574"/>
                </a:solidFill>
                <a:latin typeface="Aptos" panose="020B0004020202020204" pitchFamily="34" charset="0"/>
              </a:rPr>
              <a:t>generate invoice, create payment</a:t>
            </a:r>
          </a:p>
        </p:txBody>
      </p:sp>
      <p:sp>
        <p:nvSpPr>
          <p:cNvPr id="30" name="TextBox 29">
            <a:extLst>
              <a:ext uri="{FF2B5EF4-FFF2-40B4-BE49-F238E27FC236}">
                <a16:creationId xmlns:a16="http://schemas.microsoft.com/office/drawing/2014/main" id="{E7B09193-6815-0EAB-4EA3-A390850E7C62}"/>
              </a:ext>
            </a:extLst>
          </p:cNvPr>
          <p:cNvSpPr txBox="1"/>
          <p:nvPr/>
        </p:nvSpPr>
        <p:spPr>
          <a:xfrm>
            <a:off x="1041400" y="6794500"/>
            <a:ext cx="2794000" cy="338554"/>
          </a:xfrm>
          <a:prstGeom prst="rect">
            <a:avLst/>
          </a:prstGeom>
          <a:noFill/>
        </p:spPr>
        <p:txBody>
          <a:bodyPr vert="horz" wrap="square" lIns="0" tIns="0" rIns="0" bIns="0" rtlCol="0">
            <a:spAutoFit/>
          </a:bodyPr>
          <a:lstStyle/>
          <a:p>
            <a:r>
              <a:rPr lang="en-US" sz="2200" b="1">
                <a:solidFill>
                  <a:srgbClr val="171F2A"/>
                </a:solidFill>
                <a:latin typeface="Aptos" panose="020B0004020202020204" pitchFamily="34" charset="0"/>
              </a:rPr>
              <a:t>Nhận xét thực tế</a:t>
            </a:r>
          </a:p>
        </p:txBody>
      </p:sp>
      <p:sp>
        <p:nvSpPr>
          <p:cNvPr id="31" name="TextBox 30">
            <a:extLst>
              <a:ext uri="{FF2B5EF4-FFF2-40B4-BE49-F238E27FC236}">
                <a16:creationId xmlns:a16="http://schemas.microsoft.com/office/drawing/2014/main" id="{87E06AA0-03D9-AACD-8145-135BB51E6D4D}"/>
              </a:ext>
            </a:extLst>
          </p:cNvPr>
          <p:cNvSpPr txBox="1"/>
          <p:nvPr/>
        </p:nvSpPr>
        <p:spPr>
          <a:xfrm>
            <a:off x="1041400" y="7302500"/>
            <a:ext cx="13081000" cy="1036181"/>
          </a:xfrm>
          <a:prstGeom prst="rect">
            <a:avLst/>
          </a:prstGeom>
          <a:noFill/>
        </p:spPr>
        <p:txBody>
          <a:bodyPr vert="horz" wrap="square" lIns="0" tIns="0" rIns="0" bIns="0" rtlCol="0">
            <a:spAutoFit/>
          </a:bodyPr>
          <a:lstStyle/>
          <a:p>
            <a:pPr marL="342900" indent="-342900">
              <a:spcAft>
                <a:spcPts val="800"/>
              </a:spcAft>
              <a:buFont typeface="+mj-lt"/>
              <a:buAutoNum type="arabicPeriod"/>
            </a:pPr>
            <a:r>
              <a:rPr lang="vi-VN">
                <a:solidFill>
                  <a:srgbClr val="171F2A"/>
                </a:solidFill>
                <a:latin typeface="Aptos" panose="020B0004020202020204" pitchFamily="34" charset="0"/>
              </a:rPr>
              <a:t>Pagination đã xuất hiện ở nhiều danh sách thông qua PaginationRequest/PagedResult.</a:t>
            </a:r>
          </a:p>
          <a:p>
            <a:pPr marL="342900" indent="-342900">
              <a:spcAft>
                <a:spcPts val="800"/>
              </a:spcAft>
              <a:buFont typeface="+mj-lt"/>
              <a:buAutoNum type="arabicPeriod"/>
            </a:pPr>
            <a:r>
              <a:rPr lang="vi-VN">
                <a:solidFill>
                  <a:srgbClr val="171F2A"/>
                </a:solidFill>
                <a:latin typeface="Aptos" panose="020B0004020202020204" pitchFamily="34" charset="0"/>
              </a:rPr>
              <a:t>Search hiện rõ nhất ở ProductService; các module khác mới chủ yếu phân trang cơ bản.</a:t>
            </a:r>
          </a:p>
          <a:p>
            <a:pPr marL="342900" indent="-342900">
              <a:spcAft>
                <a:spcPts val="800"/>
              </a:spcAft>
              <a:buFont typeface="+mj-lt"/>
              <a:buAutoNum type="arabicPeriod"/>
            </a:pPr>
            <a:r>
              <a:rPr lang="vi-VN">
                <a:solidFill>
                  <a:srgbClr val="171F2A"/>
                </a:solidFill>
                <a:latin typeface="Aptos" panose="020B0004020202020204" pitchFamily="34" charset="0"/>
              </a:rPr>
              <a:t>Một phần nghiệp vụ tuần 5 đã được khởi động sớm: kiểm tra tồn kho khi thêm order item, tạo invoice từ session.</a:t>
            </a:r>
            <a:endParaRPr lang="en-US">
              <a:solidFill>
                <a:srgbClr val="171F2A"/>
              </a:solidFill>
              <a:latin typeface="Aptos" panose="020B0004020202020204" pitchFamily="34" charset="0"/>
            </a:endParaRPr>
          </a:p>
        </p:txBody>
      </p:sp>
      <p:cxnSp>
        <p:nvCxnSpPr>
          <p:cNvPr id="32" name="Straight Connector 31">
            <a:extLst>
              <a:ext uri="{FF2B5EF4-FFF2-40B4-BE49-F238E27FC236}">
                <a16:creationId xmlns:a16="http://schemas.microsoft.com/office/drawing/2014/main" id="{ECAA2EA3-1A95-DE90-334B-09469A8AD292}"/>
              </a:ext>
            </a:extLst>
          </p:cNvPr>
          <p:cNvCxnSpPr/>
          <p:nvPr/>
        </p:nvCxnSpPr>
        <p:spPr>
          <a:xfrm>
            <a:off x="914400" y="8509000"/>
            <a:ext cx="14452600" cy="0"/>
          </a:xfrm>
          <a:prstGeom prst="line">
            <a:avLst/>
          </a:prstGeom>
          <a:ln w="12700">
            <a:solidFill>
              <a:srgbClr val="D6DBE1"/>
            </a:solidFill>
          </a:ln>
        </p:spPr>
        <p:style>
          <a:lnRef idx="1">
            <a:schemeClr val="accent1"/>
          </a:lnRef>
          <a:fillRef idx="0">
            <a:schemeClr val="accent1"/>
          </a:fillRef>
          <a:effectRef idx="0">
            <a:schemeClr val="accent1"/>
          </a:effectRef>
          <a:fontRef idx="minor">
            <a:schemeClr val="tx1"/>
          </a:fontRef>
        </p:style>
      </p:cxnSp>
      <p:sp>
        <p:nvSpPr>
          <p:cNvPr id="33" name="footer-source">
            <a:extLst>
              <a:ext uri="{FF2B5EF4-FFF2-40B4-BE49-F238E27FC236}">
                <a16:creationId xmlns:a16="http://schemas.microsoft.com/office/drawing/2014/main" id="{D2675A79-D1DD-6725-CFE6-A6F4620EDC52}"/>
              </a:ext>
            </a:extLst>
          </p:cNvPr>
          <p:cNvSpPr txBox="1"/>
          <p:nvPr/>
        </p:nvSpPr>
        <p:spPr>
          <a:xfrm>
            <a:off x="914400" y="8661400"/>
            <a:ext cx="7112000" cy="169277"/>
          </a:xfrm>
          <a:prstGeom prst="rect">
            <a:avLst/>
          </a:prstGeom>
          <a:noFill/>
        </p:spPr>
        <p:txBody>
          <a:bodyPr vert="horz" wrap="square" lIns="0" tIns="0" rIns="0" bIns="0" rtlCol="0">
            <a:spAutoFit/>
          </a:bodyPr>
          <a:lstStyle/>
          <a:p>
            <a:r>
              <a:rPr lang="en-US" sz="1100">
                <a:solidFill>
                  <a:srgbClr val="5B6574"/>
                </a:solidFill>
                <a:latin typeface="Aptos" panose="020B0004020202020204" pitchFamily="34" charset="0"/>
              </a:rPr>
              <a:t>PoolHub | Tuần 3-4 backend checkpoint</a:t>
            </a:r>
          </a:p>
        </p:txBody>
      </p:sp>
      <p:sp>
        <p:nvSpPr>
          <p:cNvPr id="34" name="footer-page">
            <a:extLst>
              <a:ext uri="{FF2B5EF4-FFF2-40B4-BE49-F238E27FC236}">
                <a16:creationId xmlns:a16="http://schemas.microsoft.com/office/drawing/2014/main" id="{47F483F3-CE05-463F-A8CF-11C21B43FDA4}"/>
              </a:ext>
            </a:extLst>
          </p:cNvPr>
          <p:cNvSpPr txBox="1"/>
          <p:nvPr/>
        </p:nvSpPr>
        <p:spPr>
          <a:xfrm>
            <a:off x="14884400" y="8661400"/>
            <a:ext cx="482600" cy="169277"/>
          </a:xfrm>
          <a:prstGeom prst="rect">
            <a:avLst/>
          </a:prstGeom>
          <a:noFill/>
        </p:spPr>
        <p:txBody>
          <a:bodyPr vert="horz" wrap="square" lIns="0" tIns="0" rIns="0" bIns="0" rtlCol="0">
            <a:spAutoFit/>
          </a:bodyPr>
          <a:lstStyle/>
          <a:p>
            <a:r>
              <a:rPr lang="en-US" sz="1100">
                <a:solidFill>
                  <a:srgbClr val="5B6574"/>
                </a:solidFill>
                <a:latin typeface="Aptos" panose="020B0004020202020204" pitchFamily="34" charset="0"/>
              </a:rPr>
              <a:t>05</a:t>
            </a:r>
          </a:p>
        </p:txBody>
      </p:sp>
    </p:spTree>
    <p:extLst>
      <p:ext uri="{BB962C8B-B14F-4D97-AF65-F5344CB8AC3E}">
        <p14:creationId xmlns:p14="http://schemas.microsoft.com/office/powerpoint/2010/main" val="27329681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6-marker">
            <a:extLst>
              <a:ext uri="{FF2B5EF4-FFF2-40B4-BE49-F238E27FC236}">
                <a16:creationId xmlns:a16="http://schemas.microsoft.com/office/drawing/2014/main" id="{03466922-20CE-D2AB-7778-15C9D081FA95}"/>
              </a:ext>
            </a:extLst>
          </p:cNvPr>
          <p:cNvSpPr/>
          <p:nvPr/>
        </p:nvSpPr>
        <p:spPr>
          <a:xfrm>
            <a:off x="914400" y="685800"/>
            <a:ext cx="127000" cy="127000"/>
          </a:xfrm>
          <a:prstGeom prst="rect">
            <a:avLst/>
          </a:prstGeom>
          <a:solidFill>
            <a:srgbClr val="CD702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kicker-6-label">
            <a:extLst>
              <a:ext uri="{FF2B5EF4-FFF2-40B4-BE49-F238E27FC236}">
                <a16:creationId xmlns:a16="http://schemas.microsoft.com/office/drawing/2014/main" id="{CA9034F5-BFAF-E915-DA07-C66A73600E1F}"/>
              </a:ext>
            </a:extLst>
          </p:cNvPr>
          <p:cNvSpPr txBox="1"/>
          <p:nvPr/>
        </p:nvSpPr>
        <p:spPr>
          <a:xfrm>
            <a:off x="1193800" y="596900"/>
            <a:ext cx="6604000" cy="230832"/>
          </a:xfrm>
          <a:prstGeom prst="rect">
            <a:avLst/>
          </a:prstGeom>
          <a:noFill/>
        </p:spPr>
        <p:txBody>
          <a:bodyPr vert="horz" wrap="square" lIns="0" tIns="0" rIns="0" bIns="0" rtlCol="0">
            <a:spAutoFit/>
          </a:bodyPr>
          <a:lstStyle/>
          <a:p>
            <a:r>
              <a:rPr lang="en-US" sz="1500" b="1" cap="all">
                <a:solidFill>
                  <a:srgbClr val="CD7027"/>
                </a:solidFill>
                <a:latin typeface="Aptos" panose="020B0004020202020204" pitchFamily="34" charset="0"/>
              </a:rPr>
              <a:t>ĐÁNH GIÁ TUẦN 3</a:t>
            </a:r>
          </a:p>
        </p:txBody>
      </p:sp>
      <p:sp>
        <p:nvSpPr>
          <p:cNvPr id="4" name="slide-title">
            <a:extLst>
              <a:ext uri="{FF2B5EF4-FFF2-40B4-BE49-F238E27FC236}">
                <a16:creationId xmlns:a16="http://schemas.microsoft.com/office/drawing/2014/main" id="{15BC1608-1347-4CD4-825A-B6A1DBE6C56B}"/>
              </a:ext>
            </a:extLst>
          </p:cNvPr>
          <p:cNvSpPr txBox="1"/>
          <p:nvPr/>
        </p:nvSpPr>
        <p:spPr>
          <a:xfrm>
            <a:off x="914400" y="1041400"/>
            <a:ext cx="13208000" cy="1169551"/>
          </a:xfrm>
          <a:prstGeom prst="rect">
            <a:avLst/>
          </a:prstGeom>
          <a:noFill/>
        </p:spPr>
        <p:txBody>
          <a:bodyPr vert="horz" wrap="square" lIns="0" tIns="0" rIns="0" bIns="0" rtlCol="0">
            <a:spAutoFit/>
          </a:bodyPr>
          <a:lstStyle/>
          <a:p>
            <a:r>
              <a:rPr lang="vi-VN" sz="3800" b="1">
                <a:solidFill>
                  <a:srgbClr val="171F2A"/>
                </a:solidFill>
                <a:latin typeface="Aptos" panose="020B0004020202020204" pitchFamily="34" charset="0"/>
              </a:rPr>
              <a:t>Tuần 3 đạt mục tiêu nền tảng, nhưng cần chuẩn hóa để tránh phình service.</a:t>
            </a:r>
            <a:endParaRPr lang="en-US" sz="3800" b="1">
              <a:solidFill>
                <a:srgbClr val="171F2A"/>
              </a:solidFill>
              <a:latin typeface="Aptos" panose="020B0004020202020204" pitchFamily="34" charset="0"/>
            </a:endParaRPr>
          </a:p>
        </p:txBody>
      </p:sp>
      <p:sp>
        <p:nvSpPr>
          <p:cNvPr id="5" name="slide-subtitle">
            <a:extLst>
              <a:ext uri="{FF2B5EF4-FFF2-40B4-BE49-F238E27FC236}">
                <a16:creationId xmlns:a16="http://schemas.microsoft.com/office/drawing/2014/main" id="{B70C4862-9E4E-380E-5F29-055853B1E2DE}"/>
              </a:ext>
            </a:extLst>
          </p:cNvPr>
          <p:cNvSpPr txBox="1"/>
          <p:nvPr/>
        </p:nvSpPr>
        <p:spPr>
          <a:xfrm>
            <a:off x="914400" y="2286000"/>
            <a:ext cx="12446000" cy="307777"/>
          </a:xfrm>
          <a:prstGeom prst="rect">
            <a:avLst/>
          </a:prstGeom>
          <a:noFill/>
        </p:spPr>
        <p:txBody>
          <a:bodyPr vert="horz" wrap="square" lIns="0" tIns="0" rIns="0" bIns="0" rtlCol="0">
            <a:spAutoFit/>
          </a:bodyPr>
          <a:lstStyle/>
          <a:p>
            <a:r>
              <a:rPr lang="en-US" sz="2000">
                <a:solidFill>
                  <a:srgbClr val="5B6574"/>
                </a:solidFill>
                <a:latin typeface="Aptos" panose="020B0004020202020204" pitchFamily="34" charset="0"/>
              </a:rPr>
              <a:t>Đây là slide phân tích chứ không chỉ liệt kê việc đã làm.</a:t>
            </a:r>
          </a:p>
        </p:txBody>
      </p:sp>
      <p:sp>
        <p:nvSpPr>
          <p:cNvPr id="6" name="Rectangle 5">
            <a:extLst>
              <a:ext uri="{FF2B5EF4-FFF2-40B4-BE49-F238E27FC236}">
                <a16:creationId xmlns:a16="http://schemas.microsoft.com/office/drawing/2014/main" id="{8A66F2E4-21FE-8D14-D518-7FECA4A17145}"/>
              </a:ext>
            </a:extLst>
          </p:cNvPr>
          <p:cNvSpPr/>
          <p:nvPr/>
        </p:nvSpPr>
        <p:spPr>
          <a:xfrm>
            <a:off x="1041400" y="3111500"/>
            <a:ext cx="4254500" cy="2286000"/>
          </a:xfrm>
          <a:prstGeom prst="rect">
            <a:avLst/>
          </a:prstGeom>
          <a:solidFill>
            <a:srgbClr val="E2F3EB"/>
          </a:solidFill>
          <a:ln w="12700">
            <a:solidFill>
              <a:srgbClr val="1C80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0A8AA6F-EEC7-17DB-1196-E29FA7874BD9}"/>
              </a:ext>
            </a:extLst>
          </p:cNvPr>
          <p:cNvSpPr/>
          <p:nvPr/>
        </p:nvSpPr>
        <p:spPr>
          <a:xfrm>
            <a:off x="1041400" y="3111500"/>
            <a:ext cx="88900" cy="2286000"/>
          </a:xfrm>
          <a:prstGeom prst="rect">
            <a:avLst/>
          </a:prstGeom>
          <a:solidFill>
            <a:srgbClr val="1C805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1D83360D-BB59-6109-840E-0DAC66A3947F}"/>
              </a:ext>
            </a:extLst>
          </p:cNvPr>
          <p:cNvSpPr txBox="1"/>
          <p:nvPr/>
        </p:nvSpPr>
        <p:spPr>
          <a:xfrm>
            <a:off x="1346200" y="3340100"/>
            <a:ext cx="3721100" cy="215444"/>
          </a:xfrm>
          <a:prstGeom prst="rect">
            <a:avLst/>
          </a:prstGeom>
          <a:noFill/>
        </p:spPr>
        <p:txBody>
          <a:bodyPr vert="horz" wrap="square" lIns="0" tIns="0" rIns="0" bIns="0" rtlCol="0">
            <a:spAutoFit/>
          </a:bodyPr>
          <a:lstStyle/>
          <a:p>
            <a:r>
              <a:rPr lang="en-US" sz="1400" b="1">
                <a:solidFill>
                  <a:srgbClr val="1C8056"/>
                </a:solidFill>
                <a:latin typeface="Aptos" panose="020B0004020202020204" pitchFamily="34" charset="0"/>
              </a:rPr>
              <a:t>Hoàn thành tốt</a:t>
            </a:r>
          </a:p>
        </p:txBody>
      </p:sp>
      <p:sp>
        <p:nvSpPr>
          <p:cNvPr id="9" name="TextBox 8">
            <a:extLst>
              <a:ext uri="{FF2B5EF4-FFF2-40B4-BE49-F238E27FC236}">
                <a16:creationId xmlns:a16="http://schemas.microsoft.com/office/drawing/2014/main" id="{8E791410-60F3-0848-4C1D-B7327B5E57A6}"/>
              </a:ext>
            </a:extLst>
          </p:cNvPr>
          <p:cNvSpPr txBox="1"/>
          <p:nvPr/>
        </p:nvSpPr>
        <p:spPr>
          <a:xfrm>
            <a:off x="1346200" y="3721100"/>
            <a:ext cx="3721100" cy="461665"/>
          </a:xfrm>
          <a:prstGeom prst="rect">
            <a:avLst/>
          </a:prstGeom>
          <a:noFill/>
        </p:spPr>
        <p:txBody>
          <a:bodyPr vert="horz" wrap="square" lIns="0" tIns="0" rIns="0" bIns="0" rtlCol="0">
            <a:spAutoFit/>
          </a:bodyPr>
          <a:lstStyle/>
          <a:p>
            <a:r>
              <a:rPr lang="en-US" sz="3000" b="1">
                <a:solidFill>
                  <a:srgbClr val="171F2A"/>
                </a:solidFill>
                <a:latin typeface="Aptos" panose="020B0004020202020204" pitchFamily="34" charset="0"/>
              </a:rPr>
              <a:t>Kiến trúc &amp; EF</a:t>
            </a:r>
          </a:p>
        </p:txBody>
      </p:sp>
      <p:sp>
        <p:nvSpPr>
          <p:cNvPr id="10" name="TextBox 9">
            <a:extLst>
              <a:ext uri="{FF2B5EF4-FFF2-40B4-BE49-F238E27FC236}">
                <a16:creationId xmlns:a16="http://schemas.microsoft.com/office/drawing/2014/main" id="{7104C42D-0FD2-4773-1974-A1445996B0FD}"/>
              </a:ext>
            </a:extLst>
          </p:cNvPr>
          <p:cNvSpPr txBox="1"/>
          <p:nvPr/>
        </p:nvSpPr>
        <p:spPr>
          <a:xfrm>
            <a:off x="1346200" y="4381500"/>
            <a:ext cx="3721100" cy="784830"/>
          </a:xfrm>
          <a:prstGeom prst="rect">
            <a:avLst/>
          </a:prstGeom>
          <a:noFill/>
        </p:spPr>
        <p:txBody>
          <a:bodyPr vert="horz" wrap="square" lIns="0" tIns="0" rIns="0" bIns="0" rtlCol="0">
            <a:spAutoFit/>
          </a:bodyPr>
          <a:lstStyle/>
          <a:p>
            <a:r>
              <a:rPr lang="en-US" sz="1700">
                <a:solidFill>
                  <a:srgbClr val="5B6574"/>
                </a:solidFill>
                <a:latin typeface="Aptos" panose="020B0004020202020204" pitchFamily="34" charset="0"/>
              </a:rPr>
              <a:t>Layered solution, DbContext 27 bảng, migrations, seed, Swagger và API controllers đã hình thành.</a:t>
            </a:r>
          </a:p>
        </p:txBody>
      </p:sp>
      <p:sp>
        <p:nvSpPr>
          <p:cNvPr id="11" name="Rectangle 10">
            <a:extLst>
              <a:ext uri="{FF2B5EF4-FFF2-40B4-BE49-F238E27FC236}">
                <a16:creationId xmlns:a16="http://schemas.microsoft.com/office/drawing/2014/main" id="{1818DB64-E464-EA5A-9FC6-2729448E3888}"/>
              </a:ext>
            </a:extLst>
          </p:cNvPr>
          <p:cNvSpPr/>
          <p:nvPr/>
        </p:nvSpPr>
        <p:spPr>
          <a:xfrm>
            <a:off x="5803900" y="3111500"/>
            <a:ext cx="4254500" cy="2286000"/>
          </a:xfrm>
          <a:prstGeom prst="rect">
            <a:avLst/>
          </a:prstGeom>
          <a:solidFill>
            <a:srgbClr val="FCEBDB"/>
          </a:solidFill>
          <a:ln w="12700">
            <a:solidFill>
              <a:srgbClr val="CD70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D8C0EFE-C688-025B-2241-F53E4EB89CF8}"/>
              </a:ext>
            </a:extLst>
          </p:cNvPr>
          <p:cNvSpPr/>
          <p:nvPr/>
        </p:nvSpPr>
        <p:spPr>
          <a:xfrm>
            <a:off x="5803900" y="3111500"/>
            <a:ext cx="88900" cy="2286000"/>
          </a:xfrm>
          <a:prstGeom prst="rect">
            <a:avLst/>
          </a:prstGeom>
          <a:solidFill>
            <a:srgbClr val="CD702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6CBA5B7E-0D9C-AF40-12D1-2465CE30F46E}"/>
              </a:ext>
            </a:extLst>
          </p:cNvPr>
          <p:cNvSpPr txBox="1"/>
          <p:nvPr/>
        </p:nvSpPr>
        <p:spPr>
          <a:xfrm>
            <a:off x="6108700" y="3340100"/>
            <a:ext cx="3721100" cy="215444"/>
          </a:xfrm>
          <a:prstGeom prst="rect">
            <a:avLst/>
          </a:prstGeom>
          <a:noFill/>
        </p:spPr>
        <p:txBody>
          <a:bodyPr vert="horz" wrap="square" lIns="0" tIns="0" rIns="0" bIns="0" rtlCol="0">
            <a:spAutoFit/>
          </a:bodyPr>
          <a:lstStyle/>
          <a:p>
            <a:r>
              <a:rPr lang="en-US" sz="1400" b="1">
                <a:solidFill>
                  <a:srgbClr val="CD7027"/>
                </a:solidFill>
                <a:latin typeface="Aptos" panose="020B0004020202020204" pitchFamily="34" charset="0"/>
              </a:rPr>
              <a:t>Đạt có điều kiện</a:t>
            </a:r>
          </a:p>
        </p:txBody>
      </p:sp>
      <p:sp>
        <p:nvSpPr>
          <p:cNvPr id="14" name="TextBox 13">
            <a:extLst>
              <a:ext uri="{FF2B5EF4-FFF2-40B4-BE49-F238E27FC236}">
                <a16:creationId xmlns:a16="http://schemas.microsoft.com/office/drawing/2014/main" id="{18329655-1D36-33FF-3AB2-AF8DF703D717}"/>
              </a:ext>
            </a:extLst>
          </p:cNvPr>
          <p:cNvSpPr txBox="1"/>
          <p:nvPr/>
        </p:nvSpPr>
        <p:spPr>
          <a:xfrm>
            <a:off x="6108700" y="3721100"/>
            <a:ext cx="3721100" cy="461665"/>
          </a:xfrm>
          <a:prstGeom prst="rect">
            <a:avLst/>
          </a:prstGeom>
          <a:noFill/>
        </p:spPr>
        <p:txBody>
          <a:bodyPr vert="horz" wrap="square" lIns="0" tIns="0" rIns="0" bIns="0" rtlCol="0">
            <a:spAutoFit/>
          </a:bodyPr>
          <a:lstStyle/>
          <a:p>
            <a:r>
              <a:rPr lang="en-US" sz="3000" b="1">
                <a:solidFill>
                  <a:srgbClr val="171F2A"/>
                </a:solidFill>
                <a:latin typeface="Aptos" panose="020B0004020202020204" pitchFamily="34" charset="0"/>
              </a:rPr>
              <a:t>CRUD APIs</a:t>
            </a:r>
          </a:p>
        </p:txBody>
      </p:sp>
      <p:sp>
        <p:nvSpPr>
          <p:cNvPr id="15" name="TextBox 14">
            <a:extLst>
              <a:ext uri="{FF2B5EF4-FFF2-40B4-BE49-F238E27FC236}">
                <a16:creationId xmlns:a16="http://schemas.microsoft.com/office/drawing/2014/main" id="{649845F8-DA40-B064-83F7-37D4CCD14C5B}"/>
              </a:ext>
            </a:extLst>
          </p:cNvPr>
          <p:cNvSpPr txBox="1"/>
          <p:nvPr/>
        </p:nvSpPr>
        <p:spPr>
          <a:xfrm>
            <a:off x="6108700" y="4381500"/>
            <a:ext cx="3721100" cy="1046440"/>
          </a:xfrm>
          <a:prstGeom prst="rect">
            <a:avLst/>
          </a:prstGeom>
          <a:noFill/>
        </p:spPr>
        <p:txBody>
          <a:bodyPr vert="horz" wrap="square" lIns="0" tIns="0" rIns="0" bIns="0" rtlCol="0">
            <a:spAutoFit/>
          </a:bodyPr>
          <a:lstStyle/>
          <a:p>
            <a:r>
              <a:rPr lang="vi-VN" sz="1700">
                <a:solidFill>
                  <a:srgbClr val="5B6574"/>
                </a:solidFill>
                <a:latin typeface="Aptos" panose="020B0004020202020204" pitchFamily="34" charset="0"/>
              </a:rPr>
              <a:t>Có CRUD/read cho nhiều module, nhưng chưa đồng đều full CRUD ở mọi tài nguyên và một số xử lý get-by-id còn tạm.</a:t>
            </a:r>
            <a:endParaRPr lang="en-US" sz="1700">
              <a:solidFill>
                <a:srgbClr val="5B6574"/>
              </a:solidFill>
              <a:latin typeface="Aptos" panose="020B0004020202020204" pitchFamily="34" charset="0"/>
            </a:endParaRPr>
          </a:p>
        </p:txBody>
      </p:sp>
      <p:sp>
        <p:nvSpPr>
          <p:cNvPr id="16" name="Rectangle 15">
            <a:extLst>
              <a:ext uri="{FF2B5EF4-FFF2-40B4-BE49-F238E27FC236}">
                <a16:creationId xmlns:a16="http://schemas.microsoft.com/office/drawing/2014/main" id="{9E87A0F5-899A-DE05-235E-272581619C05}"/>
              </a:ext>
            </a:extLst>
          </p:cNvPr>
          <p:cNvSpPr/>
          <p:nvPr/>
        </p:nvSpPr>
        <p:spPr>
          <a:xfrm>
            <a:off x="10566400" y="3111500"/>
            <a:ext cx="4254500" cy="2286000"/>
          </a:xfrm>
          <a:prstGeom prst="rect">
            <a:avLst/>
          </a:prstGeom>
          <a:solidFill>
            <a:srgbClr val="F8E2E2"/>
          </a:solidFill>
          <a:ln w="12700">
            <a:solidFill>
              <a:srgbClr val="B14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17E357F-98E7-67AD-3C80-25A61DB6A600}"/>
              </a:ext>
            </a:extLst>
          </p:cNvPr>
          <p:cNvSpPr/>
          <p:nvPr/>
        </p:nvSpPr>
        <p:spPr>
          <a:xfrm>
            <a:off x="10566400" y="3111500"/>
            <a:ext cx="88900" cy="2286000"/>
          </a:xfrm>
          <a:prstGeom prst="rect">
            <a:avLst/>
          </a:prstGeom>
          <a:solidFill>
            <a:srgbClr val="B1404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D8AA4512-6CCD-E668-1A1D-3A3F761B394C}"/>
              </a:ext>
            </a:extLst>
          </p:cNvPr>
          <p:cNvSpPr txBox="1"/>
          <p:nvPr/>
        </p:nvSpPr>
        <p:spPr>
          <a:xfrm>
            <a:off x="10871200" y="3340100"/>
            <a:ext cx="3721100" cy="215444"/>
          </a:xfrm>
          <a:prstGeom prst="rect">
            <a:avLst/>
          </a:prstGeom>
          <a:noFill/>
        </p:spPr>
        <p:txBody>
          <a:bodyPr vert="horz" wrap="square" lIns="0" tIns="0" rIns="0" bIns="0" rtlCol="0">
            <a:spAutoFit/>
          </a:bodyPr>
          <a:lstStyle/>
          <a:p>
            <a:r>
              <a:rPr lang="en-US" sz="1400" b="1">
                <a:solidFill>
                  <a:srgbClr val="B14040"/>
                </a:solidFill>
                <a:latin typeface="Aptos" panose="020B0004020202020204" pitchFamily="34" charset="0"/>
              </a:rPr>
              <a:t>Cần nâng</a:t>
            </a:r>
          </a:p>
        </p:txBody>
      </p:sp>
      <p:sp>
        <p:nvSpPr>
          <p:cNvPr id="19" name="TextBox 18">
            <a:extLst>
              <a:ext uri="{FF2B5EF4-FFF2-40B4-BE49-F238E27FC236}">
                <a16:creationId xmlns:a16="http://schemas.microsoft.com/office/drawing/2014/main" id="{12E8D885-EFB5-5C7A-9BDE-84133260190B}"/>
              </a:ext>
            </a:extLst>
          </p:cNvPr>
          <p:cNvSpPr txBox="1"/>
          <p:nvPr/>
        </p:nvSpPr>
        <p:spPr>
          <a:xfrm>
            <a:off x="10871200" y="3721100"/>
            <a:ext cx="3721100" cy="461665"/>
          </a:xfrm>
          <a:prstGeom prst="rect">
            <a:avLst/>
          </a:prstGeom>
          <a:noFill/>
        </p:spPr>
        <p:txBody>
          <a:bodyPr vert="horz" wrap="square" lIns="0" tIns="0" rIns="0" bIns="0" rtlCol="0">
            <a:spAutoFit/>
          </a:bodyPr>
          <a:lstStyle/>
          <a:p>
            <a:r>
              <a:rPr lang="en-US" sz="3000" b="1">
                <a:solidFill>
                  <a:srgbClr val="171F2A"/>
                </a:solidFill>
                <a:latin typeface="Aptos" panose="020B0004020202020204" pitchFamily="34" charset="0"/>
              </a:rPr>
              <a:t>Validation</a:t>
            </a:r>
          </a:p>
        </p:txBody>
      </p:sp>
      <p:sp>
        <p:nvSpPr>
          <p:cNvPr id="20" name="TextBox 19">
            <a:extLst>
              <a:ext uri="{FF2B5EF4-FFF2-40B4-BE49-F238E27FC236}">
                <a16:creationId xmlns:a16="http://schemas.microsoft.com/office/drawing/2014/main" id="{86F7461C-0A4B-1DED-1E6E-B99E893D8AC0}"/>
              </a:ext>
            </a:extLst>
          </p:cNvPr>
          <p:cNvSpPr txBox="1"/>
          <p:nvPr/>
        </p:nvSpPr>
        <p:spPr>
          <a:xfrm>
            <a:off x="10871200" y="4381500"/>
            <a:ext cx="3721100" cy="784830"/>
          </a:xfrm>
          <a:prstGeom prst="rect">
            <a:avLst/>
          </a:prstGeom>
          <a:noFill/>
        </p:spPr>
        <p:txBody>
          <a:bodyPr vert="horz" wrap="square" lIns="0" tIns="0" rIns="0" bIns="0" rtlCol="0">
            <a:spAutoFit/>
          </a:bodyPr>
          <a:lstStyle/>
          <a:p>
            <a:r>
              <a:rPr lang="vi-VN" sz="1700">
                <a:solidFill>
                  <a:srgbClr val="5B6574"/>
                </a:solidFill>
                <a:latin typeface="Aptos" panose="020B0004020202020204" pitchFamily="34" charset="0"/>
              </a:rPr>
              <a:t>DataAnnotations rõ ở Auth DTO, nhưng các DTO domain cần validation nhất quán hơn trước khi demo dữ liệu thật.</a:t>
            </a:r>
            <a:endParaRPr lang="en-US" sz="1700">
              <a:solidFill>
                <a:srgbClr val="5B6574"/>
              </a:solidFill>
              <a:latin typeface="Aptos" panose="020B0004020202020204" pitchFamily="34" charset="0"/>
            </a:endParaRPr>
          </a:p>
        </p:txBody>
      </p:sp>
      <p:sp>
        <p:nvSpPr>
          <p:cNvPr id="21" name="TextBox 20">
            <a:extLst>
              <a:ext uri="{FF2B5EF4-FFF2-40B4-BE49-F238E27FC236}">
                <a16:creationId xmlns:a16="http://schemas.microsoft.com/office/drawing/2014/main" id="{0F831791-ED7F-FB04-C333-7F6772787C8F}"/>
              </a:ext>
            </a:extLst>
          </p:cNvPr>
          <p:cNvSpPr txBox="1"/>
          <p:nvPr/>
        </p:nvSpPr>
        <p:spPr>
          <a:xfrm>
            <a:off x="1168400" y="6413500"/>
            <a:ext cx="3810000" cy="369332"/>
          </a:xfrm>
          <a:prstGeom prst="rect">
            <a:avLst/>
          </a:prstGeom>
          <a:noFill/>
        </p:spPr>
        <p:txBody>
          <a:bodyPr vert="horz" wrap="square" lIns="0" tIns="0" rIns="0" bIns="0" rtlCol="0">
            <a:spAutoFit/>
          </a:bodyPr>
          <a:lstStyle/>
          <a:p>
            <a:r>
              <a:rPr lang="en-US" sz="2400" b="1">
                <a:solidFill>
                  <a:srgbClr val="171F2A"/>
                </a:solidFill>
                <a:latin typeface="Aptos" panose="020B0004020202020204" pitchFamily="34" charset="0"/>
              </a:rPr>
              <a:t>Kết luận tuần 3</a:t>
            </a:r>
          </a:p>
        </p:txBody>
      </p:sp>
      <p:sp>
        <p:nvSpPr>
          <p:cNvPr id="22" name="TextBox 21">
            <a:extLst>
              <a:ext uri="{FF2B5EF4-FFF2-40B4-BE49-F238E27FC236}">
                <a16:creationId xmlns:a16="http://schemas.microsoft.com/office/drawing/2014/main" id="{C7A08AAF-8C56-EFD5-2952-FDEFD99A03A8}"/>
              </a:ext>
            </a:extLst>
          </p:cNvPr>
          <p:cNvSpPr txBox="1"/>
          <p:nvPr/>
        </p:nvSpPr>
        <p:spPr>
          <a:xfrm>
            <a:off x="1168400" y="6921500"/>
            <a:ext cx="13081000" cy="677108"/>
          </a:xfrm>
          <a:prstGeom prst="rect">
            <a:avLst/>
          </a:prstGeom>
          <a:noFill/>
        </p:spPr>
        <p:txBody>
          <a:bodyPr vert="horz" wrap="square" lIns="0" tIns="0" rIns="0" bIns="0" rtlCol="0">
            <a:spAutoFit/>
          </a:bodyPr>
          <a:lstStyle/>
          <a:p>
            <a:r>
              <a:rPr lang="en-US" sz="2200">
                <a:solidFill>
                  <a:srgbClr val="171F2A"/>
                </a:solidFill>
                <a:latin typeface="Aptos" panose="020B0004020202020204" pitchFamily="34" charset="0"/>
              </a:rPr>
              <a:t>PoolHub đã có nền backend đủ để demo API và phát triển tiếp. Việc quan trọng sau checkpoint là tách service theo module, chuẩn hóa validation và bổ sung test cho các CRUD/domain flow có rủi ro cao.</a:t>
            </a:r>
          </a:p>
        </p:txBody>
      </p:sp>
      <p:cxnSp>
        <p:nvCxnSpPr>
          <p:cNvPr id="23" name="Straight Connector 22">
            <a:extLst>
              <a:ext uri="{FF2B5EF4-FFF2-40B4-BE49-F238E27FC236}">
                <a16:creationId xmlns:a16="http://schemas.microsoft.com/office/drawing/2014/main" id="{96CD668E-8767-C2A5-AB6B-A9D45D6A0BAB}"/>
              </a:ext>
            </a:extLst>
          </p:cNvPr>
          <p:cNvCxnSpPr/>
          <p:nvPr/>
        </p:nvCxnSpPr>
        <p:spPr>
          <a:xfrm>
            <a:off x="914400" y="8509000"/>
            <a:ext cx="14452600" cy="0"/>
          </a:xfrm>
          <a:prstGeom prst="line">
            <a:avLst/>
          </a:prstGeom>
          <a:ln w="12700">
            <a:solidFill>
              <a:srgbClr val="D6DBE1"/>
            </a:solidFill>
          </a:ln>
        </p:spPr>
        <p:style>
          <a:lnRef idx="1">
            <a:schemeClr val="accent1"/>
          </a:lnRef>
          <a:fillRef idx="0">
            <a:schemeClr val="accent1"/>
          </a:fillRef>
          <a:effectRef idx="0">
            <a:schemeClr val="accent1"/>
          </a:effectRef>
          <a:fontRef idx="minor">
            <a:schemeClr val="tx1"/>
          </a:fontRef>
        </p:style>
      </p:cxnSp>
      <p:sp>
        <p:nvSpPr>
          <p:cNvPr id="24" name="footer-source">
            <a:extLst>
              <a:ext uri="{FF2B5EF4-FFF2-40B4-BE49-F238E27FC236}">
                <a16:creationId xmlns:a16="http://schemas.microsoft.com/office/drawing/2014/main" id="{A4F43EE7-17A8-807E-CD81-C7331B67406D}"/>
              </a:ext>
            </a:extLst>
          </p:cNvPr>
          <p:cNvSpPr txBox="1"/>
          <p:nvPr/>
        </p:nvSpPr>
        <p:spPr>
          <a:xfrm>
            <a:off x="914400" y="8661400"/>
            <a:ext cx="7112000" cy="169277"/>
          </a:xfrm>
          <a:prstGeom prst="rect">
            <a:avLst/>
          </a:prstGeom>
          <a:noFill/>
        </p:spPr>
        <p:txBody>
          <a:bodyPr vert="horz" wrap="square" lIns="0" tIns="0" rIns="0" bIns="0" rtlCol="0">
            <a:spAutoFit/>
          </a:bodyPr>
          <a:lstStyle/>
          <a:p>
            <a:r>
              <a:rPr lang="en-US" sz="1100">
                <a:solidFill>
                  <a:srgbClr val="5B6574"/>
                </a:solidFill>
                <a:latin typeface="Aptos" panose="020B0004020202020204" pitchFamily="34" charset="0"/>
              </a:rPr>
              <a:t>PoolHub | Tuần 3-4 backend checkpoint</a:t>
            </a:r>
          </a:p>
        </p:txBody>
      </p:sp>
      <p:sp>
        <p:nvSpPr>
          <p:cNvPr id="25" name="footer-page">
            <a:extLst>
              <a:ext uri="{FF2B5EF4-FFF2-40B4-BE49-F238E27FC236}">
                <a16:creationId xmlns:a16="http://schemas.microsoft.com/office/drawing/2014/main" id="{C670B293-5F22-3D39-A5E1-69DF0FDF8DFE}"/>
              </a:ext>
            </a:extLst>
          </p:cNvPr>
          <p:cNvSpPr txBox="1"/>
          <p:nvPr/>
        </p:nvSpPr>
        <p:spPr>
          <a:xfrm>
            <a:off x="14884400" y="8661400"/>
            <a:ext cx="482600" cy="169277"/>
          </a:xfrm>
          <a:prstGeom prst="rect">
            <a:avLst/>
          </a:prstGeom>
          <a:noFill/>
        </p:spPr>
        <p:txBody>
          <a:bodyPr vert="horz" wrap="square" lIns="0" tIns="0" rIns="0" bIns="0" rtlCol="0">
            <a:spAutoFit/>
          </a:bodyPr>
          <a:lstStyle/>
          <a:p>
            <a:r>
              <a:rPr lang="en-US" sz="1100">
                <a:solidFill>
                  <a:srgbClr val="5B6574"/>
                </a:solidFill>
                <a:latin typeface="Aptos" panose="020B0004020202020204" pitchFamily="34" charset="0"/>
              </a:rPr>
              <a:t>06</a:t>
            </a:r>
          </a:p>
        </p:txBody>
      </p:sp>
    </p:spTree>
    <p:extLst>
      <p:ext uri="{BB962C8B-B14F-4D97-AF65-F5344CB8AC3E}">
        <p14:creationId xmlns:p14="http://schemas.microsoft.com/office/powerpoint/2010/main" val="3122726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7-marker">
            <a:extLst>
              <a:ext uri="{FF2B5EF4-FFF2-40B4-BE49-F238E27FC236}">
                <a16:creationId xmlns:a16="http://schemas.microsoft.com/office/drawing/2014/main" id="{3607E2AB-F758-11B8-483B-A1850E3E732B}"/>
              </a:ext>
            </a:extLst>
          </p:cNvPr>
          <p:cNvSpPr/>
          <p:nvPr/>
        </p:nvSpPr>
        <p:spPr>
          <a:xfrm>
            <a:off x="914400" y="685800"/>
            <a:ext cx="127000" cy="127000"/>
          </a:xfrm>
          <a:prstGeom prst="rect">
            <a:avLst/>
          </a:prstGeom>
          <a:solidFill>
            <a:srgbClr val="CD702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kicker-7-label">
            <a:extLst>
              <a:ext uri="{FF2B5EF4-FFF2-40B4-BE49-F238E27FC236}">
                <a16:creationId xmlns:a16="http://schemas.microsoft.com/office/drawing/2014/main" id="{667A03F7-7BBA-C3CF-24D3-01AC50BB13D0}"/>
              </a:ext>
            </a:extLst>
          </p:cNvPr>
          <p:cNvSpPr txBox="1"/>
          <p:nvPr/>
        </p:nvSpPr>
        <p:spPr>
          <a:xfrm>
            <a:off x="1193800" y="596900"/>
            <a:ext cx="6604000" cy="230832"/>
          </a:xfrm>
          <a:prstGeom prst="rect">
            <a:avLst/>
          </a:prstGeom>
          <a:noFill/>
        </p:spPr>
        <p:txBody>
          <a:bodyPr vert="horz" wrap="square" lIns="0" tIns="0" rIns="0" bIns="0" rtlCol="0">
            <a:spAutoFit/>
          </a:bodyPr>
          <a:lstStyle/>
          <a:p>
            <a:r>
              <a:rPr lang="en-US" sz="1500" b="1" cap="all">
                <a:solidFill>
                  <a:srgbClr val="CD7027"/>
                </a:solidFill>
                <a:latin typeface="Aptos" panose="020B0004020202020204" pitchFamily="34" charset="0"/>
              </a:rPr>
              <a:t>TUẦN 4</a:t>
            </a:r>
          </a:p>
        </p:txBody>
      </p:sp>
      <p:sp>
        <p:nvSpPr>
          <p:cNvPr id="4" name="slide-title">
            <a:extLst>
              <a:ext uri="{FF2B5EF4-FFF2-40B4-BE49-F238E27FC236}">
                <a16:creationId xmlns:a16="http://schemas.microsoft.com/office/drawing/2014/main" id="{3E59DF54-BEFB-E6F8-6E84-697BC9E60735}"/>
              </a:ext>
            </a:extLst>
          </p:cNvPr>
          <p:cNvSpPr txBox="1"/>
          <p:nvPr/>
        </p:nvSpPr>
        <p:spPr>
          <a:xfrm>
            <a:off x="914400" y="1041400"/>
            <a:ext cx="13208000" cy="1169551"/>
          </a:xfrm>
          <a:prstGeom prst="rect">
            <a:avLst/>
          </a:prstGeom>
          <a:noFill/>
        </p:spPr>
        <p:txBody>
          <a:bodyPr vert="horz" wrap="square" lIns="0" tIns="0" rIns="0" bIns="0" rtlCol="0">
            <a:spAutoFit/>
          </a:bodyPr>
          <a:lstStyle/>
          <a:p>
            <a:r>
              <a:rPr lang="vi-VN" sz="3800" b="1">
                <a:solidFill>
                  <a:srgbClr val="171F2A"/>
                </a:solidFill>
                <a:latin typeface="Aptos" panose="020B0004020202020204" pitchFamily="34" charset="0"/>
              </a:rPr>
              <a:t>Authentication &amp; Authorization đã vượt mức bắt buộc nhờ refresh token và role matrix.</a:t>
            </a:r>
            <a:endParaRPr lang="en-US" sz="3800" b="1">
              <a:solidFill>
                <a:srgbClr val="171F2A"/>
              </a:solidFill>
              <a:latin typeface="Aptos" panose="020B0004020202020204" pitchFamily="34" charset="0"/>
            </a:endParaRPr>
          </a:p>
        </p:txBody>
      </p:sp>
      <p:sp>
        <p:nvSpPr>
          <p:cNvPr id="5" name="slide-subtitle">
            <a:extLst>
              <a:ext uri="{FF2B5EF4-FFF2-40B4-BE49-F238E27FC236}">
                <a16:creationId xmlns:a16="http://schemas.microsoft.com/office/drawing/2014/main" id="{5DA947FF-420F-F8AC-9F97-3749A935EA50}"/>
              </a:ext>
            </a:extLst>
          </p:cNvPr>
          <p:cNvSpPr txBox="1"/>
          <p:nvPr/>
        </p:nvSpPr>
        <p:spPr>
          <a:xfrm>
            <a:off x="914400" y="2286000"/>
            <a:ext cx="12446000" cy="307777"/>
          </a:xfrm>
          <a:prstGeom prst="rect">
            <a:avLst/>
          </a:prstGeom>
          <a:noFill/>
        </p:spPr>
        <p:txBody>
          <a:bodyPr vert="horz" wrap="square" lIns="0" tIns="0" rIns="0" bIns="0" rtlCol="0">
            <a:spAutoFit/>
          </a:bodyPr>
          <a:lstStyle/>
          <a:p>
            <a:r>
              <a:rPr lang="en-US" sz="2000">
                <a:solidFill>
                  <a:srgbClr val="5B6574"/>
                </a:solidFill>
                <a:latin typeface="Aptos" panose="020B0004020202020204" pitchFamily="34" charset="0"/>
              </a:rPr>
              <a:t>Roadmap bắt buộc login/register, JWT, password hashing, protected APIs và role-based authorization.</a:t>
            </a:r>
          </a:p>
        </p:txBody>
      </p:sp>
      <p:sp>
        <p:nvSpPr>
          <p:cNvPr id="6" name="TextBox 5">
            <a:extLst>
              <a:ext uri="{FF2B5EF4-FFF2-40B4-BE49-F238E27FC236}">
                <a16:creationId xmlns:a16="http://schemas.microsoft.com/office/drawing/2014/main" id="{48D4E784-331A-70C5-7A8A-9467CE32F412}"/>
              </a:ext>
            </a:extLst>
          </p:cNvPr>
          <p:cNvSpPr txBox="1"/>
          <p:nvPr/>
        </p:nvSpPr>
        <p:spPr>
          <a:xfrm>
            <a:off x="1219200" y="2895600"/>
            <a:ext cx="2540000" cy="230832"/>
          </a:xfrm>
          <a:prstGeom prst="rect">
            <a:avLst/>
          </a:prstGeom>
          <a:noFill/>
        </p:spPr>
        <p:txBody>
          <a:bodyPr vert="horz" wrap="square" lIns="0" tIns="0" rIns="0" bIns="0" rtlCol="0">
            <a:spAutoFit/>
          </a:bodyPr>
          <a:lstStyle/>
          <a:p>
            <a:r>
              <a:rPr lang="en-US" sz="1500" b="1">
                <a:solidFill>
                  <a:srgbClr val="5B6574"/>
                </a:solidFill>
                <a:latin typeface="Aptos" panose="020B0004020202020204" pitchFamily="34" charset="0"/>
              </a:rPr>
              <a:t>Yêu cầu</a:t>
            </a:r>
          </a:p>
        </p:txBody>
      </p:sp>
      <p:sp>
        <p:nvSpPr>
          <p:cNvPr id="7" name="TextBox 6">
            <a:extLst>
              <a:ext uri="{FF2B5EF4-FFF2-40B4-BE49-F238E27FC236}">
                <a16:creationId xmlns:a16="http://schemas.microsoft.com/office/drawing/2014/main" id="{534858EE-455D-55C3-AF9F-D30CCE5B0C68}"/>
              </a:ext>
            </a:extLst>
          </p:cNvPr>
          <p:cNvSpPr txBox="1"/>
          <p:nvPr/>
        </p:nvSpPr>
        <p:spPr>
          <a:xfrm>
            <a:off x="4038600" y="2895600"/>
            <a:ext cx="5715000" cy="230832"/>
          </a:xfrm>
          <a:prstGeom prst="rect">
            <a:avLst/>
          </a:prstGeom>
          <a:noFill/>
        </p:spPr>
        <p:txBody>
          <a:bodyPr vert="horz" wrap="square" lIns="0" tIns="0" rIns="0" bIns="0" rtlCol="0">
            <a:spAutoFit/>
          </a:bodyPr>
          <a:lstStyle/>
          <a:p>
            <a:r>
              <a:rPr lang="en-US" sz="1500" b="1">
                <a:solidFill>
                  <a:srgbClr val="5B6574"/>
                </a:solidFill>
                <a:latin typeface="Aptos" panose="020B0004020202020204" pitchFamily="34" charset="0"/>
              </a:rPr>
              <a:t>Bằng chứng triển khai</a:t>
            </a:r>
          </a:p>
        </p:txBody>
      </p:sp>
      <p:sp>
        <p:nvSpPr>
          <p:cNvPr id="8" name="TextBox 7">
            <a:extLst>
              <a:ext uri="{FF2B5EF4-FFF2-40B4-BE49-F238E27FC236}">
                <a16:creationId xmlns:a16="http://schemas.microsoft.com/office/drawing/2014/main" id="{3CE39907-5AF5-A35E-FE84-F1D76A2532E5}"/>
              </a:ext>
            </a:extLst>
          </p:cNvPr>
          <p:cNvSpPr txBox="1"/>
          <p:nvPr/>
        </p:nvSpPr>
        <p:spPr>
          <a:xfrm>
            <a:off x="13741400" y="2895600"/>
            <a:ext cx="1524000" cy="230832"/>
          </a:xfrm>
          <a:prstGeom prst="rect">
            <a:avLst/>
          </a:prstGeom>
          <a:noFill/>
        </p:spPr>
        <p:txBody>
          <a:bodyPr vert="horz" wrap="square" lIns="0" tIns="0" rIns="0" bIns="0" rtlCol="0">
            <a:spAutoFit/>
          </a:bodyPr>
          <a:lstStyle/>
          <a:p>
            <a:r>
              <a:rPr lang="en-US" sz="1500" b="1">
                <a:solidFill>
                  <a:srgbClr val="5B6574"/>
                </a:solidFill>
                <a:latin typeface="Aptos" panose="020B0004020202020204" pitchFamily="34" charset="0"/>
              </a:rPr>
              <a:t>Tình trạng</a:t>
            </a:r>
          </a:p>
        </p:txBody>
      </p:sp>
      <p:sp>
        <p:nvSpPr>
          <p:cNvPr id="9" name="TextBox 8">
            <a:extLst>
              <a:ext uri="{FF2B5EF4-FFF2-40B4-BE49-F238E27FC236}">
                <a16:creationId xmlns:a16="http://schemas.microsoft.com/office/drawing/2014/main" id="{641CB5D9-2A15-03F1-0961-C642F7F3E649}"/>
              </a:ext>
            </a:extLst>
          </p:cNvPr>
          <p:cNvSpPr txBox="1"/>
          <p:nvPr/>
        </p:nvSpPr>
        <p:spPr>
          <a:xfrm>
            <a:off x="1219200" y="3429000"/>
            <a:ext cx="2667000" cy="276999"/>
          </a:xfrm>
          <a:prstGeom prst="rect">
            <a:avLst/>
          </a:prstGeom>
          <a:noFill/>
        </p:spPr>
        <p:txBody>
          <a:bodyPr vert="horz" wrap="square" lIns="0" tIns="0" rIns="0" bIns="0" rtlCol="0">
            <a:spAutoFit/>
          </a:bodyPr>
          <a:lstStyle/>
          <a:p>
            <a:r>
              <a:rPr lang="en-US" b="1">
                <a:solidFill>
                  <a:srgbClr val="171F2A"/>
                </a:solidFill>
                <a:latin typeface="Aptos" panose="020B0004020202020204" pitchFamily="34" charset="0"/>
              </a:rPr>
              <a:t>JWT Auth</a:t>
            </a:r>
          </a:p>
        </p:txBody>
      </p:sp>
      <p:sp>
        <p:nvSpPr>
          <p:cNvPr id="10" name="TextBox 9">
            <a:extLst>
              <a:ext uri="{FF2B5EF4-FFF2-40B4-BE49-F238E27FC236}">
                <a16:creationId xmlns:a16="http://schemas.microsoft.com/office/drawing/2014/main" id="{2357EDE1-7290-DE56-D5A7-99B0E7F77112}"/>
              </a:ext>
            </a:extLst>
          </p:cNvPr>
          <p:cNvSpPr txBox="1"/>
          <p:nvPr/>
        </p:nvSpPr>
        <p:spPr>
          <a:xfrm>
            <a:off x="4038600" y="3429000"/>
            <a:ext cx="4381500" cy="261610"/>
          </a:xfrm>
          <a:prstGeom prst="rect">
            <a:avLst/>
          </a:prstGeom>
          <a:noFill/>
        </p:spPr>
        <p:txBody>
          <a:bodyPr vert="horz" wrap="square" lIns="0" tIns="0" rIns="0" bIns="0" rtlCol="0">
            <a:spAutoFit/>
          </a:bodyPr>
          <a:lstStyle/>
          <a:p>
            <a:r>
              <a:rPr lang="en-US" sz="1700">
                <a:solidFill>
                  <a:srgbClr val="5B6574"/>
                </a:solidFill>
                <a:latin typeface="Aptos" panose="020B0004020202020204" pitchFamily="34" charset="0"/>
              </a:rPr>
              <a:t>JWT bearer, issuer, audience, lifetime</a:t>
            </a:r>
          </a:p>
        </p:txBody>
      </p:sp>
      <p:sp>
        <p:nvSpPr>
          <p:cNvPr id="11" name="TextBox 10">
            <a:extLst>
              <a:ext uri="{FF2B5EF4-FFF2-40B4-BE49-F238E27FC236}">
                <a16:creationId xmlns:a16="http://schemas.microsoft.com/office/drawing/2014/main" id="{8A747F33-1431-18EE-C878-311FA0EF8B5C}"/>
              </a:ext>
            </a:extLst>
          </p:cNvPr>
          <p:cNvSpPr txBox="1"/>
          <p:nvPr/>
        </p:nvSpPr>
        <p:spPr>
          <a:xfrm>
            <a:off x="8788400" y="3429000"/>
            <a:ext cx="4572000" cy="523220"/>
          </a:xfrm>
          <a:prstGeom prst="rect">
            <a:avLst/>
          </a:prstGeom>
          <a:noFill/>
        </p:spPr>
        <p:txBody>
          <a:bodyPr vert="horz" wrap="square" lIns="0" tIns="0" rIns="0" bIns="0" rtlCol="0">
            <a:spAutoFit/>
          </a:bodyPr>
          <a:lstStyle/>
          <a:p>
            <a:r>
              <a:rPr lang="en-US" sz="1700">
                <a:solidFill>
                  <a:srgbClr val="171F2A"/>
                </a:solidFill>
                <a:latin typeface="Aptos" panose="020B0004020202020204" pitchFamily="34" charset="0"/>
              </a:rPr>
              <a:t>Program.cs cấu hình JwtBearer, HmacSha256, ClockSkew = 0, Swagger Bearer.</a:t>
            </a:r>
          </a:p>
        </p:txBody>
      </p:sp>
      <p:sp>
        <p:nvSpPr>
          <p:cNvPr id="12" name="Rectangle: Rounded Corners 11">
            <a:extLst>
              <a:ext uri="{FF2B5EF4-FFF2-40B4-BE49-F238E27FC236}">
                <a16:creationId xmlns:a16="http://schemas.microsoft.com/office/drawing/2014/main" id="{EB145772-EC11-6EDC-7FB4-7F133D6D9354}"/>
              </a:ext>
            </a:extLst>
          </p:cNvPr>
          <p:cNvSpPr/>
          <p:nvPr/>
        </p:nvSpPr>
        <p:spPr>
          <a:xfrm>
            <a:off x="13690600" y="3454400"/>
            <a:ext cx="1473200" cy="355600"/>
          </a:xfrm>
          <a:prstGeom prst="roundRect">
            <a:avLst/>
          </a:prstGeom>
          <a:solidFill>
            <a:srgbClr val="1C805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FFFFFF"/>
                </a:solidFill>
                <a:latin typeface="Aptos" panose="020B0004020202020204" pitchFamily="34" charset="0"/>
              </a:rPr>
              <a:t>Đạt</a:t>
            </a:r>
          </a:p>
        </p:txBody>
      </p:sp>
      <p:sp>
        <p:nvSpPr>
          <p:cNvPr id="13" name="TextBox 12">
            <a:extLst>
              <a:ext uri="{FF2B5EF4-FFF2-40B4-BE49-F238E27FC236}">
                <a16:creationId xmlns:a16="http://schemas.microsoft.com/office/drawing/2014/main" id="{AA0E62DA-9FA9-7CC0-EC4F-010DD4117F5A}"/>
              </a:ext>
            </a:extLst>
          </p:cNvPr>
          <p:cNvSpPr txBox="1"/>
          <p:nvPr/>
        </p:nvSpPr>
        <p:spPr>
          <a:xfrm>
            <a:off x="1219200" y="4318000"/>
            <a:ext cx="2667000" cy="276999"/>
          </a:xfrm>
          <a:prstGeom prst="rect">
            <a:avLst/>
          </a:prstGeom>
          <a:noFill/>
        </p:spPr>
        <p:txBody>
          <a:bodyPr vert="horz" wrap="square" lIns="0" tIns="0" rIns="0" bIns="0" rtlCol="0">
            <a:spAutoFit/>
          </a:bodyPr>
          <a:lstStyle/>
          <a:p>
            <a:r>
              <a:rPr lang="en-US" b="1">
                <a:solidFill>
                  <a:srgbClr val="171F2A"/>
                </a:solidFill>
                <a:latin typeface="Aptos" panose="020B0004020202020204" pitchFamily="34" charset="0"/>
              </a:rPr>
              <a:t>Login/Register</a:t>
            </a:r>
          </a:p>
        </p:txBody>
      </p:sp>
      <p:sp>
        <p:nvSpPr>
          <p:cNvPr id="14" name="TextBox 13">
            <a:extLst>
              <a:ext uri="{FF2B5EF4-FFF2-40B4-BE49-F238E27FC236}">
                <a16:creationId xmlns:a16="http://schemas.microsoft.com/office/drawing/2014/main" id="{1AF43325-D62C-4E75-A255-F41FECDB1A10}"/>
              </a:ext>
            </a:extLst>
          </p:cNvPr>
          <p:cNvSpPr txBox="1"/>
          <p:nvPr/>
        </p:nvSpPr>
        <p:spPr>
          <a:xfrm>
            <a:off x="4038600" y="4318000"/>
            <a:ext cx="4381500" cy="261610"/>
          </a:xfrm>
          <a:prstGeom prst="rect">
            <a:avLst/>
          </a:prstGeom>
          <a:noFill/>
        </p:spPr>
        <p:txBody>
          <a:bodyPr vert="horz" wrap="square" lIns="0" tIns="0" rIns="0" bIns="0" rtlCol="0">
            <a:spAutoFit/>
          </a:bodyPr>
          <a:lstStyle/>
          <a:p>
            <a:r>
              <a:rPr lang="en-US" sz="1700">
                <a:solidFill>
                  <a:srgbClr val="5B6574"/>
                </a:solidFill>
                <a:latin typeface="Aptos" panose="020B0004020202020204" pitchFamily="34" charset="0"/>
              </a:rPr>
              <a:t>API login/register</a:t>
            </a:r>
          </a:p>
        </p:txBody>
      </p:sp>
      <p:sp>
        <p:nvSpPr>
          <p:cNvPr id="15" name="TextBox 14">
            <a:extLst>
              <a:ext uri="{FF2B5EF4-FFF2-40B4-BE49-F238E27FC236}">
                <a16:creationId xmlns:a16="http://schemas.microsoft.com/office/drawing/2014/main" id="{FD22B0D3-7960-2BAA-AED3-F62973E0C230}"/>
              </a:ext>
            </a:extLst>
          </p:cNvPr>
          <p:cNvSpPr txBox="1"/>
          <p:nvPr/>
        </p:nvSpPr>
        <p:spPr>
          <a:xfrm>
            <a:off x="8788400" y="4318000"/>
            <a:ext cx="4572000" cy="523220"/>
          </a:xfrm>
          <a:prstGeom prst="rect">
            <a:avLst/>
          </a:prstGeom>
          <a:noFill/>
        </p:spPr>
        <p:txBody>
          <a:bodyPr vert="horz" wrap="square" lIns="0" tIns="0" rIns="0" bIns="0" rtlCol="0">
            <a:spAutoFit/>
          </a:bodyPr>
          <a:lstStyle/>
          <a:p>
            <a:r>
              <a:rPr lang="vi-VN" sz="1700">
                <a:solidFill>
                  <a:srgbClr val="171F2A"/>
                </a:solidFill>
                <a:latin typeface="Aptos" panose="020B0004020202020204" pitchFamily="34" charset="0"/>
              </a:rPr>
              <a:t>AuthController có /login, /register; register chỉ Admin được tạo user.</a:t>
            </a:r>
            <a:endParaRPr lang="en-US" sz="1700">
              <a:solidFill>
                <a:srgbClr val="171F2A"/>
              </a:solidFill>
              <a:latin typeface="Aptos" panose="020B0004020202020204" pitchFamily="34" charset="0"/>
            </a:endParaRPr>
          </a:p>
        </p:txBody>
      </p:sp>
      <p:sp>
        <p:nvSpPr>
          <p:cNvPr id="16" name="Rectangle: Rounded Corners 15">
            <a:extLst>
              <a:ext uri="{FF2B5EF4-FFF2-40B4-BE49-F238E27FC236}">
                <a16:creationId xmlns:a16="http://schemas.microsoft.com/office/drawing/2014/main" id="{6B92B880-F2E3-85F1-ACBA-D0C2800F8252}"/>
              </a:ext>
            </a:extLst>
          </p:cNvPr>
          <p:cNvSpPr/>
          <p:nvPr/>
        </p:nvSpPr>
        <p:spPr>
          <a:xfrm>
            <a:off x="13690600" y="4343400"/>
            <a:ext cx="1473200" cy="355600"/>
          </a:xfrm>
          <a:prstGeom prst="roundRect">
            <a:avLst/>
          </a:prstGeom>
          <a:solidFill>
            <a:srgbClr val="1C805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FFFFFF"/>
                </a:solidFill>
                <a:latin typeface="Aptos" panose="020B0004020202020204" pitchFamily="34" charset="0"/>
              </a:rPr>
              <a:t>Đạt</a:t>
            </a:r>
          </a:p>
        </p:txBody>
      </p:sp>
      <p:sp>
        <p:nvSpPr>
          <p:cNvPr id="17" name="TextBox 16">
            <a:extLst>
              <a:ext uri="{FF2B5EF4-FFF2-40B4-BE49-F238E27FC236}">
                <a16:creationId xmlns:a16="http://schemas.microsoft.com/office/drawing/2014/main" id="{3705BE43-82AF-72A3-47BE-8425E4C20EAB}"/>
              </a:ext>
            </a:extLst>
          </p:cNvPr>
          <p:cNvSpPr txBox="1"/>
          <p:nvPr/>
        </p:nvSpPr>
        <p:spPr>
          <a:xfrm>
            <a:off x="1219200" y="5207000"/>
            <a:ext cx="2667000" cy="276999"/>
          </a:xfrm>
          <a:prstGeom prst="rect">
            <a:avLst/>
          </a:prstGeom>
          <a:noFill/>
        </p:spPr>
        <p:txBody>
          <a:bodyPr vert="horz" wrap="square" lIns="0" tIns="0" rIns="0" bIns="0" rtlCol="0">
            <a:spAutoFit/>
          </a:bodyPr>
          <a:lstStyle/>
          <a:p>
            <a:r>
              <a:rPr lang="en-US" b="1">
                <a:solidFill>
                  <a:srgbClr val="171F2A"/>
                </a:solidFill>
                <a:latin typeface="Aptos" panose="020B0004020202020204" pitchFamily="34" charset="0"/>
              </a:rPr>
              <a:t>Password hash</a:t>
            </a:r>
          </a:p>
        </p:txBody>
      </p:sp>
      <p:sp>
        <p:nvSpPr>
          <p:cNvPr id="18" name="TextBox 17">
            <a:extLst>
              <a:ext uri="{FF2B5EF4-FFF2-40B4-BE49-F238E27FC236}">
                <a16:creationId xmlns:a16="http://schemas.microsoft.com/office/drawing/2014/main" id="{0B132CE9-F9C6-DF27-063B-C686E8A48193}"/>
              </a:ext>
            </a:extLst>
          </p:cNvPr>
          <p:cNvSpPr txBox="1"/>
          <p:nvPr/>
        </p:nvSpPr>
        <p:spPr>
          <a:xfrm>
            <a:off x="4038600" y="5207000"/>
            <a:ext cx="4381500" cy="261610"/>
          </a:xfrm>
          <a:prstGeom prst="rect">
            <a:avLst/>
          </a:prstGeom>
          <a:noFill/>
        </p:spPr>
        <p:txBody>
          <a:bodyPr vert="horz" wrap="square" lIns="0" tIns="0" rIns="0" bIns="0" rtlCol="0">
            <a:spAutoFit/>
          </a:bodyPr>
          <a:lstStyle/>
          <a:p>
            <a:r>
              <a:rPr lang="en-US" sz="1700">
                <a:solidFill>
                  <a:srgbClr val="5B6574"/>
                </a:solidFill>
                <a:latin typeface="Aptos" panose="020B0004020202020204" pitchFamily="34" charset="0"/>
              </a:rPr>
              <a:t>Hash mật khẩu</a:t>
            </a:r>
          </a:p>
        </p:txBody>
      </p:sp>
      <p:sp>
        <p:nvSpPr>
          <p:cNvPr id="19" name="TextBox 18">
            <a:extLst>
              <a:ext uri="{FF2B5EF4-FFF2-40B4-BE49-F238E27FC236}">
                <a16:creationId xmlns:a16="http://schemas.microsoft.com/office/drawing/2014/main" id="{BF3C4B99-B49C-171D-76C5-4A213DF4EEC8}"/>
              </a:ext>
            </a:extLst>
          </p:cNvPr>
          <p:cNvSpPr txBox="1"/>
          <p:nvPr/>
        </p:nvSpPr>
        <p:spPr>
          <a:xfrm>
            <a:off x="8788400" y="5207000"/>
            <a:ext cx="4572000" cy="523220"/>
          </a:xfrm>
          <a:prstGeom prst="rect">
            <a:avLst/>
          </a:prstGeom>
          <a:noFill/>
        </p:spPr>
        <p:txBody>
          <a:bodyPr vert="horz" wrap="square" lIns="0" tIns="0" rIns="0" bIns="0" rtlCol="0">
            <a:spAutoFit/>
          </a:bodyPr>
          <a:lstStyle/>
          <a:p>
            <a:r>
              <a:rPr lang="en-US" sz="1700">
                <a:solidFill>
                  <a:srgbClr val="171F2A"/>
                </a:solidFill>
                <a:latin typeface="Aptos" panose="020B0004020202020204" pitchFamily="34" charset="0"/>
              </a:rPr>
              <a:t>AuthService dùng BCrypt.Net BCrypt.HashPassword work factor 12 và Verify.</a:t>
            </a:r>
          </a:p>
        </p:txBody>
      </p:sp>
      <p:sp>
        <p:nvSpPr>
          <p:cNvPr id="20" name="Rectangle: Rounded Corners 19">
            <a:extLst>
              <a:ext uri="{FF2B5EF4-FFF2-40B4-BE49-F238E27FC236}">
                <a16:creationId xmlns:a16="http://schemas.microsoft.com/office/drawing/2014/main" id="{06BE3058-B5EB-12B1-A149-A2D8279FE21A}"/>
              </a:ext>
            </a:extLst>
          </p:cNvPr>
          <p:cNvSpPr/>
          <p:nvPr/>
        </p:nvSpPr>
        <p:spPr>
          <a:xfrm>
            <a:off x="13690600" y="5232400"/>
            <a:ext cx="1473200" cy="355600"/>
          </a:xfrm>
          <a:prstGeom prst="roundRect">
            <a:avLst/>
          </a:prstGeom>
          <a:solidFill>
            <a:srgbClr val="1C805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FFFFFF"/>
                </a:solidFill>
                <a:latin typeface="Aptos" panose="020B0004020202020204" pitchFamily="34" charset="0"/>
              </a:rPr>
              <a:t>Đạt</a:t>
            </a:r>
          </a:p>
        </p:txBody>
      </p:sp>
      <p:sp>
        <p:nvSpPr>
          <p:cNvPr id="21" name="TextBox 20">
            <a:extLst>
              <a:ext uri="{FF2B5EF4-FFF2-40B4-BE49-F238E27FC236}">
                <a16:creationId xmlns:a16="http://schemas.microsoft.com/office/drawing/2014/main" id="{7C63E049-494F-E61C-473D-8FEC13396ED4}"/>
              </a:ext>
            </a:extLst>
          </p:cNvPr>
          <p:cNvSpPr txBox="1"/>
          <p:nvPr/>
        </p:nvSpPr>
        <p:spPr>
          <a:xfrm>
            <a:off x="1219200" y="6096000"/>
            <a:ext cx="2667000" cy="276999"/>
          </a:xfrm>
          <a:prstGeom prst="rect">
            <a:avLst/>
          </a:prstGeom>
          <a:noFill/>
        </p:spPr>
        <p:txBody>
          <a:bodyPr vert="horz" wrap="square" lIns="0" tIns="0" rIns="0" bIns="0" rtlCol="0">
            <a:spAutoFit/>
          </a:bodyPr>
          <a:lstStyle/>
          <a:p>
            <a:r>
              <a:rPr lang="en-US" b="1">
                <a:solidFill>
                  <a:srgbClr val="171F2A"/>
                </a:solidFill>
                <a:latin typeface="Aptos" panose="020B0004020202020204" pitchFamily="34" charset="0"/>
              </a:rPr>
              <a:t>Protected APIs</a:t>
            </a:r>
          </a:p>
        </p:txBody>
      </p:sp>
      <p:sp>
        <p:nvSpPr>
          <p:cNvPr id="22" name="TextBox 21">
            <a:extLst>
              <a:ext uri="{FF2B5EF4-FFF2-40B4-BE49-F238E27FC236}">
                <a16:creationId xmlns:a16="http://schemas.microsoft.com/office/drawing/2014/main" id="{747F5D65-2DFF-E160-39F0-9C0AA27BEDF3}"/>
              </a:ext>
            </a:extLst>
          </p:cNvPr>
          <p:cNvSpPr txBox="1"/>
          <p:nvPr/>
        </p:nvSpPr>
        <p:spPr>
          <a:xfrm>
            <a:off x="4038600" y="6096000"/>
            <a:ext cx="4381500" cy="261610"/>
          </a:xfrm>
          <a:prstGeom prst="rect">
            <a:avLst/>
          </a:prstGeom>
          <a:noFill/>
        </p:spPr>
        <p:txBody>
          <a:bodyPr vert="horz" wrap="square" lIns="0" tIns="0" rIns="0" bIns="0" rtlCol="0">
            <a:spAutoFit/>
          </a:bodyPr>
          <a:lstStyle/>
          <a:p>
            <a:r>
              <a:rPr lang="en-US" sz="1700">
                <a:solidFill>
                  <a:srgbClr val="5B6574"/>
                </a:solidFill>
                <a:latin typeface="Aptos" panose="020B0004020202020204" pitchFamily="34" charset="0"/>
              </a:rPr>
              <a:t>Chặn API cần token</a:t>
            </a:r>
          </a:p>
        </p:txBody>
      </p:sp>
      <p:sp>
        <p:nvSpPr>
          <p:cNvPr id="23" name="TextBox 22">
            <a:extLst>
              <a:ext uri="{FF2B5EF4-FFF2-40B4-BE49-F238E27FC236}">
                <a16:creationId xmlns:a16="http://schemas.microsoft.com/office/drawing/2014/main" id="{7C3A2CC3-9CB8-0A7E-F06E-40FAD561CAB0}"/>
              </a:ext>
            </a:extLst>
          </p:cNvPr>
          <p:cNvSpPr txBox="1"/>
          <p:nvPr/>
        </p:nvSpPr>
        <p:spPr>
          <a:xfrm>
            <a:off x="8788400" y="6096000"/>
            <a:ext cx="4572000" cy="523220"/>
          </a:xfrm>
          <a:prstGeom prst="rect">
            <a:avLst/>
          </a:prstGeom>
          <a:noFill/>
        </p:spPr>
        <p:txBody>
          <a:bodyPr vert="horz" wrap="square" lIns="0" tIns="0" rIns="0" bIns="0" rtlCol="0">
            <a:spAutoFit/>
          </a:bodyPr>
          <a:lstStyle/>
          <a:p>
            <a:r>
              <a:rPr lang="en-US" sz="1700">
                <a:solidFill>
                  <a:srgbClr val="171F2A"/>
                </a:solidFill>
                <a:latin typeface="Aptos" panose="020B0004020202020204" pitchFamily="34" charset="0"/>
              </a:rPr>
              <a:t>Controllers dùng [Authorize]; /me, change-password, logout yêu cầu token.</a:t>
            </a:r>
          </a:p>
        </p:txBody>
      </p:sp>
      <p:sp>
        <p:nvSpPr>
          <p:cNvPr id="24" name="Rectangle: Rounded Corners 23">
            <a:extLst>
              <a:ext uri="{FF2B5EF4-FFF2-40B4-BE49-F238E27FC236}">
                <a16:creationId xmlns:a16="http://schemas.microsoft.com/office/drawing/2014/main" id="{8838937B-80D3-BDF4-871F-EE1B971952CA}"/>
              </a:ext>
            </a:extLst>
          </p:cNvPr>
          <p:cNvSpPr/>
          <p:nvPr/>
        </p:nvSpPr>
        <p:spPr>
          <a:xfrm>
            <a:off x="13690600" y="6121400"/>
            <a:ext cx="1473200" cy="355600"/>
          </a:xfrm>
          <a:prstGeom prst="roundRect">
            <a:avLst/>
          </a:prstGeom>
          <a:solidFill>
            <a:srgbClr val="1C805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FFFFFF"/>
                </a:solidFill>
                <a:latin typeface="Aptos" panose="020B0004020202020204" pitchFamily="34" charset="0"/>
              </a:rPr>
              <a:t>Đạt</a:t>
            </a:r>
          </a:p>
        </p:txBody>
      </p:sp>
      <p:sp>
        <p:nvSpPr>
          <p:cNvPr id="25" name="TextBox 24">
            <a:extLst>
              <a:ext uri="{FF2B5EF4-FFF2-40B4-BE49-F238E27FC236}">
                <a16:creationId xmlns:a16="http://schemas.microsoft.com/office/drawing/2014/main" id="{4198B546-632C-1CAA-03C7-621FC2CF6333}"/>
              </a:ext>
            </a:extLst>
          </p:cNvPr>
          <p:cNvSpPr txBox="1"/>
          <p:nvPr/>
        </p:nvSpPr>
        <p:spPr>
          <a:xfrm>
            <a:off x="1219200" y="6985000"/>
            <a:ext cx="2667000" cy="276999"/>
          </a:xfrm>
          <a:prstGeom prst="rect">
            <a:avLst/>
          </a:prstGeom>
          <a:noFill/>
        </p:spPr>
        <p:txBody>
          <a:bodyPr vert="horz" wrap="square" lIns="0" tIns="0" rIns="0" bIns="0" rtlCol="0">
            <a:spAutoFit/>
          </a:bodyPr>
          <a:lstStyle/>
          <a:p>
            <a:r>
              <a:rPr lang="en-US" b="1">
                <a:solidFill>
                  <a:srgbClr val="171F2A"/>
                </a:solidFill>
                <a:latin typeface="Aptos" panose="020B0004020202020204" pitchFamily="34" charset="0"/>
              </a:rPr>
              <a:t>Refresh token</a:t>
            </a:r>
          </a:p>
        </p:txBody>
      </p:sp>
      <p:sp>
        <p:nvSpPr>
          <p:cNvPr id="26" name="TextBox 25">
            <a:extLst>
              <a:ext uri="{FF2B5EF4-FFF2-40B4-BE49-F238E27FC236}">
                <a16:creationId xmlns:a16="http://schemas.microsoft.com/office/drawing/2014/main" id="{B3EB0D17-F95C-23D1-4E42-18254ADCB9A8}"/>
              </a:ext>
            </a:extLst>
          </p:cNvPr>
          <p:cNvSpPr txBox="1"/>
          <p:nvPr/>
        </p:nvSpPr>
        <p:spPr>
          <a:xfrm>
            <a:off x="4038600" y="6985000"/>
            <a:ext cx="4381500" cy="261610"/>
          </a:xfrm>
          <a:prstGeom prst="rect">
            <a:avLst/>
          </a:prstGeom>
          <a:noFill/>
        </p:spPr>
        <p:txBody>
          <a:bodyPr vert="horz" wrap="square" lIns="0" tIns="0" rIns="0" bIns="0" rtlCol="0">
            <a:spAutoFit/>
          </a:bodyPr>
          <a:lstStyle/>
          <a:p>
            <a:r>
              <a:rPr lang="en-US" sz="1700">
                <a:solidFill>
                  <a:srgbClr val="5B6574"/>
                </a:solidFill>
                <a:latin typeface="Aptos" panose="020B0004020202020204" pitchFamily="34" charset="0"/>
              </a:rPr>
              <a:t>Khuyến khích</a:t>
            </a:r>
          </a:p>
        </p:txBody>
      </p:sp>
      <p:sp>
        <p:nvSpPr>
          <p:cNvPr id="27" name="TextBox 26">
            <a:extLst>
              <a:ext uri="{FF2B5EF4-FFF2-40B4-BE49-F238E27FC236}">
                <a16:creationId xmlns:a16="http://schemas.microsoft.com/office/drawing/2014/main" id="{D166DD4A-30B0-6922-7986-D00B011C4849}"/>
              </a:ext>
            </a:extLst>
          </p:cNvPr>
          <p:cNvSpPr txBox="1"/>
          <p:nvPr/>
        </p:nvSpPr>
        <p:spPr>
          <a:xfrm>
            <a:off x="8788400" y="6985000"/>
            <a:ext cx="4572000" cy="523220"/>
          </a:xfrm>
          <a:prstGeom prst="rect">
            <a:avLst/>
          </a:prstGeom>
          <a:noFill/>
        </p:spPr>
        <p:txBody>
          <a:bodyPr vert="horz" wrap="square" lIns="0" tIns="0" rIns="0" bIns="0" rtlCol="0">
            <a:spAutoFit/>
          </a:bodyPr>
          <a:lstStyle/>
          <a:p>
            <a:r>
              <a:rPr lang="vi-VN" sz="1700">
                <a:solidFill>
                  <a:srgbClr val="171F2A"/>
                </a:solidFill>
                <a:latin typeface="Aptos" panose="020B0004020202020204" pitchFamily="34" charset="0"/>
              </a:rPr>
              <a:t>Có refresh-token, logout revoke token, lưu hash refresh token bằng SHA-256.</a:t>
            </a:r>
            <a:endParaRPr lang="en-US" sz="1700">
              <a:solidFill>
                <a:srgbClr val="171F2A"/>
              </a:solidFill>
              <a:latin typeface="Aptos" panose="020B0004020202020204" pitchFamily="34" charset="0"/>
            </a:endParaRPr>
          </a:p>
        </p:txBody>
      </p:sp>
      <p:sp>
        <p:nvSpPr>
          <p:cNvPr id="28" name="Rectangle: Rounded Corners 27">
            <a:extLst>
              <a:ext uri="{FF2B5EF4-FFF2-40B4-BE49-F238E27FC236}">
                <a16:creationId xmlns:a16="http://schemas.microsoft.com/office/drawing/2014/main" id="{5191AA1D-F38C-5D22-D559-BD625A5E4132}"/>
              </a:ext>
            </a:extLst>
          </p:cNvPr>
          <p:cNvSpPr/>
          <p:nvPr/>
        </p:nvSpPr>
        <p:spPr>
          <a:xfrm>
            <a:off x="13690600" y="7010400"/>
            <a:ext cx="1473200" cy="355600"/>
          </a:xfrm>
          <a:prstGeom prst="roundRect">
            <a:avLst/>
          </a:prstGeom>
          <a:solidFill>
            <a:srgbClr val="2D5DA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300" b="1">
                <a:solidFill>
                  <a:srgbClr val="FFFFFF"/>
                </a:solidFill>
                <a:latin typeface="Aptos" panose="020B0004020202020204" pitchFamily="34" charset="0"/>
              </a:rPr>
              <a:t>Vượt yêu cầu</a:t>
            </a:r>
            <a:endParaRPr lang="en-US" sz="1300" b="1">
              <a:solidFill>
                <a:srgbClr val="FFFFFF"/>
              </a:solidFill>
              <a:latin typeface="Aptos" panose="020B0004020202020204" pitchFamily="34" charset="0"/>
            </a:endParaRPr>
          </a:p>
        </p:txBody>
      </p:sp>
      <p:cxnSp>
        <p:nvCxnSpPr>
          <p:cNvPr id="29" name="Straight Connector 28">
            <a:extLst>
              <a:ext uri="{FF2B5EF4-FFF2-40B4-BE49-F238E27FC236}">
                <a16:creationId xmlns:a16="http://schemas.microsoft.com/office/drawing/2014/main" id="{35F2BFA6-5C20-BA61-F7E2-3F784D72F148}"/>
              </a:ext>
            </a:extLst>
          </p:cNvPr>
          <p:cNvCxnSpPr/>
          <p:nvPr/>
        </p:nvCxnSpPr>
        <p:spPr>
          <a:xfrm>
            <a:off x="914400" y="8509000"/>
            <a:ext cx="14452600" cy="0"/>
          </a:xfrm>
          <a:prstGeom prst="line">
            <a:avLst/>
          </a:prstGeom>
          <a:ln w="12700">
            <a:solidFill>
              <a:srgbClr val="D6DBE1"/>
            </a:solidFill>
          </a:ln>
        </p:spPr>
        <p:style>
          <a:lnRef idx="1">
            <a:schemeClr val="accent1"/>
          </a:lnRef>
          <a:fillRef idx="0">
            <a:schemeClr val="accent1"/>
          </a:fillRef>
          <a:effectRef idx="0">
            <a:schemeClr val="accent1"/>
          </a:effectRef>
          <a:fontRef idx="minor">
            <a:schemeClr val="tx1"/>
          </a:fontRef>
        </p:style>
      </p:cxnSp>
      <p:sp>
        <p:nvSpPr>
          <p:cNvPr id="30" name="footer-source">
            <a:extLst>
              <a:ext uri="{FF2B5EF4-FFF2-40B4-BE49-F238E27FC236}">
                <a16:creationId xmlns:a16="http://schemas.microsoft.com/office/drawing/2014/main" id="{0625CB1C-B94D-0FE4-5BD4-D41481543570}"/>
              </a:ext>
            </a:extLst>
          </p:cNvPr>
          <p:cNvSpPr txBox="1"/>
          <p:nvPr/>
        </p:nvSpPr>
        <p:spPr>
          <a:xfrm>
            <a:off x="914400" y="8661400"/>
            <a:ext cx="7112000" cy="169277"/>
          </a:xfrm>
          <a:prstGeom prst="rect">
            <a:avLst/>
          </a:prstGeom>
          <a:noFill/>
        </p:spPr>
        <p:txBody>
          <a:bodyPr vert="horz" wrap="square" lIns="0" tIns="0" rIns="0" bIns="0" rtlCol="0">
            <a:spAutoFit/>
          </a:bodyPr>
          <a:lstStyle/>
          <a:p>
            <a:r>
              <a:rPr lang="en-US" sz="1100">
                <a:solidFill>
                  <a:srgbClr val="5B6574"/>
                </a:solidFill>
                <a:latin typeface="Aptos" panose="020B0004020202020204" pitchFamily="34" charset="0"/>
              </a:rPr>
              <a:t>PoolHub | Tuần 3-4 backend checkpoint</a:t>
            </a:r>
          </a:p>
        </p:txBody>
      </p:sp>
      <p:sp>
        <p:nvSpPr>
          <p:cNvPr id="31" name="footer-page">
            <a:extLst>
              <a:ext uri="{FF2B5EF4-FFF2-40B4-BE49-F238E27FC236}">
                <a16:creationId xmlns:a16="http://schemas.microsoft.com/office/drawing/2014/main" id="{9BA52213-E158-5E62-D4BF-B0775DA3947C}"/>
              </a:ext>
            </a:extLst>
          </p:cNvPr>
          <p:cNvSpPr txBox="1"/>
          <p:nvPr/>
        </p:nvSpPr>
        <p:spPr>
          <a:xfrm>
            <a:off x="14884400" y="8661400"/>
            <a:ext cx="482600" cy="169277"/>
          </a:xfrm>
          <a:prstGeom prst="rect">
            <a:avLst/>
          </a:prstGeom>
          <a:noFill/>
        </p:spPr>
        <p:txBody>
          <a:bodyPr vert="horz" wrap="square" lIns="0" tIns="0" rIns="0" bIns="0" rtlCol="0">
            <a:spAutoFit/>
          </a:bodyPr>
          <a:lstStyle/>
          <a:p>
            <a:r>
              <a:rPr lang="en-US" sz="1100">
                <a:solidFill>
                  <a:srgbClr val="5B6574"/>
                </a:solidFill>
                <a:latin typeface="Aptos" panose="020B0004020202020204" pitchFamily="34" charset="0"/>
              </a:rPr>
              <a:t>07</a:t>
            </a:r>
          </a:p>
        </p:txBody>
      </p:sp>
    </p:spTree>
    <p:extLst>
      <p:ext uri="{BB962C8B-B14F-4D97-AF65-F5344CB8AC3E}">
        <p14:creationId xmlns:p14="http://schemas.microsoft.com/office/powerpoint/2010/main" val="13094912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8-marker">
            <a:extLst>
              <a:ext uri="{FF2B5EF4-FFF2-40B4-BE49-F238E27FC236}">
                <a16:creationId xmlns:a16="http://schemas.microsoft.com/office/drawing/2014/main" id="{4B2FE80C-41C7-DC08-0BD8-6CD5243BDD99}"/>
              </a:ext>
            </a:extLst>
          </p:cNvPr>
          <p:cNvSpPr/>
          <p:nvPr/>
        </p:nvSpPr>
        <p:spPr>
          <a:xfrm>
            <a:off x="914400" y="685800"/>
            <a:ext cx="127000" cy="127000"/>
          </a:xfrm>
          <a:prstGeom prst="rect">
            <a:avLst/>
          </a:prstGeom>
          <a:solidFill>
            <a:srgbClr val="CD702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kicker-8-label">
            <a:extLst>
              <a:ext uri="{FF2B5EF4-FFF2-40B4-BE49-F238E27FC236}">
                <a16:creationId xmlns:a16="http://schemas.microsoft.com/office/drawing/2014/main" id="{737DD1A6-DEB6-8FE6-BE7B-B981B9CB43AE}"/>
              </a:ext>
            </a:extLst>
          </p:cNvPr>
          <p:cNvSpPr txBox="1"/>
          <p:nvPr/>
        </p:nvSpPr>
        <p:spPr>
          <a:xfrm>
            <a:off x="1193800" y="596900"/>
            <a:ext cx="6604000" cy="230832"/>
          </a:xfrm>
          <a:prstGeom prst="rect">
            <a:avLst/>
          </a:prstGeom>
          <a:noFill/>
        </p:spPr>
        <p:txBody>
          <a:bodyPr vert="horz" wrap="square" lIns="0" tIns="0" rIns="0" bIns="0" rtlCol="0">
            <a:spAutoFit/>
          </a:bodyPr>
          <a:lstStyle/>
          <a:p>
            <a:r>
              <a:rPr lang="en-US" sz="1500" b="1" cap="all">
                <a:solidFill>
                  <a:srgbClr val="CD7027"/>
                </a:solidFill>
                <a:latin typeface="Aptos" panose="020B0004020202020204" pitchFamily="34" charset="0"/>
              </a:rPr>
              <a:t>AUTH FLOW</a:t>
            </a:r>
          </a:p>
        </p:txBody>
      </p:sp>
      <p:sp>
        <p:nvSpPr>
          <p:cNvPr id="4" name="slide-title">
            <a:extLst>
              <a:ext uri="{FF2B5EF4-FFF2-40B4-BE49-F238E27FC236}">
                <a16:creationId xmlns:a16="http://schemas.microsoft.com/office/drawing/2014/main" id="{D7610436-C798-FDB9-FB08-4137D7ED60C8}"/>
              </a:ext>
            </a:extLst>
          </p:cNvPr>
          <p:cNvSpPr txBox="1"/>
          <p:nvPr/>
        </p:nvSpPr>
        <p:spPr>
          <a:xfrm>
            <a:off x="914400" y="1041400"/>
            <a:ext cx="13208000" cy="1169551"/>
          </a:xfrm>
          <a:prstGeom prst="rect">
            <a:avLst/>
          </a:prstGeom>
          <a:noFill/>
        </p:spPr>
        <p:txBody>
          <a:bodyPr vert="horz" wrap="square" lIns="0" tIns="0" rIns="0" bIns="0" rtlCol="0">
            <a:spAutoFit/>
          </a:bodyPr>
          <a:lstStyle/>
          <a:p>
            <a:r>
              <a:rPr lang="en-US" sz="3800" b="1">
                <a:solidFill>
                  <a:srgbClr val="171F2A"/>
                </a:solidFill>
                <a:latin typeface="Aptos" panose="020B0004020202020204" pitchFamily="34" charset="0"/>
              </a:rPr>
              <a:t>Luồng auth hiện tại đã đủ để demo đăng nhập, gọi API bảo vệ và cấp token mới.</a:t>
            </a:r>
          </a:p>
        </p:txBody>
      </p:sp>
      <p:sp>
        <p:nvSpPr>
          <p:cNvPr id="5" name="slide-subtitle">
            <a:extLst>
              <a:ext uri="{FF2B5EF4-FFF2-40B4-BE49-F238E27FC236}">
                <a16:creationId xmlns:a16="http://schemas.microsoft.com/office/drawing/2014/main" id="{0EDD4153-9C87-C9C2-C54E-B8254C830E4B}"/>
              </a:ext>
            </a:extLst>
          </p:cNvPr>
          <p:cNvSpPr txBox="1"/>
          <p:nvPr/>
        </p:nvSpPr>
        <p:spPr>
          <a:xfrm>
            <a:off x="914400" y="2286000"/>
            <a:ext cx="12446000" cy="307777"/>
          </a:xfrm>
          <a:prstGeom prst="rect">
            <a:avLst/>
          </a:prstGeom>
          <a:noFill/>
        </p:spPr>
        <p:txBody>
          <a:bodyPr vert="horz" wrap="square" lIns="0" tIns="0" rIns="0" bIns="0" rtlCol="0">
            <a:spAutoFit/>
          </a:bodyPr>
          <a:lstStyle/>
          <a:p>
            <a:r>
              <a:rPr lang="vi-VN" sz="2000">
                <a:solidFill>
                  <a:srgbClr val="5B6574"/>
                </a:solidFill>
                <a:latin typeface="Aptos" panose="020B0004020202020204" pitchFamily="34" charset="0"/>
              </a:rPr>
              <a:t>Các bước này có thể trình bày trực tiếp bằng Postman collection trong docs/postman.</a:t>
            </a:r>
            <a:endParaRPr lang="en-US" sz="2000">
              <a:solidFill>
                <a:srgbClr val="5B6574"/>
              </a:solidFill>
              <a:latin typeface="Aptos" panose="020B0004020202020204" pitchFamily="34" charset="0"/>
            </a:endParaRPr>
          </a:p>
        </p:txBody>
      </p:sp>
      <p:sp>
        <p:nvSpPr>
          <p:cNvPr id="6" name="Rectangle 5">
            <a:extLst>
              <a:ext uri="{FF2B5EF4-FFF2-40B4-BE49-F238E27FC236}">
                <a16:creationId xmlns:a16="http://schemas.microsoft.com/office/drawing/2014/main" id="{A8232C62-3966-167A-AD31-7D2F453CFBCD}"/>
              </a:ext>
            </a:extLst>
          </p:cNvPr>
          <p:cNvSpPr/>
          <p:nvPr/>
        </p:nvSpPr>
        <p:spPr>
          <a:xfrm>
            <a:off x="914400" y="3429000"/>
            <a:ext cx="2667000" cy="2032000"/>
          </a:xfrm>
          <a:prstGeom prst="rect">
            <a:avLst/>
          </a:prstGeom>
          <a:solidFill>
            <a:srgbClr val="FFFFFF"/>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F33FA44D-1300-D3A1-410B-3FFC7F9C4087}"/>
              </a:ext>
            </a:extLst>
          </p:cNvPr>
          <p:cNvSpPr/>
          <p:nvPr/>
        </p:nvSpPr>
        <p:spPr>
          <a:xfrm>
            <a:off x="1219200" y="3708400"/>
            <a:ext cx="533400" cy="533400"/>
          </a:xfrm>
          <a:prstGeom prst="ellipse">
            <a:avLst/>
          </a:prstGeom>
          <a:solidFill>
            <a:srgbClr val="2D5DA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FFFFFF"/>
                </a:solidFill>
                <a:latin typeface="Aptos" panose="020B0004020202020204" pitchFamily="34" charset="0"/>
              </a:rPr>
              <a:t>1</a:t>
            </a:r>
          </a:p>
        </p:txBody>
      </p:sp>
      <p:sp>
        <p:nvSpPr>
          <p:cNvPr id="8" name="TextBox 7">
            <a:extLst>
              <a:ext uri="{FF2B5EF4-FFF2-40B4-BE49-F238E27FC236}">
                <a16:creationId xmlns:a16="http://schemas.microsoft.com/office/drawing/2014/main" id="{15B136B9-957D-2AB7-1E72-92028FE31453}"/>
              </a:ext>
            </a:extLst>
          </p:cNvPr>
          <p:cNvSpPr txBox="1"/>
          <p:nvPr/>
        </p:nvSpPr>
        <p:spPr>
          <a:xfrm>
            <a:off x="1219200" y="4470400"/>
            <a:ext cx="2159000" cy="338554"/>
          </a:xfrm>
          <a:prstGeom prst="rect">
            <a:avLst/>
          </a:prstGeom>
          <a:noFill/>
        </p:spPr>
        <p:txBody>
          <a:bodyPr vert="horz" wrap="square" lIns="0" tIns="0" rIns="0" bIns="0" rtlCol="0">
            <a:spAutoFit/>
          </a:bodyPr>
          <a:lstStyle/>
          <a:p>
            <a:r>
              <a:rPr lang="en-US" sz="2200" b="1">
                <a:solidFill>
                  <a:srgbClr val="171F2A"/>
                </a:solidFill>
                <a:latin typeface="Aptos" panose="020B0004020202020204" pitchFamily="34" charset="0"/>
              </a:rPr>
              <a:t>Login</a:t>
            </a:r>
          </a:p>
        </p:txBody>
      </p:sp>
      <p:sp>
        <p:nvSpPr>
          <p:cNvPr id="9" name="TextBox 8">
            <a:extLst>
              <a:ext uri="{FF2B5EF4-FFF2-40B4-BE49-F238E27FC236}">
                <a16:creationId xmlns:a16="http://schemas.microsoft.com/office/drawing/2014/main" id="{D2BC4B14-52DB-8BB8-744B-D2D1BA182195}"/>
              </a:ext>
            </a:extLst>
          </p:cNvPr>
          <p:cNvSpPr txBox="1"/>
          <p:nvPr/>
        </p:nvSpPr>
        <p:spPr>
          <a:xfrm>
            <a:off x="1219200" y="4953000"/>
            <a:ext cx="2082800" cy="461665"/>
          </a:xfrm>
          <a:prstGeom prst="rect">
            <a:avLst/>
          </a:prstGeom>
          <a:noFill/>
        </p:spPr>
        <p:txBody>
          <a:bodyPr vert="horz" wrap="square" lIns="0" tIns="0" rIns="0" bIns="0" rtlCol="0">
            <a:spAutoFit/>
          </a:bodyPr>
          <a:lstStyle/>
          <a:p>
            <a:r>
              <a:rPr lang="en-US" sz="1500">
                <a:solidFill>
                  <a:srgbClr val="5B6574"/>
                </a:solidFill>
                <a:latin typeface="Aptos" panose="020B0004020202020204" pitchFamily="34" charset="0"/>
              </a:rPr>
              <a:t>POST /api/auth/login
Email + password</a:t>
            </a:r>
          </a:p>
        </p:txBody>
      </p:sp>
      <p:cxnSp>
        <p:nvCxnSpPr>
          <p:cNvPr id="10" name="Straight Connector 9">
            <a:extLst>
              <a:ext uri="{FF2B5EF4-FFF2-40B4-BE49-F238E27FC236}">
                <a16:creationId xmlns:a16="http://schemas.microsoft.com/office/drawing/2014/main" id="{F4264C12-CA94-6921-EE46-D56AE25F2367}"/>
              </a:ext>
            </a:extLst>
          </p:cNvPr>
          <p:cNvCxnSpPr/>
          <p:nvPr/>
        </p:nvCxnSpPr>
        <p:spPr>
          <a:xfrm>
            <a:off x="3581400" y="4445000"/>
            <a:ext cx="355600" cy="0"/>
          </a:xfrm>
          <a:prstGeom prst="line">
            <a:avLst/>
          </a:prstGeom>
          <a:ln w="25400">
            <a:solidFill>
              <a:srgbClr val="5B6574"/>
            </a:solidFill>
            <a:tailEnd type="arrow"/>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5139BEB0-CCA6-FE49-7F0B-62FF064D2A6E}"/>
              </a:ext>
            </a:extLst>
          </p:cNvPr>
          <p:cNvSpPr/>
          <p:nvPr/>
        </p:nvSpPr>
        <p:spPr>
          <a:xfrm>
            <a:off x="3911600" y="3429000"/>
            <a:ext cx="2667000" cy="2032000"/>
          </a:xfrm>
          <a:prstGeom prst="rect">
            <a:avLst/>
          </a:prstGeom>
          <a:solidFill>
            <a:srgbClr val="FFFFFF"/>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45847CA1-81A5-7262-2C3C-10B1FF6C4B93}"/>
              </a:ext>
            </a:extLst>
          </p:cNvPr>
          <p:cNvSpPr/>
          <p:nvPr/>
        </p:nvSpPr>
        <p:spPr>
          <a:xfrm>
            <a:off x="4216400" y="3708400"/>
            <a:ext cx="533400" cy="533400"/>
          </a:xfrm>
          <a:prstGeom prst="ellipse">
            <a:avLst/>
          </a:prstGeom>
          <a:solidFill>
            <a:srgbClr val="CD702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FFFFFF"/>
                </a:solidFill>
                <a:latin typeface="Aptos" panose="020B0004020202020204" pitchFamily="34" charset="0"/>
              </a:rPr>
              <a:t>2</a:t>
            </a:r>
          </a:p>
        </p:txBody>
      </p:sp>
      <p:sp>
        <p:nvSpPr>
          <p:cNvPr id="13" name="TextBox 12">
            <a:extLst>
              <a:ext uri="{FF2B5EF4-FFF2-40B4-BE49-F238E27FC236}">
                <a16:creationId xmlns:a16="http://schemas.microsoft.com/office/drawing/2014/main" id="{88AE83F5-7DDF-4707-B029-271DA2C69A1D}"/>
              </a:ext>
            </a:extLst>
          </p:cNvPr>
          <p:cNvSpPr txBox="1"/>
          <p:nvPr/>
        </p:nvSpPr>
        <p:spPr>
          <a:xfrm>
            <a:off x="4216400" y="4470400"/>
            <a:ext cx="2159000" cy="338554"/>
          </a:xfrm>
          <a:prstGeom prst="rect">
            <a:avLst/>
          </a:prstGeom>
          <a:noFill/>
        </p:spPr>
        <p:txBody>
          <a:bodyPr vert="horz" wrap="square" lIns="0" tIns="0" rIns="0" bIns="0" rtlCol="0">
            <a:spAutoFit/>
          </a:bodyPr>
          <a:lstStyle/>
          <a:p>
            <a:r>
              <a:rPr lang="en-US" sz="2200" b="1">
                <a:solidFill>
                  <a:srgbClr val="171F2A"/>
                </a:solidFill>
                <a:latin typeface="Aptos" panose="020B0004020202020204" pitchFamily="34" charset="0"/>
              </a:rPr>
              <a:t>Verify</a:t>
            </a:r>
          </a:p>
        </p:txBody>
      </p:sp>
      <p:sp>
        <p:nvSpPr>
          <p:cNvPr id="14" name="TextBox 13">
            <a:extLst>
              <a:ext uri="{FF2B5EF4-FFF2-40B4-BE49-F238E27FC236}">
                <a16:creationId xmlns:a16="http://schemas.microsoft.com/office/drawing/2014/main" id="{A0D90C42-9334-2BCB-C679-A636D098F03B}"/>
              </a:ext>
            </a:extLst>
          </p:cNvPr>
          <p:cNvSpPr txBox="1"/>
          <p:nvPr/>
        </p:nvSpPr>
        <p:spPr>
          <a:xfrm>
            <a:off x="4216400" y="4953000"/>
            <a:ext cx="2082800" cy="461665"/>
          </a:xfrm>
          <a:prstGeom prst="rect">
            <a:avLst/>
          </a:prstGeom>
          <a:noFill/>
        </p:spPr>
        <p:txBody>
          <a:bodyPr vert="horz" wrap="square" lIns="0" tIns="0" rIns="0" bIns="0" rtlCol="0">
            <a:spAutoFit/>
          </a:bodyPr>
          <a:lstStyle/>
          <a:p>
            <a:r>
              <a:rPr lang="en-US" sz="1500">
                <a:solidFill>
                  <a:srgbClr val="5B6574"/>
                </a:solidFill>
                <a:latin typeface="Aptos" panose="020B0004020202020204" pitchFamily="34" charset="0"/>
              </a:rPr>
              <a:t>BCrypt verify, account status check</a:t>
            </a:r>
          </a:p>
        </p:txBody>
      </p:sp>
      <p:cxnSp>
        <p:nvCxnSpPr>
          <p:cNvPr id="15" name="Straight Connector 14">
            <a:extLst>
              <a:ext uri="{FF2B5EF4-FFF2-40B4-BE49-F238E27FC236}">
                <a16:creationId xmlns:a16="http://schemas.microsoft.com/office/drawing/2014/main" id="{1B27D40D-3F49-6F98-F36F-9EE67DE74BA2}"/>
              </a:ext>
            </a:extLst>
          </p:cNvPr>
          <p:cNvCxnSpPr/>
          <p:nvPr/>
        </p:nvCxnSpPr>
        <p:spPr>
          <a:xfrm>
            <a:off x="6578600" y="4445000"/>
            <a:ext cx="355600" cy="0"/>
          </a:xfrm>
          <a:prstGeom prst="line">
            <a:avLst/>
          </a:prstGeom>
          <a:ln w="25400">
            <a:solidFill>
              <a:srgbClr val="5B6574"/>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E426A109-9409-99B4-B4AC-F9D1F8805457}"/>
              </a:ext>
            </a:extLst>
          </p:cNvPr>
          <p:cNvSpPr/>
          <p:nvPr/>
        </p:nvSpPr>
        <p:spPr>
          <a:xfrm>
            <a:off x="6908800" y="3429000"/>
            <a:ext cx="2667000" cy="2032000"/>
          </a:xfrm>
          <a:prstGeom prst="rect">
            <a:avLst/>
          </a:prstGeom>
          <a:solidFill>
            <a:srgbClr val="FFFFFF"/>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4B5D1D13-231E-41F7-07FF-C6A57AA2EA67}"/>
              </a:ext>
            </a:extLst>
          </p:cNvPr>
          <p:cNvSpPr/>
          <p:nvPr/>
        </p:nvSpPr>
        <p:spPr>
          <a:xfrm>
            <a:off x="7213600" y="3708400"/>
            <a:ext cx="533400" cy="533400"/>
          </a:xfrm>
          <a:prstGeom prst="ellipse">
            <a:avLst/>
          </a:prstGeom>
          <a:solidFill>
            <a:srgbClr val="1C805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FFFFFF"/>
                </a:solidFill>
                <a:latin typeface="Aptos" panose="020B0004020202020204" pitchFamily="34" charset="0"/>
              </a:rPr>
              <a:t>3</a:t>
            </a:r>
          </a:p>
        </p:txBody>
      </p:sp>
      <p:sp>
        <p:nvSpPr>
          <p:cNvPr id="18" name="TextBox 17">
            <a:extLst>
              <a:ext uri="{FF2B5EF4-FFF2-40B4-BE49-F238E27FC236}">
                <a16:creationId xmlns:a16="http://schemas.microsoft.com/office/drawing/2014/main" id="{C3B4D5C8-C02D-8B83-FC46-FF4755F08D8C}"/>
              </a:ext>
            </a:extLst>
          </p:cNvPr>
          <p:cNvSpPr txBox="1"/>
          <p:nvPr/>
        </p:nvSpPr>
        <p:spPr>
          <a:xfrm>
            <a:off x="7213600" y="4470400"/>
            <a:ext cx="2159000" cy="338554"/>
          </a:xfrm>
          <a:prstGeom prst="rect">
            <a:avLst/>
          </a:prstGeom>
          <a:noFill/>
        </p:spPr>
        <p:txBody>
          <a:bodyPr vert="horz" wrap="square" lIns="0" tIns="0" rIns="0" bIns="0" rtlCol="0">
            <a:spAutoFit/>
          </a:bodyPr>
          <a:lstStyle/>
          <a:p>
            <a:r>
              <a:rPr lang="en-US" sz="2200" b="1">
                <a:solidFill>
                  <a:srgbClr val="171F2A"/>
                </a:solidFill>
                <a:latin typeface="Aptos" panose="020B0004020202020204" pitchFamily="34" charset="0"/>
              </a:rPr>
              <a:t>Issue token</a:t>
            </a:r>
          </a:p>
        </p:txBody>
      </p:sp>
      <p:sp>
        <p:nvSpPr>
          <p:cNvPr id="19" name="TextBox 18">
            <a:extLst>
              <a:ext uri="{FF2B5EF4-FFF2-40B4-BE49-F238E27FC236}">
                <a16:creationId xmlns:a16="http://schemas.microsoft.com/office/drawing/2014/main" id="{2CF6B132-2446-A733-4447-936F9C8F8902}"/>
              </a:ext>
            </a:extLst>
          </p:cNvPr>
          <p:cNvSpPr txBox="1"/>
          <p:nvPr/>
        </p:nvSpPr>
        <p:spPr>
          <a:xfrm>
            <a:off x="7213600" y="4953000"/>
            <a:ext cx="2082800" cy="692497"/>
          </a:xfrm>
          <a:prstGeom prst="rect">
            <a:avLst/>
          </a:prstGeom>
          <a:noFill/>
        </p:spPr>
        <p:txBody>
          <a:bodyPr vert="horz" wrap="square" lIns="0" tIns="0" rIns="0" bIns="0" rtlCol="0">
            <a:spAutoFit/>
          </a:bodyPr>
          <a:lstStyle/>
          <a:p>
            <a:r>
              <a:rPr lang="en-US" sz="1500">
                <a:solidFill>
                  <a:srgbClr val="5B6574"/>
                </a:solidFill>
                <a:latin typeface="Aptos" panose="020B0004020202020204" pitchFamily="34" charset="0"/>
              </a:rPr>
              <a:t>AccessToken JWT + RefreshToken random 64 bytes</a:t>
            </a:r>
          </a:p>
        </p:txBody>
      </p:sp>
      <p:cxnSp>
        <p:nvCxnSpPr>
          <p:cNvPr id="20" name="Straight Connector 19">
            <a:extLst>
              <a:ext uri="{FF2B5EF4-FFF2-40B4-BE49-F238E27FC236}">
                <a16:creationId xmlns:a16="http://schemas.microsoft.com/office/drawing/2014/main" id="{4BF92E8D-C1D1-5FC2-2A24-2EEF1606FFD8}"/>
              </a:ext>
            </a:extLst>
          </p:cNvPr>
          <p:cNvCxnSpPr/>
          <p:nvPr/>
        </p:nvCxnSpPr>
        <p:spPr>
          <a:xfrm>
            <a:off x="9575800" y="4445000"/>
            <a:ext cx="355600" cy="0"/>
          </a:xfrm>
          <a:prstGeom prst="line">
            <a:avLst/>
          </a:prstGeom>
          <a:ln w="25400">
            <a:solidFill>
              <a:srgbClr val="5B6574"/>
            </a:solidFill>
            <a:tailEnd type="arrow"/>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2C688F14-70DC-0956-D1B1-93839938A274}"/>
              </a:ext>
            </a:extLst>
          </p:cNvPr>
          <p:cNvSpPr/>
          <p:nvPr/>
        </p:nvSpPr>
        <p:spPr>
          <a:xfrm>
            <a:off x="9906000" y="3429000"/>
            <a:ext cx="2667000" cy="2032000"/>
          </a:xfrm>
          <a:prstGeom prst="rect">
            <a:avLst/>
          </a:prstGeom>
          <a:solidFill>
            <a:srgbClr val="FFFFFF"/>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48C7C8A4-4C35-28A7-5FDC-060A9D0CFFBA}"/>
              </a:ext>
            </a:extLst>
          </p:cNvPr>
          <p:cNvSpPr/>
          <p:nvPr/>
        </p:nvSpPr>
        <p:spPr>
          <a:xfrm>
            <a:off x="10210800" y="3708400"/>
            <a:ext cx="533400" cy="533400"/>
          </a:xfrm>
          <a:prstGeom prst="ellipse">
            <a:avLst/>
          </a:prstGeom>
          <a:solidFill>
            <a:srgbClr val="B1404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FFFFFF"/>
                </a:solidFill>
                <a:latin typeface="Aptos" panose="020B0004020202020204" pitchFamily="34" charset="0"/>
              </a:rPr>
              <a:t>4</a:t>
            </a:r>
          </a:p>
        </p:txBody>
      </p:sp>
      <p:sp>
        <p:nvSpPr>
          <p:cNvPr id="23" name="TextBox 22">
            <a:extLst>
              <a:ext uri="{FF2B5EF4-FFF2-40B4-BE49-F238E27FC236}">
                <a16:creationId xmlns:a16="http://schemas.microsoft.com/office/drawing/2014/main" id="{37D8FA0F-D48D-84C2-D71D-CF25E877A889}"/>
              </a:ext>
            </a:extLst>
          </p:cNvPr>
          <p:cNvSpPr txBox="1"/>
          <p:nvPr/>
        </p:nvSpPr>
        <p:spPr>
          <a:xfrm>
            <a:off x="10210800" y="4470400"/>
            <a:ext cx="2159000" cy="338554"/>
          </a:xfrm>
          <a:prstGeom prst="rect">
            <a:avLst/>
          </a:prstGeom>
          <a:noFill/>
        </p:spPr>
        <p:txBody>
          <a:bodyPr vert="horz" wrap="square" lIns="0" tIns="0" rIns="0" bIns="0" rtlCol="0">
            <a:spAutoFit/>
          </a:bodyPr>
          <a:lstStyle/>
          <a:p>
            <a:r>
              <a:rPr lang="en-US" sz="2200" b="1">
                <a:solidFill>
                  <a:srgbClr val="171F2A"/>
                </a:solidFill>
                <a:latin typeface="Aptos" panose="020B0004020202020204" pitchFamily="34" charset="0"/>
              </a:rPr>
              <a:t>Call APIs</a:t>
            </a:r>
          </a:p>
        </p:txBody>
      </p:sp>
      <p:sp>
        <p:nvSpPr>
          <p:cNvPr id="24" name="TextBox 23">
            <a:extLst>
              <a:ext uri="{FF2B5EF4-FFF2-40B4-BE49-F238E27FC236}">
                <a16:creationId xmlns:a16="http://schemas.microsoft.com/office/drawing/2014/main" id="{E10CD11B-3613-3746-E547-5AD28E0BD01D}"/>
              </a:ext>
            </a:extLst>
          </p:cNvPr>
          <p:cNvSpPr txBox="1"/>
          <p:nvPr/>
        </p:nvSpPr>
        <p:spPr>
          <a:xfrm>
            <a:off x="10210800" y="4953000"/>
            <a:ext cx="2082800" cy="461665"/>
          </a:xfrm>
          <a:prstGeom prst="rect">
            <a:avLst/>
          </a:prstGeom>
          <a:noFill/>
        </p:spPr>
        <p:txBody>
          <a:bodyPr vert="horz" wrap="square" lIns="0" tIns="0" rIns="0" bIns="0" rtlCol="0">
            <a:spAutoFit/>
          </a:bodyPr>
          <a:lstStyle/>
          <a:p>
            <a:r>
              <a:rPr lang="en-US" sz="1500">
                <a:solidFill>
                  <a:srgbClr val="5B6574"/>
                </a:solidFill>
                <a:latin typeface="Aptos" panose="020B0004020202020204" pitchFamily="34" charset="0"/>
              </a:rPr>
              <a:t>Bearer token vào Swagger/Postman</a:t>
            </a:r>
          </a:p>
        </p:txBody>
      </p:sp>
      <p:cxnSp>
        <p:nvCxnSpPr>
          <p:cNvPr id="25" name="Straight Connector 24">
            <a:extLst>
              <a:ext uri="{FF2B5EF4-FFF2-40B4-BE49-F238E27FC236}">
                <a16:creationId xmlns:a16="http://schemas.microsoft.com/office/drawing/2014/main" id="{78330AD4-9A13-9047-2251-AD0688EB803D}"/>
              </a:ext>
            </a:extLst>
          </p:cNvPr>
          <p:cNvCxnSpPr/>
          <p:nvPr/>
        </p:nvCxnSpPr>
        <p:spPr>
          <a:xfrm>
            <a:off x="12573000" y="4445000"/>
            <a:ext cx="355600" cy="0"/>
          </a:xfrm>
          <a:prstGeom prst="line">
            <a:avLst/>
          </a:prstGeom>
          <a:ln w="25400">
            <a:solidFill>
              <a:srgbClr val="5B6574"/>
            </a:solidFill>
            <a:tailEnd type="arrow"/>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F942C067-C26A-5EB4-D20D-E3C22E8A3064}"/>
              </a:ext>
            </a:extLst>
          </p:cNvPr>
          <p:cNvSpPr/>
          <p:nvPr/>
        </p:nvSpPr>
        <p:spPr>
          <a:xfrm>
            <a:off x="12903200" y="3429000"/>
            <a:ext cx="2667000" cy="2032000"/>
          </a:xfrm>
          <a:prstGeom prst="rect">
            <a:avLst/>
          </a:prstGeom>
          <a:solidFill>
            <a:srgbClr val="FFFFFF"/>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40B475A6-3D7B-0BE7-6AA5-3968E0548A05}"/>
              </a:ext>
            </a:extLst>
          </p:cNvPr>
          <p:cNvSpPr/>
          <p:nvPr/>
        </p:nvSpPr>
        <p:spPr>
          <a:xfrm>
            <a:off x="13208000" y="3708400"/>
            <a:ext cx="533400" cy="533400"/>
          </a:xfrm>
          <a:prstGeom prst="ellipse">
            <a:avLst/>
          </a:prstGeom>
          <a:solidFill>
            <a:srgbClr val="6F57A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FFFFFF"/>
                </a:solidFill>
                <a:latin typeface="Aptos" panose="020B0004020202020204" pitchFamily="34" charset="0"/>
              </a:rPr>
              <a:t>5</a:t>
            </a:r>
          </a:p>
        </p:txBody>
      </p:sp>
      <p:sp>
        <p:nvSpPr>
          <p:cNvPr id="28" name="TextBox 27">
            <a:extLst>
              <a:ext uri="{FF2B5EF4-FFF2-40B4-BE49-F238E27FC236}">
                <a16:creationId xmlns:a16="http://schemas.microsoft.com/office/drawing/2014/main" id="{8A31FEEA-6C79-07C2-9DF3-1DF6B63FF47D}"/>
              </a:ext>
            </a:extLst>
          </p:cNvPr>
          <p:cNvSpPr txBox="1"/>
          <p:nvPr/>
        </p:nvSpPr>
        <p:spPr>
          <a:xfrm>
            <a:off x="13208000" y="4470400"/>
            <a:ext cx="2159000" cy="338554"/>
          </a:xfrm>
          <a:prstGeom prst="rect">
            <a:avLst/>
          </a:prstGeom>
          <a:noFill/>
        </p:spPr>
        <p:txBody>
          <a:bodyPr vert="horz" wrap="square" lIns="0" tIns="0" rIns="0" bIns="0" rtlCol="0">
            <a:spAutoFit/>
          </a:bodyPr>
          <a:lstStyle/>
          <a:p>
            <a:r>
              <a:rPr lang="en-US" sz="2200" b="1">
                <a:solidFill>
                  <a:srgbClr val="171F2A"/>
                </a:solidFill>
                <a:latin typeface="Aptos" panose="020B0004020202020204" pitchFamily="34" charset="0"/>
              </a:rPr>
              <a:t>Refresh/Logout</a:t>
            </a:r>
          </a:p>
        </p:txBody>
      </p:sp>
      <p:sp>
        <p:nvSpPr>
          <p:cNvPr id="29" name="TextBox 28">
            <a:extLst>
              <a:ext uri="{FF2B5EF4-FFF2-40B4-BE49-F238E27FC236}">
                <a16:creationId xmlns:a16="http://schemas.microsoft.com/office/drawing/2014/main" id="{172A45C9-179B-77D4-C4B3-D61B4FD4F23F}"/>
              </a:ext>
            </a:extLst>
          </p:cNvPr>
          <p:cNvSpPr txBox="1"/>
          <p:nvPr/>
        </p:nvSpPr>
        <p:spPr>
          <a:xfrm>
            <a:off x="13208000" y="4953000"/>
            <a:ext cx="2082800" cy="461665"/>
          </a:xfrm>
          <a:prstGeom prst="rect">
            <a:avLst/>
          </a:prstGeom>
          <a:noFill/>
        </p:spPr>
        <p:txBody>
          <a:bodyPr vert="horz" wrap="square" lIns="0" tIns="0" rIns="0" bIns="0" rtlCol="0">
            <a:spAutoFit/>
          </a:bodyPr>
          <a:lstStyle/>
          <a:p>
            <a:r>
              <a:rPr lang="en-US" sz="1500">
                <a:solidFill>
                  <a:srgbClr val="5B6574"/>
                </a:solidFill>
                <a:latin typeface="Aptos" panose="020B0004020202020204" pitchFamily="34" charset="0"/>
              </a:rPr>
              <a:t>Refresh rotates token; logout revokes token</a:t>
            </a:r>
          </a:p>
        </p:txBody>
      </p:sp>
      <p:sp>
        <p:nvSpPr>
          <p:cNvPr id="30" name="TextBox 29">
            <a:extLst>
              <a:ext uri="{FF2B5EF4-FFF2-40B4-BE49-F238E27FC236}">
                <a16:creationId xmlns:a16="http://schemas.microsoft.com/office/drawing/2014/main" id="{44C6DEBD-16A3-2018-DEDF-F27071DEAF72}"/>
              </a:ext>
            </a:extLst>
          </p:cNvPr>
          <p:cNvSpPr txBox="1"/>
          <p:nvPr/>
        </p:nvSpPr>
        <p:spPr>
          <a:xfrm>
            <a:off x="1168400" y="6604000"/>
            <a:ext cx="3810000" cy="338554"/>
          </a:xfrm>
          <a:prstGeom prst="rect">
            <a:avLst/>
          </a:prstGeom>
          <a:noFill/>
        </p:spPr>
        <p:txBody>
          <a:bodyPr vert="horz" wrap="square" lIns="0" tIns="0" rIns="0" bIns="0" rtlCol="0">
            <a:spAutoFit/>
          </a:bodyPr>
          <a:lstStyle/>
          <a:p>
            <a:r>
              <a:rPr lang="en-US" sz="2200" b="1">
                <a:solidFill>
                  <a:srgbClr val="171F2A"/>
                </a:solidFill>
                <a:latin typeface="Aptos" panose="020B0004020202020204" pitchFamily="34" charset="0"/>
              </a:rPr>
              <a:t>Điểm demo nên nhấn mạnh</a:t>
            </a:r>
          </a:p>
        </p:txBody>
      </p:sp>
      <p:sp>
        <p:nvSpPr>
          <p:cNvPr id="31" name="TextBox 30">
            <a:extLst>
              <a:ext uri="{FF2B5EF4-FFF2-40B4-BE49-F238E27FC236}">
                <a16:creationId xmlns:a16="http://schemas.microsoft.com/office/drawing/2014/main" id="{2F369F3A-60D0-29BF-AA56-B1267B89ABE1}"/>
              </a:ext>
            </a:extLst>
          </p:cNvPr>
          <p:cNvSpPr txBox="1"/>
          <p:nvPr/>
        </p:nvSpPr>
        <p:spPr>
          <a:xfrm>
            <a:off x="1168400" y="7112000"/>
            <a:ext cx="12192000" cy="1415772"/>
          </a:xfrm>
          <a:prstGeom prst="rect">
            <a:avLst/>
          </a:prstGeom>
          <a:noFill/>
        </p:spPr>
        <p:txBody>
          <a:bodyPr vert="horz" wrap="square" lIns="0" tIns="0" rIns="0" bIns="0" rtlCol="0">
            <a:spAutoFit/>
          </a:bodyPr>
          <a:lstStyle/>
          <a:p>
            <a:pPr marL="342900" indent="-342900">
              <a:spcAft>
                <a:spcPts val="800"/>
              </a:spcAft>
              <a:buFont typeface="+mj-lt"/>
              <a:buAutoNum type="arabicPeriod"/>
            </a:pPr>
            <a:r>
              <a:rPr lang="vi-VN">
                <a:solidFill>
                  <a:srgbClr val="171F2A"/>
                </a:solidFill>
                <a:latin typeface="Aptos" panose="020B0004020202020204" pitchFamily="34" charset="0"/>
              </a:rPr>
              <a:t>Đăng nhập bằng seed account admin@poolhub.com / Admin@123.</a:t>
            </a:r>
          </a:p>
          <a:p>
            <a:pPr marL="342900" indent="-342900">
              <a:spcAft>
                <a:spcPts val="800"/>
              </a:spcAft>
              <a:buFont typeface="+mj-lt"/>
              <a:buAutoNum type="arabicPeriod"/>
            </a:pPr>
            <a:r>
              <a:rPr lang="vi-VN">
                <a:solidFill>
                  <a:srgbClr val="171F2A"/>
                </a:solidFill>
                <a:latin typeface="Aptos" panose="020B0004020202020204" pitchFamily="34" charset="0"/>
              </a:rPr>
              <a:t>Copy accessToken vào Swagger Authorize hoặc Postman environment.</a:t>
            </a:r>
          </a:p>
          <a:p>
            <a:pPr marL="342900" indent="-342900">
              <a:spcAft>
                <a:spcPts val="800"/>
              </a:spcAft>
              <a:buFont typeface="+mj-lt"/>
              <a:buAutoNum type="arabicPeriod"/>
            </a:pPr>
            <a:r>
              <a:rPr lang="vi-VN">
                <a:solidFill>
                  <a:srgbClr val="171F2A"/>
                </a:solidFill>
                <a:latin typeface="Aptos" panose="020B0004020202020204" pitchFamily="34" charset="0"/>
              </a:rPr>
              <a:t>Gọi thử /api/auth/me và một API role-protected như /api/users hoặc /api/floors.</a:t>
            </a:r>
          </a:p>
          <a:p>
            <a:pPr marL="342900" indent="-342900">
              <a:spcAft>
                <a:spcPts val="800"/>
              </a:spcAft>
              <a:buFont typeface="+mj-lt"/>
              <a:buAutoNum type="arabicPeriod"/>
            </a:pPr>
            <a:r>
              <a:rPr lang="vi-VN">
                <a:solidFill>
                  <a:srgbClr val="171F2A"/>
                </a:solidFill>
                <a:latin typeface="Aptos" panose="020B0004020202020204" pitchFamily="34" charset="0"/>
              </a:rPr>
              <a:t>Refresh token để chứng minh phần khuyến khích của tuần 4 đã làm.</a:t>
            </a:r>
            <a:endParaRPr lang="en-US">
              <a:solidFill>
                <a:srgbClr val="171F2A"/>
              </a:solidFill>
              <a:latin typeface="Aptos" panose="020B0004020202020204" pitchFamily="34" charset="0"/>
            </a:endParaRPr>
          </a:p>
        </p:txBody>
      </p:sp>
      <p:cxnSp>
        <p:nvCxnSpPr>
          <p:cNvPr id="32" name="Straight Connector 31">
            <a:extLst>
              <a:ext uri="{FF2B5EF4-FFF2-40B4-BE49-F238E27FC236}">
                <a16:creationId xmlns:a16="http://schemas.microsoft.com/office/drawing/2014/main" id="{C174DE22-D198-DEFD-9A39-79E0C57DAF37}"/>
              </a:ext>
            </a:extLst>
          </p:cNvPr>
          <p:cNvCxnSpPr/>
          <p:nvPr/>
        </p:nvCxnSpPr>
        <p:spPr>
          <a:xfrm>
            <a:off x="914400" y="8509000"/>
            <a:ext cx="14452600" cy="0"/>
          </a:xfrm>
          <a:prstGeom prst="line">
            <a:avLst/>
          </a:prstGeom>
          <a:ln w="12700">
            <a:solidFill>
              <a:srgbClr val="D6DBE1"/>
            </a:solidFill>
          </a:ln>
        </p:spPr>
        <p:style>
          <a:lnRef idx="1">
            <a:schemeClr val="accent1"/>
          </a:lnRef>
          <a:fillRef idx="0">
            <a:schemeClr val="accent1"/>
          </a:fillRef>
          <a:effectRef idx="0">
            <a:schemeClr val="accent1"/>
          </a:effectRef>
          <a:fontRef idx="minor">
            <a:schemeClr val="tx1"/>
          </a:fontRef>
        </p:style>
      </p:cxnSp>
      <p:sp>
        <p:nvSpPr>
          <p:cNvPr id="33" name="footer-source">
            <a:extLst>
              <a:ext uri="{FF2B5EF4-FFF2-40B4-BE49-F238E27FC236}">
                <a16:creationId xmlns:a16="http://schemas.microsoft.com/office/drawing/2014/main" id="{6E8113A9-2097-6224-A9BD-131EC1BE8A9F}"/>
              </a:ext>
            </a:extLst>
          </p:cNvPr>
          <p:cNvSpPr txBox="1"/>
          <p:nvPr/>
        </p:nvSpPr>
        <p:spPr>
          <a:xfrm>
            <a:off x="914400" y="8661400"/>
            <a:ext cx="7112000" cy="169277"/>
          </a:xfrm>
          <a:prstGeom prst="rect">
            <a:avLst/>
          </a:prstGeom>
          <a:noFill/>
        </p:spPr>
        <p:txBody>
          <a:bodyPr vert="horz" wrap="square" lIns="0" tIns="0" rIns="0" bIns="0" rtlCol="0">
            <a:spAutoFit/>
          </a:bodyPr>
          <a:lstStyle/>
          <a:p>
            <a:r>
              <a:rPr lang="en-US" sz="1100">
                <a:solidFill>
                  <a:srgbClr val="5B6574"/>
                </a:solidFill>
                <a:latin typeface="Aptos" panose="020B0004020202020204" pitchFamily="34" charset="0"/>
              </a:rPr>
              <a:t>PoolHub | Tuần 3-4 backend checkpoint</a:t>
            </a:r>
          </a:p>
        </p:txBody>
      </p:sp>
      <p:sp>
        <p:nvSpPr>
          <p:cNvPr id="34" name="footer-page">
            <a:extLst>
              <a:ext uri="{FF2B5EF4-FFF2-40B4-BE49-F238E27FC236}">
                <a16:creationId xmlns:a16="http://schemas.microsoft.com/office/drawing/2014/main" id="{75DDF704-2FE2-EC61-D625-F3F622B6BAA4}"/>
              </a:ext>
            </a:extLst>
          </p:cNvPr>
          <p:cNvSpPr txBox="1"/>
          <p:nvPr/>
        </p:nvSpPr>
        <p:spPr>
          <a:xfrm>
            <a:off x="14884400" y="8661400"/>
            <a:ext cx="482600" cy="169277"/>
          </a:xfrm>
          <a:prstGeom prst="rect">
            <a:avLst/>
          </a:prstGeom>
          <a:noFill/>
        </p:spPr>
        <p:txBody>
          <a:bodyPr vert="horz" wrap="square" lIns="0" tIns="0" rIns="0" bIns="0" rtlCol="0">
            <a:spAutoFit/>
          </a:bodyPr>
          <a:lstStyle/>
          <a:p>
            <a:r>
              <a:rPr lang="en-US" sz="1100">
                <a:solidFill>
                  <a:srgbClr val="5B6574"/>
                </a:solidFill>
                <a:latin typeface="Aptos" panose="020B0004020202020204" pitchFamily="34" charset="0"/>
              </a:rPr>
              <a:t>08</a:t>
            </a:r>
          </a:p>
        </p:txBody>
      </p:sp>
    </p:spTree>
    <p:extLst>
      <p:ext uri="{BB962C8B-B14F-4D97-AF65-F5344CB8AC3E}">
        <p14:creationId xmlns:p14="http://schemas.microsoft.com/office/powerpoint/2010/main" val="18461088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9-marker">
            <a:extLst>
              <a:ext uri="{FF2B5EF4-FFF2-40B4-BE49-F238E27FC236}">
                <a16:creationId xmlns:a16="http://schemas.microsoft.com/office/drawing/2014/main" id="{FAB376A2-B2BA-EE03-77BB-A6C8E93484F0}"/>
              </a:ext>
            </a:extLst>
          </p:cNvPr>
          <p:cNvSpPr/>
          <p:nvPr/>
        </p:nvSpPr>
        <p:spPr>
          <a:xfrm>
            <a:off x="914400" y="685800"/>
            <a:ext cx="127000" cy="127000"/>
          </a:xfrm>
          <a:prstGeom prst="rect">
            <a:avLst/>
          </a:prstGeom>
          <a:solidFill>
            <a:srgbClr val="CD702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kicker-9-label">
            <a:extLst>
              <a:ext uri="{FF2B5EF4-FFF2-40B4-BE49-F238E27FC236}">
                <a16:creationId xmlns:a16="http://schemas.microsoft.com/office/drawing/2014/main" id="{49C48311-0570-9B86-2CB3-0E06C516CE51}"/>
              </a:ext>
            </a:extLst>
          </p:cNvPr>
          <p:cNvSpPr txBox="1"/>
          <p:nvPr/>
        </p:nvSpPr>
        <p:spPr>
          <a:xfrm>
            <a:off x="1193800" y="596900"/>
            <a:ext cx="6604000" cy="230832"/>
          </a:xfrm>
          <a:prstGeom prst="rect">
            <a:avLst/>
          </a:prstGeom>
          <a:noFill/>
        </p:spPr>
        <p:txBody>
          <a:bodyPr vert="horz" wrap="square" lIns="0" tIns="0" rIns="0" bIns="0" rtlCol="0">
            <a:spAutoFit/>
          </a:bodyPr>
          <a:lstStyle/>
          <a:p>
            <a:r>
              <a:rPr lang="en-US" sz="1500" b="1" cap="all">
                <a:solidFill>
                  <a:srgbClr val="CD7027"/>
                </a:solidFill>
                <a:latin typeface="Aptos" panose="020B0004020202020204" pitchFamily="34" charset="0"/>
              </a:rPr>
              <a:t>PHÂN QUYỀN</a:t>
            </a:r>
          </a:p>
        </p:txBody>
      </p:sp>
      <p:sp>
        <p:nvSpPr>
          <p:cNvPr id="4" name="slide-title">
            <a:extLst>
              <a:ext uri="{FF2B5EF4-FFF2-40B4-BE49-F238E27FC236}">
                <a16:creationId xmlns:a16="http://schemas.microsoft.com/office/drawing/2014/main" id="{E9E3D08C-F0FD-1896-B843-D56BE102C323}"/>
              </a:ext>
            </a:extLst>
          </p:cNvPr>
          <p:cNvSpPr txBox="1"/>
          <p:nvPr/>
        </p:nvSpPr>
        <p:spPr>
          <a:xfrm>
            <a:off x="914400" y="1041400"/>
            <a:ext cx="13208000" cy="1169551"/>
          </a:xfrm>
          <a:prstGeom prst="rect">
            <a:avLst/>
          </a:prstGeom>
          <a:noFill/>
        </p:spPr>
        <p:txBody>
          <a:bodyPr vert="horz" wrap="square" lIns="0" tIns="0" rIns="0" bIns="0" rtlCol="0">
            <a:spAutoFit/>
          </a:bodyPr>
          <a:lstStyle/>
          <a:p>
            <a:r>
              <a:rPr lang="vi-VN" sz="3800" b="1">
                <a:solidFill>
                  <a:srgbClr val="171F2A"/>
                </a:solidFill>
                <a:latin typeface="Aptos" panose="020B0004020202020204" pitchFamily="34" charset="0"/>
              </a:rPr>
              <a:t>Role-based authorization đã được gắn trực tiếp trên các nhóm API quan trọng.</a:t>
            </a:r>
            <a:endParaRPr lang="en-US" sz="3800" b="1">
              <a:solidFill>
                <a:srgbClr val="171F2A"/>
              </a:solidFill>
              <a:latin typeface="Aptos" panose="020B0004020202020204" pitchFamily="34" charset="0"/>
            </a:endParaRPr>
          </a:p>
        </p:txBody>
      </p:sp>
      <p:sp>
        <p:nvSpPr>
          <p:cNvPr id="5" name="slide-subtitle">
            <a:extLst>
              <a:ext uri="{FF2B5EF4-FFF2-40B4-BE49-F238E27FC236}">
                <a16:creationId xmlns:a16="http://schemas.microsoft.com/office/drawing/2014/main" id="{CF5BB58B-831D-81DB-8B32-62100463810F}"/>
              </a:ext>
            </a:extLst>
          </p:cNvPr>
          <p:cNvSpPr txBox="1"/>
          <p:nvPr/>
        </p:nvSpPr>
        <p:spPr>
          <a:xfrm>
            <a:off x="914400" y="2286000"/>
            <a:ext cx="12446000" cy="307777"/>
          </a:xfrm>
          <a:prstGeom prst="rect">
            <a:avLst/>
          </a:prstGeom>
          <a:noFill/>
        </p:spPr>
        <p:txBody>
          <a:bodyPr vert="horz" wrap="square" lIns="0" tIns="0" rIns="0" bIns="0" rtlCol="0">
            <a:spAutoFit/>
          </a:bodyPr>
          <a:lstStyle/>
          <a:p>
            <a:r>
              <a:rPr lang="en-US" sz="2000">
                <a:solidFill>
                  <a:srgbClr val="5B6574"/>
                </a:solidFill>
                <a:latin typeface="Aptos" panose="020B0004020202020204" pitchFamily="34" charset="0"/>
              </a:rPr>
              <a:t>Các role chính: Admin, Manager, Staff, Cashier.</a:t>
            </a:r>
          </a:p>
        </p:txBody>
      </p:sp>
      <p:sp>
        <p:nvSpPr>
          <p:cNvPr id="6" name="Rectangle 5">
            <a:extLst>
              <a:ext uri="{FF2B5EF4-FFF2-40B4-BE49-F238E27FC236}">
                <a16:creationId xmlns:a16="http://schemas.microsoft.com/office/drawing/2014/main" id="{486C735B-7562-F915-4365-57ED0F70C3AB}"/>
              </a:ext>
            </a:extLst>
          </p:cNvPr>
          <p:cNvSpPr/>
          <p:nvPr/>
        </p:nvSpPr>
        <p:spPr>
          <a:xfrm>
            <a:off x="1092200" y="2794000"/>
            <a:ext cx="3175000" cy="558800"/>
          </a:xfrm>
          <a:prstGeom prst="rect">
            <a:avLst/>
          </a:prstGeom>
          <a:solidFill>
            <a:srgbClr val="121821"/>
          </a:solidFill>
          <a:ln w="12700">
            <a:solidFill>
              <a:srgbClr val="12182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13CCE14-EFA8-2A51-4609-A8F0051D2BC6}"/>
              </a:ext>
            </a:extLst>
          </p:cNvPr>
          <p:cNvSpPr txBox="1"/>
          <p:nvPr/>
        </p:nvSpPr>
        <p:spPr>
          <a:xfrm>
            <a:off x="1244600" y="2946400"/>
            <a:ext cx="2870200" cy="215444"/>
          </a:xfrm>
          <a:prstGeom prst="rect">
            <a:avLst/>
          </a:prstGeom>
          <a:noFill/>
        </p:spPr>
        <p:txBody>
          <a:bodyPr vert="horz" wrap="square" lIns="0" tIns="0" rIns="0" bIns="0" rtlCol="0">
            <a:spAutoFit/>
          </a:bodyPr>
          <a:lstStyle/>
          <a:p>
            <a:r>
              <a:rPr lang="en-US" sz="1400" b="1">
                <a:solidFill>
                  <a:srgbClr val="FFFFFF"/>
                </a:solidFill>
                <a:latin typeface="Aptos" panose="020B0004020202020204" pitchFamily="34" charset="0"/>
              </a:rPr>
              <a:t>API nhóm</a:t>
            </a:r>
          </a:p>
        </p:txBody>
      </p:sp>
      <p:sp>
        <p:nvSpPr>
          <p:cNvPr id="8" name="Rectangle 7">
            <a:extLst>
              <a:ext uri="{FF2B5EF4-FFF2-40B4-BE49-F238E27FC236}">
                <a16:creationId xmlns:a16="http://schemas.microsoft.com/office/drawing/2014/main" id="{3784593E-0499-DDB3-BAC3-6D0828D7F65A}"/>
              </a:ext>
            </a:extLst>
          </p:cNvPr>
          <p:cNvSpPr/>
          <p:nvPr/>
        </p:nvSpPr>
        <p:spPr>
          <a:xfrm>
            <a:off x="4267200" y="2794000"/>
            <a:ext cx="1397000" cy="558800"/>
          </a:xfrm>
          <a:prstGeom prst="rect">
            <a:avLst/>
          </a:prstGeom>
          <a:solidFill>
            <a:srgbClr val="121821"/>
          </a:solidFill>
          <a:ln w="12700">
            <a:solidFill>
              <a:srgbClr val="12182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CC59C39-F800-2FDB-42F5-27E9FB06812D}"/>
              </a:ext>
            </a:extLst>
          </p:cNvPr>
          <p:cNvSpPr txBox="1"/>
          <p:nvPr/>
        </p:nvSpPr>
        <p:spPr>
          <a:xfrm>
            <a:off x="4419600" y="2946400"/>
            <a:ext cx="1092200" cy="215444"/>
          </a:xfrm>
          <a:prstGeom prst="rect">
            <a:avLst/>
          </a:prstGeom>
          <a:noFill/>
        </p:spPr>
        <p:txBody>
          <a:bodyPr vert="horz" wrap="square" lIns="0" tIns="0" rIns="0" bIns="0" rtlCol="0">
            <a:spAutoFit/>
          </a:bodyPr>
          <a:lstStyle/>
          <a:p>
            <a:r>
              <a:rPr lang="en-US" sz="1400" b="1">
                <a:solidFill>
                  <a:srgbClr val="FFFFFF"/>
                </a:solidFill>
                <a:latin typeface="Aptos" panose="020B0004020202020204" pitchFamily="34" charset="0"/>
              </a:rPr>
              <a:t>Admin</a:t>
            </a:r>
          </a:p>
        </p:txBody>
      </p:sp>
      <p:sp>
        <p:nvSpPr>
          <p:cNvPr id="10" name="Rectangle 9">
            <a:extLst>
              <a:ext uri="{FF2B5EF4-FFF2-40B4-BE49-F238E27FC236}">
                <a16:creationId xmlns:a16="http://schemas.microsoft.com/office/drawing/2014/main" id="{75AB1E83-EA5F-1374-C174-7AF7E0FF0364}"/>
              </a:ext>
            </a:extLst>
          </p:cNvPr>
          <p:cNvSpPr/>
          <p:nvPr/>
        </p:nvSpPr>
        <p:spPr>
          <a:xfrm>
            <a:off x="5664200" y="2794000"/>
            <a:ext cx="1524000" cy="558800"/>
          </a:xfrm>
          <a:prstGeom prst="rect">
            <a:avLst/>
          </a:prstGeom>
          <a:solidFill>
            <a:srgbClr val="121821"/>
          </a:solidFill>
          <a:ln w="12700">
            <a:solidFill>
              <a:srgbClr val="12182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44C1CB0-762C-1251-1337-358F4DE6CA0F}"/>
              </a:ext>
            </a:extLst>
          </p:cNvPr>
          <p:cNvSpPr txBox="1"/>
          <p:nvPr/>
        </p:nvSpPr>
        <p:spPr>
          <a:xfrm>
            <a:off x="5816600" y="2946400"/>
            <a:ext cx="1219200" cy="215444"/>
          </a:xfrm>
          <a:prstGeom prst="rect">
            <a:avLst/>
          </a:prstGeom>
          <a:noFill/>
        </p:spPr>
        <p:txBody>
          <a:bodyPr vert="horz" wrap="square" lIns="0" tIns="0" rIns="0" bIns="0" rtlCol="0">
            <a:spAutoFit/>
          </a:bodyPr>
          <a:lstStyle/>
          <a:p>
            <a:r>
              <a:rPr lang="en-US" sz="1400" b="1">
                <a:solidFill>
                  <a:srgbClr val="FFFFFF"/>
                </a:solidFill>
                <a:latin typeface="Aptos" panose="020B0004020202020204" pitchFamily="34" charset="0"/>
              </a:rPr>
              <a:t>Manager</a:t>
            </a:r>
          </a:p>
        </p:txBody>
      </p:sp>
      <p:sp>
        <p:nvSpPr>
          <p:cNvPr id="12" name="Rectangle 11">
            <a:extLst>
              <a:ext uri="{FF2B5EF4-FFF2-40B4-BE49-F238E27FC236}">
                <a16:creationId xmlns:a16="http://schemas.microsoft.com/office/drawing/2014/main" id="{B39BD81A-17FE-81DC-4C7A-95CE4294E6C7}"/>
              </a:ext>
            </a:extLst>
          </p:cNvPr>
          <p:cNvSpPr/>
          <p:nvPr/>
        </p:nvSpPr>
        <p:spPr>
          <a:xfrm>
            <a:off x="7188200" y="2794000"/>
            <a:ext cx="1397000" cy="558800"/>
          </a:xfrm>
          <a:prstGeom prst="rect">
            <a:avLst/>
          </a:prstGeom>
          <a:solidFill>
            <a:srgbClr val="121821"/>
          </a:solidFill>
          <a:ln w="12700">
            <a:solidFill>
              <a:srgbClr val="12182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2F7FEFD-1AD3-3374-7DAE-BE0A932BE233}"/>
              </a:ext>
            </a:extLst>
          </p:cNvPr>
          <p:cNvSpPr txBox="1"/>
          <p:nvPr/>
        </p:nvSpPr>
        <p:spPr>
          <a:xfrm>
            <a:off x="7340600" y="2946400"/>
            <a:ext cx="1092200" cy="215444"/>
          </a:xfrm>
          <a:prstGeom prst="rect">
            <a:avLst/>
          </a:prstGeom>
          <a:noFill/>
        </p:spPr>
        <p:txBody>
          <a:bodyPr vert="horz" wrap="square" lIns="0" tIns="0" rIns="0" bIns="0" rtlCol="0">
            <a:spAutoFit/>
          </a:bodyPr>
          <a:lstStyle/>
          <a:p>
            <a:r>
              <a:rPr lang="en-US" sz="1400" b="1">
                <a:solidFill>
                  <a:srgbClr val="FFFFFF"/>
                </a:solidFill>
                <a:latin typeface="Aptos" panose="020B0004020202020204" pitchFamily="34" charset="0"/>
              </a:rPr>
              <a:t>Staff</a:t>
            </a:r>
          </a:p>
        </p:txBody>
      </p:sp>
      <p:sp>
        <p:nvSpPr>
          <p:cNvPr id="14" name="Rectangle 13">
            <a:extLst>
              <a:ext uri="{FF2B5EF4-FFF2-40B4-BE49-F238E27FC236}">
                <a16:creationId xmlns:a16="http://schemas.microsoft.com/office/drawing/2014/main" id="{ABD8587D-8071-742E-531B-A5D9BE952786}"/>
              </a:ext>
            </a:extLst>
          </p:cNvPr>
          <p:cNvSpPr/>
          <p:nvPr/>
        </p:nvSpPr>
        <p:spPr>
          <a:xfrm>
            <a:off x="8585200" y="2794000"/>
            <a:ext cx="1524000" cy="558800"/>
          </a:xfrm>
          <a:prstGeom prst="rect">
            <a:avLst/>
          </a:prstGeom>
          <a:solidFill>
            <a:srgbClr val="121821"/>
          </a:solidFill>
          <a:ln w="12700">
            <a:solidFill>
              <a:srgbClr val="12182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4F075855-8A44-140C-EED1-BD7E600D62FD}"/>
              </a:ext>
            </a:extLst>
          </p:cNvPr>
          <p:cNvSpPr txBox="1"/>
          <p:nvPr/>
        </p:nvSpPr>
        <p:spPr>
          <a:xfrm>
            <a:off x="8737600" y="2946400"/>
            <a:ext cx="1219200" cy="215444"/>
          </a:xfrm>
          <a:prstGeom prst="rect">
            <a:avLst/>
          </a:prstGeom>
          <a:noFill/>
        </p:spPr>
        <p:txBody>
          <a:bodyPr vert="horz" wrap="square" lIns="0" tIns="0" rIns="0" bIns="0" rtlCol="0">
            <a:spAutoFit/>
          </a:bodyPr>
          <a:lstStyle/>
          <a:p>
            <a:r>
              <a:rPr lang="en-US" sz="1400" b="1">
                <a:solidFill>
                  <a:srgbClr val="FFFFFF"/>
                </a:solidFill>
                <a:latin typeface="Aptos" panose="020B0004020202020204" pitchFamily="34" charset="0"/>
              </a:rPr>
              <a:t>Cashier</a:t>
            </a:r>
          </a:p>
        </p:txBody>
      </p:sp>
      <p:sp>
        <p:nvSpPr>
          <p:cNvPr id="16" name="Rectangle 15">
            <a:extLst>
              <a:ext uri="{FF2B5EF4-FFF2-40B4-BE49-F238E27FC236}">
                <a16:creationId xmlns:a16="http://schemas.microsoft.com/office/drawing/2014/main" id="{85D3F71F-35D0-BA35-AB02-23D67417719D}"/>
              </a:ext>
            </a:extLst>
          </p:cNvPr>
          <p:cNvSpPr/>
          <p:nvPr/>
        </p:nvSpPr>
        <p:spPr>
          <a:xfrm>
            <a:off x="10109200" y="2794000"/>
            <a:ext cx="3810000" cy="558800"/>
          </a:xfrm>
          <a:prstGeom prst="rect">
            <a:avLst/>
          </a:prstGeom>
          <a:solidFill>
            <a:srgbClr val="121821"/>
          </a:solidFill>
          <a:ln w="12700">
            <a:solidFill>
              <a:srgbClr val="12182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31A570D4-E817-F0F7-9456-1031D85C6D61}"/>
              </a:ext>
            </a:extLst>
          </p:cNvPr>
          <p:cNvSpPr txBox="1"/>
          <p:nvPr/>
        </p:nvSpPr>
        <p:spPr>
          <a:xfrm>
            <a:off x="10261600" y="2946400"/>
            <a:ext cx="3505200" cy="215444"/>
          </a:xfrm>
          <a:prstGeom prst="rect">
            <a:avLst/>
          </a:prstGeom>
          <a:noFill/>
        </p:spPr>
        <p:txBody>
          <a:bodyPr vert="horz" wrap="square" lIns="0" tIns="0" rIns="0" bIns="0" rtlCol="0">
            <a:spAutoFit/>
          </a:bodyPr>
          <a:lstStyle/>
          <a:p>
            <a:r>
              <a:rPr lang="en-US" sz="1400" b="1">
                <a:solidFill>
                  <a:srgbClr val="FFFFFF"/>
                </a:solidFill>
                <a:latin typeface="Aptos" panose="020B0004020202020204" pitchFamily="34" charset="0"/>
              </a:rPr>
              <a:t>Ghi chú</a:t>
            </a:r>
          </a:p>
        </p:txBody>
      </p:sp>
      <p:sp>
        <p:nvSpPr>
          <p:cNvPr id="18" name="Rectangle 17">
            <a:extLst>
              <a:ext uri="{FF2B5EF4-FFF2-40B4-BE49-F238E27FC236}">
                <a16:creationId xmlns:a16="http://schemas.microsoft.com/office/drawing/2014/main" id="{7405F6A7-2034-BB46-E90B-BDD89BF2BA6D}"/>
              </a:ext>
            </a:extLst>
          </p:cNvPr>
          <p:cNvSpPr/>
          <p:nvPr/>
        </p:nvSpPr>
        <p:spPr>
          <a:xfrm>
            <a:off x="1092200" y="3352800"/>
            <a:ext cx="3175000" cy="609600"/>
          </a:xfrm>
          <a:prstGeom prst="rect">
            <a:avLst/>
          </a:prstGeom>
          <a:solidFill>
            <a:srgbClr val="FFFFFF"/>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62AE4878-6BAA-AB90-4A23-D955247976EB}"/>
              </a:ext>
            </a:extLst>
          </p:cNvPr>
          <p:cNvSpPr txBox="1"/>
          <p:nvPr/>
        </p:nvSpPr>
        <p:spPr>
          <a:xfrm>
            <a:off x="1244600" y="3517900"/>
            <a:ext cx="2870200" cy="246221"/>
          </a:xfrm>
          <a:prstGeom prst="rect">
            <a:avLst/>
          </a:prstGeom>
          <a:noFill/>
        </p:spPr>
        <p:txBody>
          <a:bodyPr vert="horz" wrap="square" lIns="0" tIns="0" rIns="0" bIns="0" rtlCol="0">
            <a:spAutoFit/>
          </a:bodyPr>
          <a:lstStyle/>
          <a:p>
            <a:r>
              <a:rPr lang="en-US" sz="1600">
                <a:solidFill>
                  <a:srgbClr val="171F2A"/>
                </a:solidFill>
                <a:latin typeface="Aptos" panose="020B0004020202020204" pitchFamily="34" charset="0"/>
              </a:rPr>
              <a:t>Auth register</a:t>
            </a:r>
          </a:p>
        </p:txBody>
      </p:sp>
      <p:sp>
        <p:nvSpPr>
          <p:cNvPr id="20" name="Rectangle 19">
            <a:extLst>
              <a:ext uri="{FF2B5EF4-FFF2-40B4-BE49-F238E27FC236}">
                <a16:creationId xmlns:a16="http://schemas.microsoft.com/office/drawing/2014/main" id="{1B4CD87C-B978-FCED-9976-4EA833C111BA}"/>
              </a:ext>
            </a:extLst>
          </p:cNvPr>
          <p:cNvSpPr/>
          <p:nvPr/>
        </p:nvSpPr>
        <p:spPr>
          <a:xfrm>
            <a:off x="4267200" y="3352800"/>
            <a:ext cx="1397000" cy="609600"/>
          </a:xfrm>
          <a:prstGeom prst="rect">
            <a:avLst/>
          </a:prstGeom>
          <a:solidFill>
            <a:srgbClr val="FFFFFF"/>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D7E98804-C9F6-4A22-1C56-FC06DDA501FB}"/>
              </a:ext>
            </a:extLst>
          </p:cNvPr>
          <p:cNvSpPr txBox="1"/>
          <p:nvPr/>
        </p:nvSpPr>
        <p:spPr>
          <a:xfrm>
            <a:off x="4419600" y="3517900"/>
            <a:ext cx="1092200" cy="246221"/>
          </a:xfrm>
          <a:prstGeom prst="rect">
            <a:avLst/>
          </a:prstGeom>
          <a:noFill/>
        </p:spPr>
        <p:txBody>
          <a:bodyPr vert="horz" wrap="square" lIns="0" tIns="0" rIns="0" bIns="0" rtlCol="0">
            <a:spAutoFit/>
          </a:bodyPr>
          <a:lstStyle/>
          <a:p>
            <a:r>
              <a:rPr lang="en-US" sz="1600" b="1">
                <a:solidFill>
                  <a:srgbClr val="1C8056"/>
                </a:solidFill>
                <a:latin typeface="Aptos" panose="020B0004020202020204" pitchFamily="34" charset="0"/>
              </a:rPr>
              <a:t>✓</a:t>
            </a:r>
          </a:p>
        </p:txBody>
      </p:sp>
      <p:sp>
        <p:nvSpPr>
          <p:cNvPr id="22" name="Rectangle 21">
            <a:extLst>
              <a:ext uri="{FF2B5EF4-FFF2-40B4-BE49-F238E27FC236}">
                <a16:creationId xmlns:a16="http://schemas.microsoft.com/office/drawing/2014/main" id="{8BA804E0-A1B8-6E57-82CD-E198C9465484}"/>
              </a:ext>
            </a:extLst>
          </p:cNvPr>
          <p:cNvSpPr/>
          <p:nvPr/>
        </p:nvSpPr>
        <p:spPr>
          <a:xfrm>
            <a:off x="5664200" y="3352800"/>
            <a:ext cx="1524000" cy="609600"/>
          </a:xfrm>
          <a:prstGeom prst="rect">
            <a:avLst/>
          </a:prstGeom>
          <a:solidFill>
            <a:srgbClr val="FFFFFF"/>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8116CC37-6056-EAEE-7100-938E8D95A0A9}"/>
              </a:ext>
            </a:extLst>
          </p:cNvPr>
          <p:cNvSpPr txBox="1"/>
          <p:nvPr/>
        </p:nvSpPr>
        <p:spPr>
          <a:xfrm>
            <a:off x="5816600" y="3517900"/>
            <a:ext cx="1219200" cy="246221"/>
          </a:xfrm>
          <a:prstGeom prst="rect">
            <a:avLst/>
          </a:prstGeom>
          <a:noFill/>
        </p:spPr>
        <p:txBody>
          <a:bodyPr vert="horz" wrap="square" lIns="0" tIns="0" rIns="0" bIns="0" rtlCol="0">
            <a:spAutoFit/>
          </a:bodyPr>
          <a:lstStyle/>
          <a:p>
            <a:endParaRPr lang="en-US" sz="1600">
              <a:solidFill>
                <a:srgbClr val="171F2A"/>
              </a:solidFill>
              <a:latin typeface="Aptos" panose="020B0004020202020204" pitchFamily="34" charset="0"/>
            </a:endParaRPr>
          </a:p>
        </p:txBody>
      </p:sp>
      <p:sp>
        <p:nvSpPr>
          <p:cNvPr id="24" name="Rectangle 23">
            <a:extLst>
              <a:ext uri="{FF2B5EF4-FFF2-40B4-BE49-F238E27FC236}">
                <a16:creationId xmlns:a16="http://schemas.microsoft.com/office/drawing/2014/main" id="{B4283F9C-E34D-860B-F9EA-44AD859B706C}"/>
              </a:ext>
            </a:extLst>
          </p:cNvPr>
          <p:cNvSpPr/>
          <p:nvPr/>
        </p:nvSpPr>
        <p:spPr>
          <a:xfrm>
            <a:off x="7188200" y="3352800"/>
            <a:ext cx="1397000" cy="609600"/>
          </a:xfrm>
          <a:prstGeom prst="rect">
            <a:avLst/>
          </a:prstGeom>
          <a:solidFill>
            <a:srgbClr val="FFFFFF"/>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94A92467-8F2F-41EB-9349-A235E360BB36}"/>
              </a:ext>
            </a:extLst>
          </p:cNvPr>
          <p:cNvSpPr txBox="1"/>
          <p:nvPr/>
        </p:nvSpPr>
        <p:spPr>
          <a:xfrm>
            <a:off x="7340600" y="3517900"/>
            <a:ext cx="1092200" cy="246221"/>
          </a:xfrm>
          <a:prstGeom prst="rect">
            <a:avLst/>
          </a:prstGeom>
          <a:noFill/>
        </p:spPr>
        <p:txBody>
          <a:bodyPr vert="horz" wrap="square" lIns="0" tIns="0" rIns="0" bIns="0" rtlCol="0">
            <a:spAutoFit/>
          </a:bodyPr>
          <a:lstStyle/>
          <a:p>
            <a:endParaRPr lang="en-US" sz="1600">
              <a:solidFill>
                <a:srgbClr val="171F2A"/>
              </a:solidFill>
              <a:latin typeface="Aptos" panose="020B0004020202020204" pitchFamily="34" charset="0"/>
            </a:endParaRPr>
          </a:p>
        </p:txBody>
      </p:sp>
      <p:sp>
        <p:nvSpPr>
          <p:cNvPr id="26" name="Rectangle 25">
            <a:extLst>
              <a:ext uri="{FF2B5EF4-FFF2-40B4-BE49-F238E27FC236}">
                <a16:creationId xmlns:a16="http://schemas.microsoft.com/office/drawing/2014/main" id="{BC06E433-1B58-4BD0-DB0F-9B5572915E69}"/>
              </a:ext>
            </a:extLst>
          </p:cNvPr>
          <p:cNvSpPr/>
          <p:nvPr/>
        </p:nvSpPr>
        <p:spPr>
          <a:xfrm>
            <a:off x="8585200" y="3352800"/>
            <a:ext cx="1524000" cy="609600"/>
          </a:xfrm>
          <a:prstGeom prst="rect">
            <a:avLst/>
          </a:prstGeom>
          <a:solidFill>
            <a:srgbClr val="FFFFFF"/>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12F8D302-81B1-FDBF-4769-DDF872C0103B}"/>
              </a:ext>
            </a:extLst>
          </p:cNvPr>
          <p:cNvSpPr txBox="1"/>
          <p:nvPr/>
        </p:nvSpPr>
        <p:spPr>
          <a:xfrm>
            <a:off x="8737600" y="3517900"/>
            <a:ext cx="1219200" cy="246221"/>
          </a:xfrm>
          <a:prstGeom prst="rect">
            <a:avLst/>
          </a:prstGeom>
          <a:noFill/>
        </p:spPr>
        <p:txBody>
          <a:bodyPr vert="horz" wrap="square" lIns="0" tIns="0" rIns="0" bIns="0" rtlCol="0">
            <a:spAutoFit/>
          </a:bodyPr>
          <a:lstStyle/>
          <a:p>
            <a:endParaRPr lang="en-US" sz="1600">
              <a:solidFill>
                <a:srgbClr val="171F2A"/>
              </a:solidFill>
              <a:latin typeface="Aptos" panose="020B0004020202020204" pitchFamily="34" charset="0"/>
            </a:endParaRPr>
          </a:p>
        </p:txBody>
      </p:sp>
      <p:sp>
        <p:nvSpPr>
          <p:cNvPr id="28" name="Rectangle 27">
            <a:extLst>
              <a:ext uri="{FF2B5EF4-FFF2-40B4-BE49-F238E27FC236}">
                <a16:creationId xmlns:a16="http://schemas.microsoft.com/office/drawing/2014/main" id="{EE9CBE16-B616-A5FE-2E44-5A363AF88D5F}"/>
              </a:ext>
            </a:extLst>
          </p:cNvPr>
          <p:cNvSpPr/>
          <p:nvPr/>
        </p:nvSpPr>
        <p:spPr>
          <a:xfrm>
            <a:off x="10109200" y="3352800"/>
            <a:ext cx="3810000" cy="609600"/>
          </a:xfrm>
          <a:prstGeom prst="rect">
            <a:avLst/>
          </a:prstGeom>
          <a:solidFill>
            <a:srgbClr val="FFFFFF"/>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36CD7B19-6A0B-4FEF-6F4F-B3E1DF08DC48}"/>
              </a:ext>
            </a:extLst>
          </p:cNvPr>
          <p:cNvSpPr txBox="1"/>
          <p:nvPr/>
        </p:nvSpPr>
        <p:spPr>
          <a:xfrm>
            <a:off x="10261600" y="3517900"/>
            <a:ext cx="3505200" cy="246221"/>
          </a:xfrm>
          <a:prstGeom prst="rect">
            <a:avLst/>
          </a:prstGeom>
          <a:noFill/>
        </p:spPr>
        <p:txBody>
          <a:bodyPr vert="horz" wrap="square" lIns="0" tIns="0" rIns="0" bIns="0" rtlCol="0">
            <a:spAutoFit/>
          </a:bodyPr>
          <a:lstStyle/>
          <a:p>
            <a:r>
              <a:rPr lang="en-US" sz="1600">
                <a:solidFill>
                  <a:srgbClr val="171F2A"/>
                </a:solidFill>
                <a:latin typeface="Aptos" panose="020B0004020202020204" pitchFamily="34" charset="0"/>
              </a:rPr>
              <a:t>Admin tạo tài khoản mới</a:t>
            </a:r>
          </a:p>
        </p:txBody>
      </p:sp>
      <p:sp>
        <p:nvSpPr>
          <p:cNvPr id="30" name="Rectangle 29">
            <a:extLst>
              <a:ext uri="{FF2B5EF4-FFF2-40B4-BE49-F238E27FC236}">
                <a16:creationId xmlns:a16="http://schemas.microsoft.com/office/drawing/2014/main" id="{1255E994-A76E-A03E-B10B-5DF7C85E0798}"/>
              </a:ext>
            </a:extLst>
          </p:cNvPr>
          <p:cNvSpPr/>
          <p:nvPr/>
        </p:nvSpPr>
        <p:spPr>
          <a:xfrm>
            <a:off x="1092200" y="3962400"/>
            <a:ext cx="3175000" cy="609600"/>
          </a:xfrm>
          <a:prstGeom prst="rect">
            <a:avLst/>
          </a:prstGeom>
          <a:solidFill>
            <a:srgbClr val="F4F6F8"/>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6E593FCF-2080-B1E0-1A33-54A6ED51B60D}"/>
              </a:ext>
            </a:extLst>
          </p:cNvPr>
          <p:cNvSpPr txBox="1"/>
          <p:nvPr/>
        </p:nvSpPr>
        <p:spPr>
          <a:xfrm>
            <a:off x="1244600" y="4127500"/>
            <a:ext cx="2870200" cy="246221"/>
          </a:xfrm>
          <a:prstGeom prst="rect">
            <a:avLst/>
          </a:prstGeom>
          <a:noFill/>
        </p:spPr>
        <p:txBody>
          <a:bodyPr vert="horz" wrap="square" lIns="0" tIns="0" rIns="0" bIns="0" rtlCol="0">
            <a:spAutoFit/>
          </a:bodyPr>
          <a:lstStyle/>
          <a:p>
            <a:r>
              <a:rPr lang="en-US" sz="1600">
                <a:solidFill>
                  <a:srgbClr val="171F2A"/>
                </a:solidFill>
                <a:latin typeface="Aptos" panose="020B0004020202020204" pitchFamily="34" charset="0"/>
              </a:rPr>
              <a:t>Users/Roles</a:t>
            </a:r>
          </a:p>
        </p:txBody>
      </p:sp>
      <p:sp>
        <p:nvSpPr>
          <p:cNvPr id="32" name="Rectangle 31">
            <a:extLst>
              <a:ext uri="{FF2B5EF4-FFF2-40B4-BE49-F238E27FC236}">
                <a16:creationId xmlns:a16="http://schemas.microsoft.com/office/drawing/2014/main" id="{1B76062A-56EE-5BFB-DA9C-14410E3F7CB4}"/>
              </a:ext>
            </a:extLst>
          </p:cNvPr>
          <p:cNvSpPr/>
          <p:nvPr/>
        </p:nvSpPr>
        <p:spPr>
          <a:xfrm>
            <a:off x="4267200" y="3962400"/>
            <a:ext cx="1397000" cy="609600"/>
          </a:xfrm>
          <a:prstGeom prst="rect">
            <a:avLst/>
          </a:prstGeom>
          <a:solidFill>
            <a:srgbClr val="F4F6F8"/>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8587A970-87FB-B2C9-4844-76D692C334FB}"/>
              </a:ext>
            </a:extLst>
          </p:cNvPr>
          <p:cNvSpPr txBox="1"/>
          <p:nvPr/>
        </p:nvSpPr>
        <p:spPr>
          <a:xfrm>
            <a:off x="4419600" y="4127500"/>
            <a:ext cx="1092200" cy="246221"/>
          </a:xfrm>
          <a:prstGeom prst="rect">
            <a:avLst/>
          </a:prstGeom>
          <a:noFill/>
        </p:spPr>
        <p:txBody>
          <a:bodyPr vert="horz" wrap="square" lIns="0" tIns="0" rIns="0" bIns="0" rtlCol="0">
            <a:spAutoFit/>
          </a:bodyPr>
          <a:lstStyle/>
          <a:p>
            <a:r>
              <a:rPr lang="en-US" sz="1600" b="1">
                <a:solidFill>
                  <a:srgbClr val="1C8056"/>
                </a:solidFill>
                <a:latin typeface="Aptos" panose="020B0004020202020204" pitchFamily="34" charset="0"/>
              </a:rPr>
              <a:t>✓</a:t>
            </a:r>
          </a:p>
        </p:txBody>
      </p:sp>
      <p:sp>
        <p:nvSpPr>
          <p:cNvPr id="34" name="Rectangle 33">
            <a:extLst>
              <a:ext uri="{FF2B5EF4-FFF2-40B4-BE49-F238E27FC236}">
                <a16:creationId xmlns:a16="http://schemas.microsoft.com/office/drawing/2014/main" id="{DE35F7AD-1A59-86D6-58A6-5DEA53B86CC4}"/>
              </a:ext>
            </a:extLst>
          </p:cNvPr>
          <p:cNvSpPr/>
          <p:nvPr/>
        </p:nvSpPr>
        <p:spPr>
          <a:xfrm>
            <a:off x="5664200" y="3962400"/>
            <a:ext cx="1524000" cy="609600"/>
          </a:xfrm>
          <a:prstGeom prst="rect">
            <a:avLst/>
          </a:prstGeom>
          <a:solidFill>
            <a:srgbClr val="F4F6F8"/>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50749F41-0495-44AA-5560-8CB117A41D39}"/>
              </a:ext>
            </a:extLst>
          </p:cNvPr>
          <p:cNvSpPr txBox="1"/>
          <p:nvPr/>
        </p:nvSpPr>
        <p:spPr>
          <a:xfrm>
            <a:off x="5816600" y="4127500"/>
            <a:ext cx="1219200" cy="246221"/>
          </a:xfrm>
          <a:prstGeom prst="rect">
            <a:avLst/>
          </a:prstGeom>
          <a:noFill/>
        </p:spPr>
        <p:txBody>
          <a:bodyPr vert="horz" wrap="square" lIns="0" tIns="0" rIns="0" bIns="0" rtlCol="0">
            <a:spAutoFit/>
          </a:bodyPr>
          <a:lstStyle/>
          <a:p>
            <a:r>
              <a:rPr lang="en-US" sz="1600" b="1">
                <a:solidFill>
                  <a:srgbClr val="1C8056"/>
                </a:solidFill>
                <a:latin typeface="Aptos" panose="020B0004020202020204" pitchFamily="34" charset="0"/>
              </a:rPr>
              <a:t>✓</a:t>
            </a:r>
          </a:p>
        </p:txBody>
      </p:sp>
      <p:sp>
        <p:nvSpPr>
          <p:cNvPr id="36" name="Rectangle 35">
            <a:extLst>
              <a:ext uri="{FF2B5EF4-FFF2-40B4-BE49-F238E27FC236}">
                <a16:creationId xmlns:a16="http://schemas.microsoft.com/office/drawing/2014/main" id="{2475A605-6AC6-0E87-A5A8-BEFD86167583}"/>
              </a:ext>
            </a:extLst>
          </p:cNvPr>
          <p:cNvSpPr/>
          <p:nvPr/>
        </p:nvSpPr>
        <p:spPr>
          <a:xfrm>
            <a:off x="7188200" y="3962400"/>
            <a:ext cx="1397000" cy="609600"/>
          </a:xfrm>
          <a:prstGeom prst="rect">
            <a:avLst/>
          </a:prstGeom>
          <a:solidFill>
            <a:srgbClr val="F4F6F8"/>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69C94287-45A1-DF55-FEAC-7B1494234CCB}"/>
              </a:ext>
            </a:extLst>
          </p:cNvPr>
          <p:cNvSpPr txBox="1"/>
          <p:nvPr/>
        </p:nvSpPr>
        <p:spPr>
          <a:xfrm>
            <a:off x="7340600" y="4127500"/>
            <a:ext cx="1092200" cy="246221"/>
          </a:xfrm>
          <a:prstGeom prst="rect">
            <a:avLst/>
          </a:prstGeom>
          <a:noFill/>
        </p:spPr>
        <p:txBody>
          <a:bodyPr vert="horz" wrap="square" lIns="0" tIns="0" rIns="0" bIns="0" rtlCol="0">
            <a:spAutoFit/>
          </a:bodyPr>
          <a:lstStyle/>
          <a:p>
            <a:endParaRPr lang="en-US" sz="1600">
              <a:solidFill>
                <a:srgbClr val="171F2A"/>
              </a:solidFill>
              <a:latin typeface="Aptos" panose="020B0004020202020204" pitchFamily="34" charset="0"/>
            </a:endParaRPr>
          </a:p>
        </p:txBody>
      </p:sp>
      <p:sp>
        <p:nvSpPr>
          <p:cNvPr id="38" name="Rectangle 37">
            <a:extLst>
              <a:ext uri="{FF2B5EF4-FFF2-40B4-BE49-F238E27FC236}">
                <a16:creationId xmlns:a16="http://schemas.microsoft.com/office/drawing/2014/main" id="{21DBDA24-FFD7-2974-7034-630105F2031D}"/>
              </a:ext>
            </a:extLst>
          </p:cNvPr>
          <p:cNvSpPr/>
          <p:nvPr/>
        </p:nvSpPr>
        <p:spPr>
          <a:xfrm>
            <a:off x="8585200" y="3962400"/>
            <a:ext cx="1524000" cy="609600"/>
          </a:xfrm>
          <a:prstGeom prst="rect">
            <a:avLst/>
          </a:prstGeom>
          <a:solidFill>
            <a:srgbClr val="F4F6F8"/>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66B0AECB-FBF4-233B-1E7E-9A6B5F71CD1F}"/>
              </a:ext>
            </a:extLst>
          </p:cNvPr>
          <p:cNvSpPr txBox="1"/>
          <p:nvPr/>
        </p:nvSpPr>
        <p:spPr>
          <a:xfrm>
            <a:off x="8737600" y="4127500"/>
            <a:ext cx="1219200" cy="246221"/>
          </a:xfrm>
          <a:prstGeom prst="rect">
            <a:avLst/>
          </a:prstGeom>
          <a:noFill/>
        </p:spPr>
        <p:txBody>
          <a:bodyPr vert="horz" wrap="square" lIns="0" tIns="0" rIns="0" bIns="0" rtlCol="0">
            <a:spAutoFit/>
          </a:bodyPr>
          <a:lstStyle/>
          <a:p>
            <a:endParaRPr lang="en-US" sz="1600">
              <a:solidFill>
                <a:srgbClr val="171F2A"/>
              </a:solidFill>
              <a:latin typeface="Aptos" panose="020B0004020202020204" pitchFamily="34" charset="0"/>
            </a:endParaRPr>
          </a:p>
        </p:txBody>
      </p:sp>
      <p:sp>
        <p:nvSpPr>
          <p:cNvPr id="40" name="Rectangle 39">
            <a:extLst>
              <a:ext uri="{FF2B5EF4-FFF2-40B4-BE49-F238E27FC236}">
                <a16:creationId xmlns:a16="http://schemas.microsoft.com/office/drawing/2014/main" id="{E0373DDD-8D3D-8AB0-3FAB-556879A569E2}"/>
              </a:ext>
            </a:extLst>
          </p:cNvPr>
          <p:cNvSpPr/>
          <p:nvPr/>
        </p:nvSpPr>
        <p:spPr>
          <a:xfrm>
            <a:off x="10109200" y="3962400"/>
            <a:ext cx="3810000" cy="609600"/>
          </a:xfrm>
          <a:prstGeom prst="rect">
            <a:avLst/>
          </a:prstGeom>
          <a:solidFill>
            <a:srgbClr val="F4F6F8"/>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028E2937-BEE6-DB20-3855-66F27B90D1B2}"/>
              </a:ext>
            </a:extLst>
          </p:cNvPr>
          <p:cNvSpPr txBox="1"/>
          <p:nvPr/>
        </p:nvSpPr>
        <p:spPr>
          <a:xfrm>
            <a:off x="10261600" y="4127500"/>
            <a:ext cx="3505200" cy="246221"/>
          </a:xfrm>
          <a:prstGeom prst="rect">
            <a:avLst/>
          </a:prstGeom>
          <a:noFill/>
        </p:spPr>
        <p:txBody>
          <a:bodyPr vert="horz" wrap="square" lIns="0" tIns="0" rIns="0" bIns="0" rtlCol="0">
            <a:spAutoFit/>
          </a:bodyPr>
          <a:lstStyle/>
          <a:p>
            <a:r>
              <a:rPr lang="vi-VN" sz="1600">
                <a:solidFill>
                  <a:srgbClr val="171F2A"/>
                </a:solidFill>
                <a:latin typeface="Aptos" panose="020B0004020202020204" pitchFamily="34" charset="0"/>
              </a:rPr>
              <a:t>Quản trị người dùng</a:t>
            </a:r>
            <a:endParaRPr lang="en-US" sz="1600">
              <a:solidFill>
                <a:srgbClr val="171F2A"/>
              </a:solidFill>
              <a:latin typeface="Aptos" panose="020B0004020202020204" pitchFamily="34" charset="0"/>
            </a:endParaRPr>
          </a:p>
        </p:txBody>
      </p:sp>
      <p:sp>
        <p:nvSpPr>
          <p:cNvPr id="42" name="Rectangle 41">
            <a:extLst>
              <a:ext uri="{FF2B5EF4-FFF2-40B4-BE49-F238E27FC236}">
                <a16:creationId xmlns:a16="http://schemas.microsoft.com/office/drawing/2014/main" id="{9006E380-F84A-C927-71FC-3DCA5B93EFD5}"/>
              </a:ext>
            </a:extLst>
          </p:cNvPr>
          <p:cNvSpPr/>
          <p:nvPr/>
        </p:nvSpPr>
        <p:spPr>
          <a:xfrm>
            <a:off x="1092200" y="4572000"/>
            <a:ext cx="3175000" cy="609600"/>
          </a:xfrm>
          <a:prstGeom prst="rect">
            <a:avLst/>
          </a:prstGeom>
          <a:solidFill>
            <a:srgbClr val="F4F6F8"/>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A806A1A5-5C03-2408-E6AC-BCD66530B605}"/>
              </a:ext>
            </a:extLst>
          </p:cNvPr>
          <p:cNvSpPr txBox="1"/>
          <p:nvPr/>
        </p:nvSpPr>
        <p:spPr>
          <a:xfrm>
            <a:off x="1244600" y="4737100"/>
            <a:ext cx="2870200" cy="246221"/>
          </a:xfrm>
          <a:prstGeom prst="rect">
            <a:avLst/>
          </a:prstGeom>
          <a:noFill/>
        </p:spPr>
        <p:txBody>
          <a:bodyPr vert="horz" wrap="square" lIns="0" tIns="0" rIns="0" bIns="0" rtlCol="0">
            <a:spAutoFit/>
          </a:bodyPr>
          <a:lstStyle/>
          <a:p>
            <a:r>
              <a:rPr lang="en-US" sz="1600">
                <a:solidFill>
                  <a:srgbClr val="171F2A"/>
                </a:solidFill>
                <a:latin typeface="Aptos" panose="020B0004020202020204" pitchFamily="34" charset="0"/>
              </a:rPr>
              <a:t>Venue setup</a:t>
            </a:r>
          </a:p>
        </p:txBody>
      </p:sp>
      <p:sp>
        <p:nvSpPr>
          <p:cNvPr id="44" name="Rectangle 43">
            <a:extLst>
              <a:ext uri="{FF2B5EF4-FFF2-40B4-BE49-F238E27FC236}">
                <a16:creationId xmlns:a16="http://schemas.microsoft.com/office/drawing/2014/main" id="{1941113A-0637-1747-5564-4DF565A0413D}"/>
              </a:ext>
            </a:extLst>
          </p:cNvPr>
          <p:cNvSpPr/>
          <p:nvPr/>
        </p:nvSpPr>
        <p:spPr>
          <a:xfrm>
            <a:off x="4267200" y="4572000"/>
            <a:ext cx="1397000" cy="609600"/>
          </a:xfrm>
          <a:prstGeom prst="rect">
            <a:avLst/>
          </a:prstGeom>
          <a:solidFill>
            <a:srgbClr val="F4F6F8"/>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89696E67-A694-23E7-4281-48F920954C09}"/>
              </a:ext>
            </a:extLst>
          </p:cNvPr>
          <p:cNvSpPr txBox="1"/>
          <p:nvPr/>
        </p:nvSpPr>
        <p:spPr>
          <a:xfrm>
            <a:off x="4419600" y="4737100"/>
            <a:ext cx="1092200" cy="246221"/>
          </a:xfrm>
          <a:prstGeom prst="rect">
            <a:avLst/>
          </a:prstGeom>
          <a:noFill/>
        </p:spPr>
        <p:txBody>
          <a:bodyPr vert="horz" wrap="square" lIns="0" tIns="0" rIns="0" bIns="0" rtlCol="0">
            <a:spAutoFit/>
          </a:bodyPr>
          <a:lstStyle/>
          <a:p>
            <a:r>
              <a:rPr lang="en-US" sz="1600" b="1">
                <a:solidFill>
                  <a:srgbClr val="1C8056"/>
                </a:solidFill>
                <a:latin typeface="Aptos" panose="020B0004020202020204" pitchFamily="34" charset="0"/>
              </a:rPr>
              <a:t>✓</a:t>
            </a:r>
          </a:p>
        </p:txBody>
      </p:sp>
      <p:sp>
        <p:nvSpPr>
          <p:cNvPr id="46" name="Rectangle 45">
            <a:extLst>
              <a:ext uri="{FF2B5EF4-FFF2-40B4-BE49-F238E27FC236}">
                <a16:creationId xmlns:a16="http://schemas.microsoft.com/office/drawing/2014/main" id="{D5245096-B02F-68DE-C843-65A8A3221FB7}"/>
              </a:ext>
            </a:extLst>
          </p:cNvPr>
          <p:cNvSpPr/>
          <p:nvPr/>
        </p:nvSpPr>
        <p:spPr>
          <a:xfrm>
            <a:off x="5664200" y="4572000"/>
            <a:ext cx="1524000" cy="609600"/>
          </a:xfrm>
          <a:prstGeom prst="rect">
            <a:avLst/>
          </a:prstGeom>
          <a:solidFill>
            <a:srgbClr val="F4F6F8"/>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551C188A-0EB9-E5EC-6A5B-99411A2FD975}"/>
              </a:ext>
            </a:extLst>
          </p:cNvPr>
          <p:cNvSpPr txBox="1"/>
          <p:nvPr/>
        </p:nvSpPr>
        <p:spPr>
          <a:xfrm>
            <a:off x="5816600" y="4737100"/>
            <a:ext cx="1219200" cy="246221"/>
          </a:xfrm>
          <a:prstGeom prst="rect">
            <a:avLst/>
          </a:prstGeom>
          <a:noFill/>
        </p:spPr>
        <p:txBody>
          <a:bodyPr vert="horz" wrap="square" lIns="0" tIns="0" rIns="0" bIns="0" rtlCol="0">
            <a:spAutoFit/>
          </a:bodyPr>
          <a:lstStyle/>
          <a:p>
            <a:r>
              <a:rPr lang="en-US" sz="1600" b="1">
                <a:solidFill>
                  <a:srgbClr val="1C8056"/>
                </a:solidFill>
                <a:latin typeface="Aptos" panose="020B0004020202020204" pitchFamily="34" charset="0"/>
              </a:rPr>
              <a:t>✓</a:t>
            </a:r>
          </a:p>
        </p:txBody>
      </p:sp>
      <p:sp>
        <p:nvSpPr>
          <p:cNvPr id="48" name="Rectangle 47">
            <a:extLst>
              <a:ext uri="{FF2B5EF4-FFF2-40B4-BE49-F238E27FC236}">
                <a16:creationId xmlns:a16="http://schemas.microsoft.com/office/drawing/2014/main" id="{45DB9596-BB5E-567F-B480-EB7A85B9B226}"/>
              </a:ext>
            </a:extLst>
          </p:cNvPr>
          <p:cNvSpPr/>
          <p:nvPr/>
        </p:nvSpPr>
        <p:spPr>
          <a:xfrm>
            <a:off x="7188200" y="4572000"/>
            <a:ext cx="1397000" cy="609600"/>
          </a:xfrm>
          <a:prstGeom prst="rect">
            <a:avLst/>
          </a:prstGeom>
          <a:solidFill>
            <a:srgbClr val="F4F6F8"/>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3FD6AD60-1BD0-D49A-E2BF-C8099F152549}"/>
              </a:ext>
            </a:extLst>
          </p:cNvPr>
          <p:cNvSpPr txBox="1"/>
          <p:nvPr/>
        </p:nvSpPr>
        <p:spPr>
          <a:xfrm>
            <a:off x="7340600" y="4737100"/>
            <a:ext cx="1092200" cy="246221"/>
          </a:xfrm>
          <a:prstGeom prst="rect">
            <a:avLst/>
          </a:prstGeom>
          <a:noFill/>
        </p:spPr>
        <p:txBody>
          <a:bodyPr vert="horz" wrap="square" lIns="0" tIns="0" rIns="0" bIns="0" rtlCol="0">
            <a:spAutoFit/>
          </a:bodyPr>
          <a:lstStyle/>
          <a:p>
            <a:endParaRPr lang="en-US" sz="1600">
              <a:solidFill>
                <a:srgbClr val="171F2A"/>
              </a:solidFill>
              <a:latin typeface="Aptos" panose="020B0004020202020204" pitchFamily="34" charset="0"/>
            </a:endParaRPr>
          </a:p>
        </p:txBody>
      </p:sp>
      <p:sp>
        <p:nvSpPr>
          <p:cNvPr id="50" name="Rectangle 49">
            <a:extLst>
              <a:ext uri="{FF2B5EF4-FFF2-40B4-BE49-F238E27FC236}">
                <a16:creationId xmlns:a16="http://schemas.microsoft.com/office/drawing/2014/main" id="{DBB55ABE-C6A8-4BBB-1994-9618D43BE4E8}"/>
              </a:ext>
            </a:extLst>
          </p:cNvPr>
          <p:cNvSpPr/>
          <p:nvPr/>
        </p:nvSpPr>
        <p:spPr>
          <a:xfrm>
            <a:off x="8585200" y="4572000"/>
            <a:ext cx="1524000" cy="609600"/>
          </a:xfrm>
          <a:prstGeom prst="rect">
            <a:avLst/>
          </a:prstGeom>
          <a:solidFill>
            <a:srgbClr val="F4F6F8"/>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3FF97CF6-062F-8550-DAB7-996C046911FE}"/>
              </a:ext>
            </a:extLst>
          </p:cNvPr>
          <p:cNvSpPr txBox="1"/>
          <p:nvPr/>
        </p:nvSpPr>
        <p:spPr>
          <a:xfrm>
            <a:off x="8737600" y="4737100"/>
            <a:ext cx="1219200" cy="246221"/>
          </a:xfrm>
          <a:prstGeom prst="rect">
            <a:avLst/>
          </a:prstGeom>
          <a:noFill/>
        </p:spPr>
        <p:txBody>
          <a:bodyPr vert="horz" wrap="square" lIns="0" tIns="0" rIns="0" bIns="0" rtlCol="0">
            <a:spAutoFit/>
          </a:bodyPr>
          <a:lstStyle/>
          <a:p>
            <a:endParaRPr lang="en-US" sz="1600">
              <a:solidFill>
                <a:srgbClr val="171F2A"/>
              </a:solidFill>
              <a:latin typeface="Aptos" panose="020B0004020202020204" pitchFamily="34" charset="0"/>
            </a:endParaRPr>
          </a:p>
        </p:txBody>
      </p:sp>
      <p:sp>
        <p:nvSpPr>
          <p:cNvPr id="52" name="Rectangle 51">
            <a:extLst>
              <a:ext uri="{FF2B5EF4-FFF2-40B4-BE49-F238E27FC236}">
                <a16:creationId xmlns:a16="http://schemas.microsoft.com/office/drawing/2014/main" id="{9A1BD96C-D193-4BB7-0AF5-EE9CF1E68548}"/>
              </a:ext>
            </a:extLst>
          </p:cNvPr>
          <p:cNvSpPr/>
          <p:nvPr/>
        </p:nvSpPr>
        <p:spPr>
          <a:xfrm>
            <a:off x="10109200" y="4572000"/>
            <a:ext cx="3810000" cy="609600"/>
          </a:xfrm>
          <a:prstGeom prst="rect">
            <a:avLst/>
          </a:prstGeom>
          <a:solidFill>
            <a:srgbClr val="F4F6F8"/>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9D585CE5-F91D-ADAA-1E83-34293BEB2264}"/>
              </a:ext>
            </a:extLst>
          </p:cNvPr>
          <p:cNvSpPr txBox="1"/>
          <p:nvPr/>
        </p:nvSpPr>
        <p:spPr>
          <a:xfrm>
            <a:off x="10261600" y="4737100"/>
            <a:ext cx="3505200" cy="246221"/>
          </a:xfrm>
          <a:prstGeom prst="rect">
            <a:avLst/>
          </a:prstGeom>
          <a:noFill/>
        </p:spPr>
        <p:txBody>
          <a:bodyPr vert="horz" wrap="square" lIns="0" tIns="0" rIns="0" bIns="0" rtlCol="0">
            <a:spAutoFit/>
          </a:bodyPr>
          <a:lstStyle/>
          <a:p>
            <a:r>
              <a:rPr lang="en-US" sz="1600">
                <a:solidFill>
                  <a:srgbClr val="171F2A"/>
                </a:solidFill>
                <a:latin typeface="Aptos" panose="020B0004020202020204" pitchFamily="34" charset="0"/>
              </a:rPr>
              <a:t>Floors/zones/table types</a:t>
            </a:r>
          </a:p>
        </p:txBody>
      </p:sp>
      <p:sp>
        <p:nvSpPr>
          <p:cNvPr id="54" name="Rectangle 53">
            <a:extLst>
              <a:ext uri="{FF2B5EF4-FFF2-40B4-BE49-F238E27FC236}">
                <a16:creationId xmlns:a16="http://schemas.microsoft.com/office/drawing/2014/main" id="{3A81298E-F0A7-DC35-1880-A0A0F0A11725}"/>
              </a:ext>
            </a:extLst>
          </p:cNvPr>
          <p:cNvSpPr/>
          <p:nvPr/>
        </p:nvSpPr>
        <p:spPr>
          <a:xfrm>
            <a:off x="1092200" y="5181600"/>
            <a:ext cx="3175000" cy="609600"/>
          </a:xfrm>
          <a:prstGeom prst="rect">
            <a:avLst/>
          </a:prstGeom>
          <a:solidFill>
            <a:srgbClr val="F4F6F8"/>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1F8F7DA9-F8D6-1D98-C5ED-28AAD6F0446A}"/>
              </a:ext>
            </a:extLst>
          </p:cNvPr>
          <p:cNvSpPr txBox="1"/>
          <p:nvPr/>
        </p:nvSpPr>
        <p:spPr>
          <a:xfrm>
            <a:off x="1244600" y="5346700"/>
            <a:ext cx="2870200" cy="246221"/>
          </a:xfrm>
          <a:prstGeom prst="rect">
            <a:avLst/>
          </a:prstGeom>
          <a:noFill/>
        </p:spPr>
        <p:txBody>
          <a:bodyPr vert="horz" wrap="square" lIns="0" tIns="0" rIns="0" bIns="0" rtlCol="0">
            <a:spAutoFit/>
          </a:bodyPr>
          <a:lstStyle/>
          <a:p>
            <a:r>
              <a:rPr lang="en-US" sz="1600">
                <a:solidFill>
                  <a:srgbClr val="171F2A"/>
                </a:solidFill>
                <a:latin typeface="Aptos" panose="020B0004020202020204" pitchFamily="34" charset="0"/>
              </a:rPr>
              <a:t>Venue tables read</a:t>
            </a:r>
          </a:p>
        </p:txBody>
      </p:sp>
      <p:sp>
        <p:nvSpPr>
          <p:cNvPr id="56" name="Rectangle 55">
            <a:extLst>
              <a:ext uri="{FF2B5EF4-FFF2-40B4-BE49-F238E27FC236}">
                <a16:creationId xmlns:a16="http://schemas.microsoft.com/office/drawing/2014/main" id="{8D5A7FAF-9075-CE90-8CE5-14692A28B2A8}"/>
              </a:ext>
            </a:extLst>
          </p:cNvPr>
          <p:cNvSpPr/>
          <p:nvPr/>
        </p:nvSpPr>
        <p:spPr>
          <a:xfrm>
            <a:off x="4267200" y="5181600"/>
            <a:ext cx="1397000" cy="609600"/>
          </a:xfrm>
          <a:prstGeom prst="rect">
            <a:avLst/>
          </a:prstGeom>
          <a:solidFill>
            <a:srgbClr val="F4F6F8"/>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DD177D2D-6BE9-8F51-8C74-40B40C896F28}"/>
              </a:ext>
            </a:extLst>
          </p:cNvPr>
          <p:cNvSpPr txBox="1"/>
          <p:nvPr/>
        </p:nvSpPr>
        <p:spPr>
          <a:xfrm>
            <a:off x="4419600" y="5346700"/>
            <a:ext cx="1092200" cy="246221"/>
          </a:xfrm>
          <a:prstGeom prst="rect">
            <a:avLst/>
          </a:prstGeom>
          <a:noFill/>
        </p:spPr>
        <p:txBody>
          <a:bodyPr vert="horz" wrap="square" lIns="0" tIns="0" rIns="0" bIns="0" rtlCol="0">
            <a:spAutoFit/>
          </a:bodyPr>
          <a:lstStyle/>
          <a:p>
            <a:r>
              <a:rPr lang="en-US" sz="1600" b="1">
                <a:solidFill>
                  <a:srgbClr val="1C8056"/>
                </a:solidFill>
                <a:latin typeface="Aptos" panose="020B0004020202020204" pitchFamily="34" charset="0"/>
              </a:rPr>
              <a:t>✓</a:t>
            </a:r>
          </a:p>
        </p:txBody>
      </p:sp>
      <p:sp>
        <p:nvSpPr>
          <p:cNvPr id="58" name="Rectangle 57">
            <a:extLst>
              <a:ext uri="{FF2B5EF4-FFF2-40B4-BE49-F238E27FC236}">
                <a16:creationId xmlns:a16="http://schemas.microsoft.com/office/drawing/2014/main" id="{EB7BF03A-9DC0-51D5-22E9-44B8641A7C32}"/>
              </a:ext>
            </a:extLst>
          </p:cNvPr>
          <p:cNvSpPr/>
          <p:nvPr/>
        </p:nvSpPr>
        <p:spPr>
          <a:xfrm>
            <a:off x="5664200" y="5181600"/>
            <a:ext cx="1524000" cy="609600"/>
          </a:xfrm>
          <a:prstGeom prst="rect">
            <a:avLst/>
          </a:prstGeom>
          <a:solidFill>
            <a:srgbClr val="F4F6F8"/>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a:extLst>
              <a:ext uri="{FF2B5EF4-FFF2-40B4-BE49-F238E27FC236}">
                <a16:creationId xmlns:a16="http://schemas.microsoft.com/office/drawing/2014/main" id="{98BBB886-A916-9676-6949-A382BFFECEAE}"/>
              </a:ext>
            </a:extLst>
          </p:cNvPr>
          <p:cNvSpPr txBox="1"/>
          <p:nvPr/>
        </p:nvSpPr>
        <p:spPr>
          <a:xfrm>
            <a:off x="5816600" y="5346700"/>
            <a:ext cx="1219200" cy="246221"/>
          </a:xfrm>
          <a:prstGeom prst="rect">
            <a:avLst/>
          </a:prstGeom>
          <a:noFill/>
        </p:spPr>
        <p:txBody>
          <a:bodyPr vert="horz" wrap="square" lIns="0" tIns="0" rIns="0" bIns="0" rtlCol="0">
            <a:spAutoFit/>
          </a:bodyPr>
          <a:lstStyle/>
          <a:p>
            <a:r>
              <a:rPr lang="en-US" sz="1600" b="1">
                <a:solidFill>
                  <a:srgbClr val="1C8056"/>
                </a:solidFill>
                <a:latin typeface="Aptos" panose="020B0004020202020204" pitchFamily="34" charset="0"/>
              </a:rPr>
              <a:t>✓</a:t>
            </a:r>
          </a:p>
        </p:txBody>
      </p:sp>
      <p:sp>
        <p:nvSpPr>
          <p:cNvPr id="60" name="Rectangle 59">
            <a:extLst>
              <a:ext uri="{FF2B5EF4-FFF2-40B4-BE49-F238E27FC236}">
                <a16:creationId xmlns:a16="http://schemas.microsoft.com/office/drawing/2014/main" id="{C03982D8-1572-6B45-71A8-7A4A74418E8C}"/>
              </a:ext>
            </a:extLst>
          </p:cNvPr>
          <p:cNvSpPr/>
          <p:nvPr/>
        </p:nvSpPr>
        <p:spPr>
          <a:xfrm>
            <a:off x="7188200" y="5181600"/>
            <a:ext cx="1397000" cy="609600"/>
          </a:xfrm>
          <a:prstGeom prst="rect">
            <a:avLst/>
          </a:prstGeom>
          <a:solidFill>
            <a:srgbClr val="F4F6F8"/>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9E838A31-4EAB-F66C-9C89-949D2D1240CA}"/>
              </a:ext>
            </a:extLst>
          </p:cNvPr>
          <p:cNvSpPr txBox="1"/>
          <p:nvPr/>
        </p:nvSpPr>
        <p:spPr>
          <a:xfrm>
            <a:off x="7340600" y="5346700"/>
            <a:ext cx="1092200" cy="246221"/>
          </a:xfrm>
          <a:prstGeom prst="rect">
            <a:avLst/>
          </a:prstGeom>
          <a:noFill/>
        </p:spPr>
        <p:txBody>
          <a:bodyPr vert="horz" wrap="square" lIns="0" tIns="0" rIns="0" bIns="0" rtlCol="0">
            <a:spAutoFit/>
          </a:bodyPr>
          <a:lstStyle/>
          <a:p>
            <a:r>
              <a:rPr lang="en-US" sz="1600" b="1">
                <a:solidFill>
                  <a:srgbClr val="1C8056"/>
                </a:solidFill>
                <a:latin typeface="Aptos" panose="020B0004020202020204" pitchFamily="34" charset="0"/>
              </a:rPr>
              <a:t>✓</a:t>
            </a:r>
          </a:p>
        </p:txBody>
      </p:sp>
      <p:sp>
        <p:nvSpPr>
          <p:cNvPr id="62" name="Rectangle 61">
            <a:extLst>
              <a:ext uri="{FF2B5EF4-FFF2-40B4-BE49-F238E27FC236}">
                <a16:creationId xmlns:a16="http://schemas.microsoft.com/office/drawing/2014/main" id="{4CF7FAC0-B3E0-31A3-D774-AF63913F53FA}"/>
              </a:ext>
            </a:extLst>
          </p:cNvPr>
          <p:cNvSpPr/>
          <p:nvPr/>
        </p:nvSpPr>
        <p:spPr>
          <a:xfrm>
            <a:off x="8585200" y="5181600"/>
            <a:ext cx="1524000" cy="609600"/>
          </a:xfrm>
          <a:prstGeom prst="rect">
            <a:avLst/>
          </a:prstGeom>
          <a:solidFill>
            <a:srgbClr val="F4F6F8"/>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0BAA7AA2-2751-BCBE-5391-3D37D8CAEB95}"/>
              </a:ext>
            </a:extLst>
          </p:cNvPr>
          <p:cNvSpPr txBox="1"/>
          <p:nvPr/>
        </p:nvSpPr>
        <p:spPr>
          <a:xfrm>
            <a:off x="8737600" y="5346700"/>
            <a:ext cx="1219200" cy="246221"/>
          </a:xfrm>
          <a:prstGeom prst="rect">
            <a:avLst/>
          </a:prstGeom>
          <a:noFill/>
        </p:spPr>
        <p:txBody>
          <a:bodyPr vert="horz" wrap="square" lIns="0" tIns="0" rIns="0" bIns="0" rtlCol="0">
            <a:spAutoFit/>
          </a:bodyPr>
          <a:lstStyle/>
          <a:p>
            <a:r>
              <a:rPr lang="en-US" sz="1600" b="1">
                <a:solidFill>
                  <a:srgbClr val="1C8056"/>
                </a:solidFill>
                <a:latin typeface="Aptos" panose="020B0004020202020204" pitchFamily="34" charset="0"/>
              </a:rPr>
              <a:t>✓</a:t>
            </a:r>
          </a:p>
        </p:txBody>
      </p:sp>
      <p:sp>
        <p:nvSpPr>
          <p:cNvPr id="64" name="Rectangle 63">
            <a:extLst>
              <a:ext uri="{FF2B5EF4-FFF2-40B4-BE49-F238E27FC236}">
                <a16:creationId xmlns:a16="http://schemas.microsoft.com/office/drawing/2014/main" id="{F91E3930-C6B7-1FFE-3960-05D978087579}"/>
              </a:ext>
            </a:extLst>
          </p:cNvPr>
          <p:cNvSpPr/>
          <p:nvPr/>
        </p:nvSpPr>
        <p:spPr>
          <a:xfrm>
            <a:off x="10109200" y="5181600"/>
            <a:ext cx="3810000" cy="609600"/>
          </a:xfrm>
          <a:prstGeom prst="rect">
            <a:avLst/>
          </a:prstGeom>
          <a:solidFill>
            <a:srgbClr val="F4F6F8"/>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a:extLst>
              <a:ext uri="{FF2B5EF4-FFF2-40B4-BE49-F238E27FC236}">
                <a16:creationId xmlns:a16="http://schemas.microsoft.com/office/drawing/2014/main" id="{3A673AAB-B5A2-92FC-2B11-D14E5A928B4C}"/>
              </a:ext>
            </a:extLst>
          </p:cNvPr>
          <p:cNvSpPr txBox="1"/>
          <p:nvPr/>
        </p:nvSpPr>
        <p:spPr>
          <a:xfrm>
            <a:off x="10261600" y="5346700"/>
            <a:ext cx="3505200" cy="246221"/>
          </a:xfrm>
          <a:prstGeom prst="rect">
            <a:avLst/>
          </a:prstGeom>
          <a:noFill/>
        </p:spPr>
        <p:txBody>
          <a:bodyPr vert="horz" wrap="square" lIns="0" tIns="0" rIns="0" bIns="0" rtlCol="0">
            <a:spAutoFit/>
          </a:bodyPr>
          <a:lstStyle/>
          <a:p>
            <a:r>
              <a:rPr lang="en-US" sz="1600">
                <a:solidFill>
                  <a:srgbClr val="171F2A"/>
                </a:solidFill>
                <a:latin typeface="Aptos" panose="020B0004020202020204" pitchFamily="34" charset="0"/>
              </a:rPr>
              <a:t>Nhân viên xem bàn</a:t>
            </a:r>
          </a:p>
        </p:txBody>
      </p:sp>
      <p:sp>
        <p:nvSpPr>
          <p:cNvPr id="66" name="Rectangle 65">
            <a:extLst>
              <a:ext uri="{FF2B5EF4-FFF2-40B4-BE49-F238E27FC236}">
                <a16:creationId xmlns:a16="http://schemas.microsoft.com/office/drawing/2014/main" id="{929CBDF7-C261-E46C-30D7-57F994FE2773}"/>
              </a:ext>
            </a:extLst>
          </p:cNvPr>
          <p:cNvSpPr/>
          <p:nvPr/>
        </p:nvSpPr>
        <p:spPr>
          <a:xfrm>
            <a:off x="1092200" y="5791200"/>
            <a:ext cx="3175000" cy="609600"/>
          </a:xfrm>
          <a:prstGeom prst="rect">
            <a:avLst/>
          </a:prstGeom>
          <a:solidFill>
            <a:srgbClr val="F4F6F8"/>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5F6FB379-AC1B-36D8-52DD-A096113FEBDC}"/>
              </a:ext>
            </a:extLst>
          </p:cNvPr>
          <p:cNvSpPr txBox="1"/>
          <p:nvPr/>
        </p:nvSpPr>
        <p:spPr>
          <a:xfrm>
            <a:off x="1244600" y="5956300"/>
            <a:ext cx="2870200" cy="246221"/>
          </a:xfrm>
          <a:prstGeom prst="rect">
            <a:avLst/>
          </a:prstGeom>
          <a:noFill/>
        </p:spPr>
        <p:txBody>
          <a:bodyPr vert="horz" wrap="square" lIns="0" tIns="0" rIns="0" bIns="0" rtlCol="0">
            <a:spAutoFit/>
          </a:bodyPr>
          <a:lstStyle/>
          <a:p>
            <a:r>
              <a:rPr lang="en-US" sz="1600">
                <a:solidFill>
                  <a:srgbClr val="171F2A"/>
                </a:solidFill>
                <a:latin typeface="Aptos" panose="020B0004020202020204" pitchFamily="34" charset="0"/>
              </a:rPr>
              <a:t>Sessions/Orders</a:t>
            </a:r>
          </a:p>
        </p:txBody>
      </p:sp>
      <p:sp>
        <p:nvSpPr>
          <p:cNvPr id="68" name="Rectangle 67">
            <a:extLst>
              <a:ext uri="{FF2B5EF4-FFF2-40B4-BE49-F238E27FC236}">
                <a16:creationId xmlns:a16="http://schemas.microsoft.com/office/drawing/2014/main" id="{0718A4A6-32F3-CB20-2804-245082468CE1}"/>
              </a:ext>
            </a:extLst>
          </p:cNvPr>
          <p:cNvSpPr/>
          <p:nvPr/>
        </p:nvSpPr>
        <p:spPr>
          <a:xfrm>
            <a:off x="4267200" y="5791200"/>
            <a:ext cx="1397000" cy="609600"/>
          </a:xfrm>
          <a:prstGeom prst="rect">
            <a:avLst/>
          </a:prstGeom>
          <a:solidFill>
            <a:srgbClr val="F4F6F8"/>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TextBox 68">
            <a:extLst>
              <a:ext uri="{FF2B5EF4-FFF2-40B4-BE49-F238E27FC236}">
                <a16:creationId xmlns:a16="http://schemas.microsoft.com/office/drawing/2014/main" id="{37EEE606-95E0-C316-D382-8E2ABA9AA483}"/>
              </a:ext>
            </a:extLst>
          </p:cNvPr>
          <p:cNvSpPr txBox="1"/>
          <p:nvPr/>
        </p:nvSpPr>
        <p:spPr>
          <a:xfrm>
            <a:off x="4419600" y="5956300"/>
            <a:ext cx="1092200" cy="246221"/>
          </a:xfrm>
          <a:prstGeom prst="rect">
            <a:avLst/>
          </a:prstGeom>
          <a:noFill/>
        </p:spPr>
        <p:txBody>
          <a:bodyPr vert="horz" wrap="square" lIns="0" tIns="0" rIns="0" bIns="0" rtlCol="0">
            <a:spAutoFit/>
          </a:bodyPr>
          <a:lstStyle/>
          <a:p>
            <a:r>
              <a:rPr lang="en-US" sz="1600" b="1">
                <a:solidFill>
                  <a:srgbClr val="1C8056"/>
                </a:solidFill>
                <a:latin typeface="Aptos" panose="020B0004020202020204" pitchFamily="34" charset="0"/>
              </a:rPr>
              <a:t>✓</a:t>
            </a:r>
          </a:p>
        </p:txBody>
      </p:sp>
      <p:sp>
        <p:nvSpPr>
          <p:cNvPr id="70" name="Rectangle 69">
            <a:extLst>
              <a:ext uri="{FF2B5EF4-FFF2-40B4-BE49-F238E27FC236}">
                <a16:creationId xmlns:a16="http://schemas.microsoft.com/office/drawing/2014/main" id="{BF1B75BC-F94B-26D3-C433-D2EC18FB5698}"/>
              </a:ext>
            </a:extLst>
          </p:cNvPr>
          <p:cNvSpPr/>
          <p:nvPr/>
        </p:nvSpPr>
        <p:spPr>
          <a:xfrm>
            <a:off x="5664200" y="5791200"/>
            <a:ext cx="1524000" cy="609600"/>
          </a:xfrm>
          <a:prstGeom prst="rect">
            <a:avLst/>
          </a:prstGeom>
          <a:solidFill>
            <a:srgbClr val="F4F6F8"/>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TextBox 70">
            <a:extLst>
              <a:ext uri="{FF2B5EF4-FFF2-40B4-BE49-F238E27FC236}">
                <a16:creationId xmlns:a16="http://schemas.microsoft.com/office/drawing/2014/main" id="{C4D26855-E9F7-2DDA-77A9-23A074591727}"/>
              </a:ext>
            </a:extLst>
          </p:cNvPr>
          <p:cNvSpPr txBox="1"/>
          <p:nvPr/>
        </p:nvSpPr>
        <p:spPr>
          <a:xfrm>
            <a:off x="5816600" y="5956300"/>
            <a:ext cx="1219200" cy="246221"/>
          </a:xfrm>
          <a:prstGeom prst="rect">
            <a:avLst/>
          </a:prstGeom>
          <a:noFill/>
        </p:spPr>
        <p:txBody>
          <a:bodyPr vert="horz" wrap="square" lIns="0" tIns="0" rIns="0" bIns="0" rtlCol="0">
            <a:spAutoFit/>
          </a:bodyPr>
          <a:lstStyle/>
          <a:p>
            <a:r>
              <a:rPr lang="en-US" sz="1600" b="1">
                <a:solidFill>
                  <a:srgbClr val="1C8056"/>
                </a:solidFill>
                <a:latin typeface="Aptos" panose="020B0004020202020204" pitchFamily="34" charset="0"/>
              </a:rPr>
              <a:t>✓</a:t>
            </a:r>
          </a:p>
        </p:txBody>
      </p:sp>
      <p:sp>
        <p:nvSpPr>
          <p:cNvPr id="72" name="Rectangle 71">
            <a:extLst>
              <a:ext uri="{FF2B5EF4-FFF2-40B4-BE49-F238E27FC236}">
                <a16:creationId xmlns:a16="http://schemas.microsoft.com/office/drawing/2014/main" id="{5E567F08-5A28-F0EA-A459-3C15FF0F89A8}"/>
              </a:ext>
            </a:extLst>
          </p:cNvPr>
          <p:cNvSpPr/>
          <p:nvPr/>
        </p:nvSpPr>
        <p:spPr>
          <a:xfrm>
            <a:off x="7188200" y="5791200"/>
            <a:ext cx="1397000" cy="609600"/>
          </a:xfrm>
          <a:prstGeom prst="rect">
            <a:avLst/>
          </a:prstGeom>
          <a:solidFill>
            <a:srgbClr val="F4F6F8"/>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TextBox 72">
            <a:extLst>
              <a:ext uri="{FF2B5EF4-FFF2-40B4-BE49-F238E27FC236}">
                <a16:creationId xmlns:a16="http://schemas.microsoft.com/office/drawing/2014/main" id="{77377BC7-4E8C-2DA8-2F68-982D6CCAAAD6}"/>
              </a:ext>
            </a:extLst>
          </p:cNvPr>
          <p:cNvSpPr txBox="1"/>
          <p:nvPr/>
        </p:nvSpPr>
        <p:spPr>
          <a:xfrm>
            <a:off x="7340600" y="5956300"/>
            <a:ext cx="1092200" cy="246221"/>
          </a:xfrm>
          <a:prstGeom prst="rect">
            <a:avLst/>
          </a:prstGeom>
          <a:noFill/>
        </p:spPr>
        <p:txBody>
          <a:bodyPr vert="horz" wrap="square" lIns="0" tIns="0" rIns="0" bIns="0" rtlCol="0">
            <a:spAutoFit/>
          </a:bodyPr>
          <a:lstStyle/>
          <a:p>
            <a:r>
              <a:rPr lang="en-US" sz="1600" b="1">
                <a:solidFill>
                  <a:srgbClr val="1C8056"/>
                </a:solidFill>
                <a:latin typeface="Aptos" panose="020B0004020202020204" pitchFamily="34" charset="0"/>
              </a:rPr>
              <a:t>✓</a:t>
            </a:r>
          </a:p>
        </p:txBody>
      </p:sp>
      <p:sp>
        <p:nvSpPr>
          <p:cNvPr id="74" name="Rectangle 73">
            <a:extLst>
              <a:ext uri="{FF2B5EF4-FFF2-40B4-BE49-F238E27FC236}">
                <a16:creationId xmlns:a16="http://schemas.microsoft.com/office/drawing/2014/main" id="{DDB6EC42-D335-A8ED-320B-7CEDB2989FF6}"/>
              </a:ext>
            </a:extLst>
          </p:cNvPr>
          <p:cNvSpPr/>
          <p:nvPr/>
        </p:nvSpPr>
        <p:spPr>
          <a:xfrm>
            <a:off x="8585200" y="5791200"/>
            <a:ext cx="1524000" cy="609600"/>
          </a:xfrm>
          <a:prstGeom prst="rect">
            <a:avLst/>
          </a:prstGeom>
          <a:solidFill>
            <a:srgbClr val="F4F6F8"/>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TextBox 74">
            <a:extLst>
              <a:ext uri="{FF2B5EF4-FFF2-40B4-BE49-F238E27FC236}">
                <a16:creationId xmlns:a16="http://schemas.microsoft.com/office/drawing/2014/main" id="{A994ACE6-7A93-1857-F8CF-71EBE14ED484}"/>
              </a:ext>
            </a:extLst>
          </p:cNvPr>
          <p:cNvSpPr txBox="1"/>
          <p:nvPr/>
        </p:nvSpPr>
        <p:spPr>
          <a:xfrm>
            <a:off x="8737600" y="5956300"/>
            <a:ext cx="1219200" cy="246221"/>
          </a:xfrm>
          <a:prstGeom prst="rect">
            <a:avLst/>
          </a:prstGeom>
          <a:noFill/>
        </p:spPr>
        <p:txBody>
          <a:bodyPr vert="horz" wrap="square" lIns="0" tIns="0" rIns="0" bIns="0" rtlCol="0">
            <a:spAutoFit/>
          </a:bodyPr>
          <a:lstStyle/>
          <a:p>
            <a:r>
              <a:rPr lang="en-US" sz="1600" b="1">
                <a:solidFill>
                  <a:srgbClr val="1C8056"/>
                </a:solidFill>
                <a:latin typeface="Aptos" panose="020B0004020202020204" pitchFamily="34" charset="0"/>
              </a:rPr>
              <a:t>✓</a:t>
            </a:r>
          </a:p>
        </p:txBody>
      </p:sp>
      <p:sp>
        <p:nvSpPr>
          <p:cNvPr id="76" name="Rectangle 75">
            <a:extLst>
              <a:ext uri="{FF2B5EF4-FFF2-40B4-BE49-F238E27FC236}">
                <a16:creationId xmlns:a16="http://schemas.microsoft.com/office/drawing/2014/main" id="{1A3E871B-AFEB-D118-1AAB-631B6F5F0D46}"/>
              </a:ext>
            </a:extLst>
          </p:cNvPr>
          <p:cNvSpPr/>
          <p:nvPr/>
        </p:nvSpPr>
        <p:spPr>
          <a:xfrm>
            <a:off x="10109200" y="5791200"/>
            <a:ext cx="3810000" cy="609600"/>
          </a:xfrm>
          <a:prstGeom prst="rect">
            <a:avLst/>
          </a:prstGeom>
          <a:solidFill>
            <a:srgbClr val="F4F6F8"/>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TextBox 76">
            <a:extLst>
              <a:ext uri="{FF2B5EF4-FFF2-40B4-BE49-F238E27FC236}">
                <a16:creationId xmlns:a16="http://schemas.microsoft.com/office/drawing/2014/main" id="{D66CBE46-1FB2-F59F-89AD-56D7CA96B91A}"/>
              </a:ext>
            </a:extLst>
          </p:cNvPr>
          <p:cNvSpPr txBox="1"/>
          <p:nvPr/>
        </p:nvSpPr>
        <p:spPr>
          <a:xfrm>
            <a:off x="10261600" y="5956300"/>
            <a:ext cx="3505200" cy="246221"/>
          </a:xfrm>
          <a:prstGeom prst="rect">
            <a:avLst/>
          </a:prstGeom>
          <a:noFill/>
        </p:spPr>
        <p:txBody>
          <a:bodyPr vert="horz" wrap="square" lIns="0" tIns="0" rIns="0" bIns="0" rtlCol="0">
            <a:spAutoFit/>
          </a:bodyPr>
          <a:lstStyle/>
          <a:p>
            <a:r>
              <a:rPr lang="vi-VN" sz="1600">
                <a:solidFill>
                  <a:srgbClr val="171F2A"/>
                </a:solidFill>
                <a:latin typeface="Aptos" panose="020B0004020202020204" pitchFamily="34" charset="0"/>
              </a:rPr>
              <a:t>Vận hành ca chơi/order</a:t>
            </a:r>
            <a:endParaRPr lang="en-US" sz="1600">
              <a:solidFill>
                <a:srgbClr val="171F2A"/>
              </a:solidFill>
              <a:latin typeface="Aptos" panose="020B0004020202020204" pitchFamily="34" charset="0"/>
            </a:endParaRPr>
          </a:p>
        </p:txBody>
      </p:sp>
      <p:sp>
        <p:nvSpPr>
          <p:cNvPr id="78" name="Rectangle 77">
            <a:extLst>
              <a:ext uri="{FF2B5EF4-FFF2-40B4-BE49-F238E27FC236}">
                <a16:creationId xmlns:a16="http://schemas.microsoft.com/office/drawing/2014/main" id="{98EA6324-4ED4-9CF2-04DD-56A0C80CD9EE}"/>
              </a:ext>
            </a:extLst>
          </p:cNvPr>
          <p:cNvSpPr/>
          <p:nvPr/>
        </p:nvSpPr>
        <p:spPr>
          <a:xfrm>
            <a:off x="1092200" y="6400800"/>
            <a:ext cx="3175000" cy="609600"/>
          </a:xfrm>
          <a:prstGeom prst="rect">
            <a:avLst/>
          </a:prstGeom>
          <a:solidFill>
            <a:srgbClr val="F4F6F8"/>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TextBox 78">
            <a:extLst>
              <a:ext uri="{FF2B5EF4-FFF2-40B4-BE49-F238E27FC236}">
                <a16:creationId xmlns:a16="http://schemas.microsoft.com/office/drawing/2014/main" id="{33EAEAE2-2BFF-E7E1-4270-6B1F504A70A2}"/>
              </a:ext>
            </a:extLst>
          </p:cNvPr>
          <p:cNvSpPr txBox="1"/>
          <p:nvPr/>
        </p:nvSpPr>
        <p:spPr>
          <a:xfrm>
            <a:off x="1244600" y="6565900"/>
            <a:ext cx="2870200" cy="246221"/>
          </a:xfrm>
          <a:prstGeom prst="rect">
            <a:avLst/>
          </a:prstGeom>
          <a:noFill/>
        </p:spPr>
        <p:txBody>
          <a:bodyPr vert="horz" wrap="square" lIns="0" tIns="0" rIns="0" bIns="0" rtlCol="0">
            <a:spAutoFit/>
          </a:bodyPr>
          <a:lstStyle/>
          <a:p>
            <a:r>
              <a:rPr lang="en-US" sz="1600">
                <a:solidFill>
                  <a:srgbClr val="171F2A"/>
                </a:solidFill>
                <a:latin typeface="Aptos" panose="020B0004020202020204" pitchFamily="34" charset="0"/>
              </a:rPr>
              <a:t>Audit logs</a:t>
            </a:r>
          </a:p>
        </p:txBody>
      </p:sp>
      <p:sp>
        <p:nvSpPr>
          <p:cNvPr id="80" name="Rectangle 79">
            <a:extLst>
              <a:ext uri="{FF2B5EF4-FFF2-40B4-BE49-F238E27FC236}">
                <a16:creationId xmlns:a16="http://schemas.microsoft.com/office/drawing/2014/main" id="{AB56F1CC-38EF-7FBC-6362-D732CA609311}"/>
              </a:ext>
            </a:extLst>
          </p:cNvPr>
          <p:cNvSpPr/>
          <p:nvPr/>
        </p:nvSpPr>
        <p:spPr>
          <a:xfrm>
            <a:off x="4267200" y="6400800"/>
            <a:ext cx="1397000" cy="609600"/>
          </a:xfrm>
          <a:prstGeom prst="rect">
            <a:avLst/>
          </a:prstGeom>
          <a:solidFill>
            <a:srgbClr val="F4F6F8"/>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TextBox 80">
            <a:extLst>
              <a:ext uri="{FF2B5EF4-FFF2-40B4-BE49-F238E27FC236}">
                <a16:creationId xmlns:a16="http://schemas.microsoft.com/office/drawing/2014/main" id="{79E6B271-2CEB-FFF1-9F7A-DF7078E43F17}"/>
              </a:ext>
            </a:extLst>
          </p:cNvPr>
          <p:cNvSpPr txBox="1"/>
          <p:nvPr/>
        </p:nvSpPr>
        <p:spPr>
          <a:xfrm>
            <a:off x="4419600" y="6565900"/>
            <a:ext cx="1092200" cy="246221"/>
          </a:xfrm>
          <a:prstGeom prst="rect">
            <a:avLst/>
          </a:prstGeom>
          <a:noFill/>
        </p:spPr>
        <p:txBody>
          <a:bodyPr vert="horz" wrap="square" lIns="0" tIns="0" rIns="0" bIns="0" rtlCol="0">
            <a:spAutoFit/>
          </a:bodyPr>
          <a:lstStyle/>
          <a:p>
            <a:r>
              <a:rPr lang="en-US" sz="1600" b="1">
                <a:solidFill>
                  <a:srgbClr val="1C8056"/>
                </a:solidFill>
                <a:latin typeface="Aptos" panose="020B0004020202020204" pitchFamily="34" charset="0"/>
              </a:rPr>
              <a:t>✓</a:t>
            </a:r>
          </a:p>
        </p:txBody>
      </p:sp>
      <p:sp>
        <p:nvSpPr>
          <p:cNvPr id="82" name="Rectangle 81">
            <a:extLst>
              <a:ext uri="{FF2B5EF4-FFF2-40B4-BE49-F238E27FC236}">
                <a16:creationId xmlns:a16="http://schemas.microsoft.com/office/drawing/2014/main" id="{E47D7791-88B1-48AB-1CB2-CB13362707B9}"/>
              </a:ext>
            </a:extLst>
          </p:cNvPr>
          <p:cNvSpPr/>
          <p:nvPr/>
        </p:nvSpPr>
        <p:spPr>
          <a:xfrm>
            <a:off x="5664200" y="6400800"/>
            <a:ext cx="1524000" cy="609600"/>
          </a:xfrm>
          <a:prstGeom prst="rect">
            <a:avLst/>
          </a:prstGeom>
          <a:solidFill>
            <a:srgbClr val="F4F6F8"/>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TextBox 82">
            <a:extLst>
              <a:ext uri="{FF2B5EF4-FFF2-40B4-BE49-F238E27FC236}">
                <a16:creationId xmlns:a16="http://schemas.microsoft.com/office/drawing/2014/main" id="{4254DE55-BD4C-5438-A28B-7BD5BD5E54DD}"/>
              </a:ext>
            </a:extLst>
          </p:cNvPr>
          <p:cNvSpPr txBox="1"/>
          <p:nvPr/>
        </p:nvSpPr>
        <p:spPr>
          <a:xfrm>
            <a:off x="5816600" y="6565900"/>
            <a:ext cx="1219200" cy="246221"/>
          </a:xfrm>
          <a:prstGeom prst="rect">
            <a:avLst/>
          </a:prstGeom>
          <a:noFill/>
        </p:spPr>
        <p:txBody>
          <a:bodyPr vert="horz" wrap="square" lIns="0" tIns="0" rIns="0" bIns="0" rtlCol="0">
            <a:spAutoFit/>
          </a:bodyPr>
          <a:lstStyle/>
          <a:p>
            <a:r>
              <a:rPr lang="en-US" sz="1600" b="1">
                <a:solidFill>
                  <a:srgbClr val="1C8056"/>
                </a:solidFill>
                <a:latin typeface="Aptos" panose="020B0004020202020204" pitchFamily="34" charset="0"/>
              </a:rPr>
              <a:t>✓</a:t>
            </a:r>
          </a:p>
        </p:txBody>
      </p:sp>
      <p:sp>
        <p:nvSpPr>
          <p:cNvPr id="84" name="Rectangle 83">
            <a:extLst>
              <a:ext uri="{FF2B5EF4-FFF2-40B4-BE49-F238E27FC236}">
                <a16:creationId xmlns:a16="http://schemas.microsoft.com/office/drawing/2014/main" id="{43E75511-0A6C-7175-6793-68D59F5E8F69}"/>
              </a:ext>
            </a:extLst>
          </p:cNvPr>
          <p:cNvSpPr/>
          <p:nvPr/>
        </p:nvSpPr>
        <p:spPr>
          <a:xfrm>
            <a:off x="7188200" y="6400800"/>
            <a:ext cx="1397000" cy="609600"/>
          </a:xfrm>
          <a:prstGeom prst="rect">
            <a:avLst/>
          </a:prstGeom>
          <a:solidFill>
            <a:srgbClr val="F4F6F8"/>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TextBox 84">
            <a:extLst>
              <a:ext uri="{FF2B5EF4-FFF2-40B4-BE49-F238E27FC236}">
                <a16:creationId xmlns:a16="http://schemas.microsoft.com/office/drawing/2014/main" id="{0CD3F903-9BE9-0975-94B5-D52CF63F66FA}"/>
              </a:ext>
            </a:extLst>
          </p:cNvPr>
          <p:cNvSpPr txBox="1"/>
          <p:nvPr/>
        </p:nvSpPr>
        <p:spPr>
          <a:xfrm>
            <a:off x="7340600" y="6565900"/>
            <a:ext cx="1092200" cy="246221"/>
          </a:xfrm>
          <a:prstGeom prst="rect">
            <a:avLst/>
          </a:prstGeom>
          <a:noFill/>
        </p:spPr>
        <p:txBody>
          <a:bodyPr vert="horz" wrap="square" lIns="0" tIns="0" rIns="0" bIns="0" rtlCol="0">
            <a:spAutoFit/>
          </a:bodyPr>
          <a:lstStyle/>
          <a:p>
            <a:endParaRPr lang="en-US" sz="1600">
              <a:solidFill>
                <a:srgbClr val="171F2A"/>
              </a:solidFill>
              <a:latin typeface="Aptos" panose="020B0004020202020204" pitchFamily="34" charset="0"/>
            </a:endParaRPr>
          </a:p>
        </p:txBody>
      </p:sp>
      <p:sp>
        <p:nvSpPr>
          <p:cNvPr id="86" name="Rectangle 85">
            <a:extLst>
              <a:ext uri="{FF2B5EF4-FFF2-40B4-BE49-F238E27FC236}">
                <a16:creationId xmlns:a16="http://schemas.microsoft.com/office/drawing/2014/main" id="{4AC43B4E-C916-35C5-75EE-4B4B5B4A4D0C}"/>
              </a:ext>
            </a:extLst>
          </p:cNvPr>
          <p:cNvSpPr/>
          <p:nvPr/>
        </p:nvSpPr>
        <p:spPr>
          <a:xfrm>
            <a:off x="8585200" y="6400800"/>
            <a:ext cx="1524000" cy="609600"/>
          </a:xfrm>
          <a:prstGeom prst="rect">
            <a:avLst/>
          </a:prstGeom>
          <a:solidFill>
            <a:srgbClr val="F4F6F8"/>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TextBox 86">
            <a:extLst>
              <a:ext uri="{FF2B5EF4-FFF2-40B4-BE49-F238E27FC236}">
                <a16:creationId xmlns:a16="http://schemas.microsoft.com/office/drawing/2014/main" id="{95B293C9-5338-ECEF-F451-9BE692EF25F6}"/>
              </a:ext>
            </a:extLst>
          </p:cNvPr>
          <p:cNvSpPr txBox="1"/>
          <p:nvPr/>
        </p:nvSpPr>
        <p:spPr>
          <a:xfrm>
            <a:off x="8737600" y="6565900"/>
            <a:ext cx="1219200" cy="246221"/>
          </a:xfrm>
          <a:prstGeom prst="rect">
            <a:avLst/>
          </a:prstGeom>
          <a:noFill/>
        </p:spPr>
        <p:txBody>
          <a:bodyPr vert="horz" wrap="square" lIns="0" tIns="0" rIns="0" bIns="0" rtlCol="0">
            <a:spAutoFit/>
          </a:bodyPr>
          <a:lstStyle/>
          <a:p>
            <a:endParaRPr lang="en-US" sz="1600">
              <a:solidFill>
                <a:srgbClr val="171F2A"/>
              </a:solidFill>
              <a:latin typeface="Aptos" panose="020B0004020202020204" pitchFamily="34" charset="0"/>
            </a:endParaRPr>
          </a:p>
        </p:txBody>
      </p:sp>
      <p:sp>
        <p:nvSpPr>
          <p:cNvPr id="88" name="Rectangle 87">
            <a:extLst>
              <a:ext uri="{FF2B5EF4-FFF2-40B4-BE49-F238E27FC236}">
                <a16:creationId xmlns:a16="http://schemas.microsoft.com/office/drawing/2014/main" id="{A3B92019-0EAC-1D7B-B9C1-1F0442007A33}"/>
              </a:ext>
            </a:extLst>
          </p:cNvPr>
          <p:cNvSpPr/>
          <p:nvPr/>
        </p:nvSpPr>
        <p:spPr>
          <a:xfrm>
            <a:off x="10109200" y="6400800"/>
            <a:ext cx="3810000" cy="609600"/>
          </a:xfrm>
          <a:prstGeom prst="rect">
            <a:avLst/>
          </a:prstGeom>
          <a:solidFill>
            <a:srgbClr val="F4F6F8"/>
          </a:solidFill>
          <a:ln w="12700">
            <a:solidFill>
              <a:srgbClr val="D6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extBox 88">
            <a:extLst>
              <a:ext uri="{FF2B5EF4-FFF2-40B4-BE49-F238E27FC236}">
                <a16:creationId xmlns:a16="http://schemas.microsoft.com/office/drawing/2014/main" id="{65E10151-C966-EDB3-3D3D-13DFF9B27204}"/>
              </a:ext>
            </a:extLst>
          </p:cNvPr>
          <p:cNvSpPr txBox="1"/>
          <p:nvPr/>
        </p:nvSpPr>
        <p:spPr>
          <a:xfrm>
            <a:off x="10261600" y="6565900"/>
            <a:ext cx="3505200" cy="246221"/>
          </a:xfrm>
          <a:prstGeom prst="rect">
            <a:avLst/>
          </a:prstGeom>
          <a:noFill/>
        </p:spPr>
        <p:txBody>
          <a:bodyPr vert="horz" wrap="square" lIns="0" tIns="0" rIns="0" bIns="0" rtlCol="0">
            <a:spAutoFit/>
          </a:bodyPr>
          <a:lstStyle/>
          <a:p>
            <a:r>
              <a:rPr lang="en-US" sz="1600">
                <a:solidFill>
                  <a:srgbClr val="171F2A"/>
                </a:solidFill>
                <a:latin typeface="Aptos" panose="020B0004020202020204" pitchFamily="34" charset="0"/>
              </a:rPr>
              <a:t>Theo dõi thao tác</a:t>
            </a:r>
          </a:p>
        </p:txBody>
      </p:sp>
      <p:sp>
        <p:nvSpPr>
          <p:cNvPr id="90" name="TextBox 89">
            <a:extLst>
              <a:ext uri="{FF2B5EF4-FFF2-40B4-BE49-F238E27FC236}">
                <a16:creationId xmlns:a16="http://schemas.microsoft.com/office/drawing/2014/main" id="{E5103812-0B62-B25E-6F60-E6E9D7D12C19}"/>
              </a:ext>
            </a:extLst>
          </p:cNvPr>
          <p:cNvSpPr txBox="1"/>
          <p:nvPr/>
        </p:nvSpPr>
        <p:spPr>
          <a:xfrm>
            <a:off x="1092200" y="7620000"/>
            <a:ext cx="12700000" cy="553998"/>
          </a:xfrm>
          <a:prstGeom prst="rect">
            <a:avLst/>
          </a:prstGeom>
          <a:noFill/>
        </p:spPr>
        <p:txBody>
          <a:bodyPr vert="horz" wrap="square" lIns="0" tIns="0" rIns="0" bIns="0" rtlCol="0">
            <a:spAutoFit/>
          </a:bodyPr>
          <a:lstStyle/>
          <a:p>
            <a:r>
              <a:rPr lang="vi-VN">
                <a:solidFill>
                  <a:srgbClr val="171F2A"/>
                </a:solidFill>
                <a:latin typeface="Aptos" panose="020B0004020202020204" pitchFamily="34" charset="0"/>
              </a:rPr>
              <a:t>Nhận xét: phân quyền đã gắn vào controller bằng [Authorize(Roles=...)]. Đây là điểm quan trọng của tuần 4 vì chứng minh hệ thống không chỉ đăng nhập được, mà còn kiểm soát quyền theo nghiệp vụ.</a:t>
            </a:r>
            <a:endParaRPr lang="en-US">
              <a:solidFill>
                <a:srgbClr val="171F2A"/>
              </a:solidFill>
              <a:latin typeface="Aptos" panose="020B0004020202020204" pitchFamily="34" charset="0"/>
            </a:endParaRPr>
          </a:p>
        </p:txBody>
      </p:sp>
      <p:cxnSp>
        <p:nvCxnSpPr>
          <p:cNvPr id="91" name="Straight Connector 90">
            <a:extLst>
              <a:ext uri="{FF2B5EF4-FFF2-40B4-BE49-F238E27FC236}">
                <a16:creationId xmlns:a16="http://schemas.microsoft.com/office/drawing/2014/main" id="{EEC1768F-EB33-F096-30C6-CEA1D8A8CE8F}"/>
              </a:ext>
            </a:extLst>
          </p:cNvPr>
          <p:cNvCxnSpPr/>
          <p:nvPr/>
        </p:nvCxnSpPr>
        <p:spPr>
          <a:xfrm>
            <a:off x="914400" y="8509000"/>
            <a:ext cx="14452600" cy="0"/>
          </a:xfrm>
          <a:prstGeom prst="line">
            <a:avLst/>
          </a:prstGeom>
          <a:ln w="12700">
            <a:solidFill>
              <a:srgbClr val="D6DBE1"/>
            </a:solidFill>
          </a:ln>
        </p:spPr>
        <p:style>
          <a:lnRef idx="1">
            <a:schemeClr val="accent1"/>
          </a:lnRef>
          <a:fillRef idx="0">
            <a:schemeClr val="accent1"/>
          </a:fillRef>
          <a:effectRef idx="0">
            <a:schemeClr val="accent1"/>
          </a:effectRef>
          <a:fontRef idx="minor">
            <a:schemeClr val="tx1"/>
          </a:fontRef>
        </p:style>
      </p:cxnSp>
      <p:sp>
        <p:nvSpPr>
          <p:cNvPr id="92" name="footer-source">
            <a:extLst>
              <a:ext uri="{FF2B5EF4-FFF2-40B4-BE49-F238E27FC236}">
                <a16:creationId xmlns:a16="http://schemas.microsoft.com/office/drawing/2014/main" id="{DCCE19E7-A968-995B-93D6-6D86FB5A77C0}"/>
              </a:ext>
            </a:extLst>
          </p:cNvPr>
          <p:cNvSpPr txBox="1"/>
          <p:nvPr/>
        </p:nvSpPr>
        <p:spPr>
          <a:xfrm>
            <a:off x="914400" y="8661400"/>
            <a:ext cx="7112000" cy="169277"/>
          </a:xfrm>
          <a:prstGeom prst="rect">
            <a:avLst/>
          </a:prstGeom>
          <a:noFill/>
        </p:spPr>
        <p:txBody>
          <a:bodyPr vert="horz" wrap="square" lIns="0" tIns="0" rIns="0" bIns="0" rtlCol="0">
            <a:spAutoFit/>
          </a:bodyPr>
          <a:lstStyle/>
          <a:p>
            <a:r>
              <a:rPr lang="en-US" sz="1100">
                <a:solidFill>
                  <a:srgbClr val="5B6574"/>
                </a:solidFill>
                <a:latin typeface="Aptos" panose="020B0004020202020204" pitchFamily="34" charset="0"/>
              </a:rPr>
              <a:t>PoolHub | Tuần 3-4 backend checkpoint</a:t>
            </a:r>
          </a:p>
        </p:txBody>
      </p:sp>
      <p:sp>
        <p:nvSpPr>
          <p:cNvPr id="93" name="footer-page">
            <a:extLst>
              <a:ext uri="{FF2B5EF4-FFF2-40B4-BE49-F238E27FC236}">
                <a16:creationId xmlns:a16="http://schemas.microsoft.com/office/drawing/2014/main" id="{53590F18-62C6-C838-CC19-D0C465F142CB}"/>
              </a:ext>
            </a:extLst>
          </p:cNvPr>
          <p:cNvSpPr txBox="1"/>
          <p:nvPr/>
        </p:nvSpPr>
        <p:spPr>
          <a:xfrm>
            <a:off x="14884400" y="8661400"/>
            <a:ext cx="482600" cy="169277"/>
          </a:xfrm>
          <a:prstGeom prst="rect">
            <a:avLst/>
          </a:prstGeom>
          <a:noFill/>
        </p:spPr>
        <p:txBody>
          <a:bodyPr vert="horz" wrap="square" lIns="0" tIns="0" rIns="0" bIns="0" rtlCol="0">
            <a:spAutoFit/>
          </a:bodyPr>
          <a:lstStyle/>
          <a:p>
            <a:r>
              <a:rPr lang="en-US" sz="1100">
                <a:solidFill>
                  <a:srgbClr val="5B6574"/>
                </a:solidFill>
                <a:latin typeface="Aptos" panose="020B0004020202020204" pitchFamily="34" charset="0"/>
              </a:rPr>
              <a:t>09</a:t>
            </a:r>
          </a:p>
        </p:txBody>
      </p:sp>
    </p:spTree>
    <p:extLst>
      <p:ext uri="{BB962C8B-B14F-4D97-AF65-F5344CB8AC3E}">
        <p14:creationId xmlns:p14="http://schemas.microsoft.com/office/powerpoint/2010/main" val="27329367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10-marker">
            <a:extLst>
              <a:ext uri="{FF2B5EF4-FFF2-40B4-BE49-F238E27FC236}">
                <a16:creationId xmlns:a16="http://schemas.microsoft.com/office/drawing/2014/main" id="{C77FEBAA-C705-E664-62A4-4B0C8F41451B}"/>
              </a:ext>
            </a:extLst>
          </p:cNvPr>
          <p:cNvSpPr/>
          <p:nvPr/>
        </p:nvSpPr>
        <p:spPr>
          <a:xfrm>
            <a:off x="914400" y="685800"/>
            <a:ext cx="127000" cy="127000"/>
          </a:xfrm>
          <a:prstGeom prst="rect">
            <a:avLst/>
          </a:prstGeom>
          <a:solidFill>
            <a:srgbClr val="CD702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kicker-10-label">
            <a:extLst>
              <a:ext uri="{FF2B5EF4-FFF2-40B4-BE49-F238E27FC236}">
                <a16:creationId xmlns:a16="http://schemas.microsoft.com/office/drawing/2014/main" id="{08F9CBD7-2861-2F25-ECF6-4B175C188086}"/>
              </a:ext>
            </a:extLst>
          </p:cNvPr>
          <p:cNvSpPr txBox="1"/>
          <p:nvPr/>
        </p:nvSpPr>
        <p:spPr>
          <a:xfrm>
            <a:off x="1193800" y="596900"/>
            <a:ext cx="6604000" cy="230832"/>
          </a:xfrm>
          <a:prstGeom prst="rect">
            <a:avLst/>
          </a:prstGeom>
          <a:noFill/>
        </p:spPr>
        <p:txBody>
          <a:bodyPr vert="horz" wrap="square" lIns="0" tIns="0" rIns="0" bIns="0" rtlCol="0">
            <a:spAutoFit/>
          </a:bodyPr>
          <a:lstStyle/>
          <a:p>
            <a:r>
              <a:rPr lang="en-US" sz="1500" b="1" cap="all">
                <a:solidFill>
                  <a:srgbClr val="CD7027"/>
                </a:solidFill>
                <a:latin typeface="Aptos" panose="020B0004020202020204" pitchFamily="34" charset="0"/>
              </a:rPr>
              <a:t>TÌNH TRẠNG THỰC TẾ</a:t>
            </a:r>
          </a:p>
        </p:txBody>
      </p:sp>
      <p:sp>
        <p:nvSpPr>
          <p:cNvPr id="4" name="slide-title">
            <a:extLst>
              <a:ext uri="{FF2B5EF4-FFF2-40B4-BE49-F238E27FC236}">
                <a16:creationId xmlns:a16="http://schemas.microsoft.com/office/drawing/2014/main" id="{0CD11B50-D377-5143-1292-1E64191C7625}"/>
              </a:ext>
            </a:extLst>
          </p:cNvPr>
          <p:cNvSpPr txBox="1"/>
          <p:nvPr/>
        </p:nvSpPr>
        <p:spPr>
          <a:xfrm>
            <a:off x="914400" y="1041400"/>
            <a:ext cx="13208000" cy="1169551"/>
          </a:xfrm>
          <a:prstGeom prst="rect">
            <a:avLst/>
          </a:prstGeom>
          <a:noFill/>
        </p:spPr>
        <p:txBody>
          <a:bodyPr vert="horz" wrap="square" lIns="0" tIns="0" rIns="0" bIns="0" rtlCol="0">
            <a:spAutoFit/>
          </a:bodyPr>
          <a:lstStyle/>
          <a:p>
            <a:r>
              <a:rPr lang="en-US" sz="3800" b="1">
                <a:solidFill>
                  <a:srgbClr val="171F2A"/>
                </a:solidFill>
                <a:latin typeface="Aptos" panose="020B0004020202020204" pitchFamily="34" charset="0"/>
              </a:rPr>
              <a:t>Build/test hiện tại pass, nhưng coverage mới ở mức smoke test.</a:t>
            </a:r>
          </a:p>
        </p:txBody>
      </p:sp>
      <p:sp>
        <p:nvSpPr>
          <p:cNvPr id="5" name="slide-subtitle">
            <a:extLst>
              <a:ext uri="{FF2B5EF4-FFF2-40B4-BE49-F238E27FC236}">
                <a16:creationId xmlns:a16="http://schemas.microsoft.com/office/drawing/2014/main" id="{7978D833-2027-89F7-E74A-7AB6D56A0134}"/>
              </a:ext>
            </a:extLst>
          </p:cNvPr>
          <p:cNvSpPr txBox="1"/>
          <p:nvPr/>
        </p:nvSpPr>
        <p:spPr>
          <a:xfrm>
            <a:off x="914400" y="2286000"/>
            <a:ext cx="12446000" cy="307777"/>
          </a:xfrm>
          <a:prstGeom prst="rect">
            <a:avLst/>
          </a:prstGeom>
          <a:noFill/>
        </p:spPr>
        <p:txBody>
          <a:bodyPr vert="horz" wrap="square" lIns="0" tIns="0" rIns="0" bIns="0" rtlCol="0">
            <a:spAutoFit/>
          </a:bodyPr>
          <a:lstStyle/>
          <a:p>
            <a:r>
              <a:rPr lang="en-US" sz="2000">
                <a:solidFill>
                  <a:srgbClr val="5B6574"/>
                </a:solidFill>
                <a:latin typeface="Aptos" panose="020B0004020202020204" pitchFamily="34" charset="0"/>
              </a:rPr>
              <a:t>Kết quả kiểm chứng trên repo ngày 02/06/2026.</a:t>
            </a:r>
          </a:p>
        </p:txBody>
      </p:sp>
      <p:sp>
        <p:nvSpPr>
          <p:cNvPr id="6" name="Rectangle 5">
            <a:extLst>
              <a:ext uri="{FF2B5EF4-FFF2-40B4-BE49-F238E27FC236}">
                <a16:creationId xmlns:a16="http://schemas.microsoft.com/office/drawing/2014/main" id="{F1C4EB88-3C54-C915-02E8-84482ED6504B}"/>
              </a:ext>
            </a:extLst>
          </p:cNvPr>
          <p:cNvSpPr/>
          <p:nvPr/>
        </p:nvSpPr>
        <p:spPr>
          <a:xfrm>
            <a:off x="1041400" y="2984500"/>
            <a:ext cx="4445000" cy="2159000"/>
          </a:xfrm>
          <a:prstGeom prst="rect">
            <a:avLst/>
          </a:prstGeom>
          <a:solidFill>
            <a:srgbClr val="E2F3EB"/>
          </a:solidFill>
          <a:ln w="12700">
            <a:solidFill>
              <a:srgbClr val="1C80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A65C9EB-6B59-B8AA-4CA9-DD224BE39F7C}"/>
              </a:ext>
            </a:extLst>
          </p:cNvPr>
          <p:cNvSpPr/>
          <p:nvPr/>
        </p:nvSpPr>
        <p:spPr>
          <a:xfrm>
            <a:off x="1041400" y="2984500"/>
            <a:ext cx="88900" cy="2159000"/>
          </a:xfrm>
          <a:prstGeom prst="rect">
            <a:avLst/>
          </a:prstGeom>
          <a:solidFill>
            <a:srgbClr val="1C805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FF6C220-79F5-2C78-65F4-5FEC5B9A6792}"/>
              </a:ext>
            </a:extLst>
          </p:cNvPr>
          <p:cNvSpPr txBox="1"/>
          <p:nvPr/>
        </p:nvSpPr>
        <p:spPr>
          <a:xfrm>
            <a:off x="1346200" y="3213100"/>
            <a:ext cx="3911600" cy="215444"/>
          </a:xfrm>
          <a:prstGeom prst="rect">
            <a:avLst/>
          </a:prstGeom>
          <a:noFill/>
        </p:spPr>
        <p:txBody>
          <a:bodyPr vert="horz" wrap="square" lIns="0" tIns="0" rIns="0" bIns="0" rtlCol="0">
            <a:spAutoFit/>
          </a:bodyPr>
          <a:lstStyle/>
          <a:p>
            <a:r>
              <a:rPr lang="en-US" sz="1400" b="1">
                <a:solidFill>
                  <a:srgbClr val="1C8056"/>
                </a:solidFill>
                <a:latin typeface="Aptos" panose="020B0004020202020204" pitchFamily="34" charset="0"/>
              </a:rPr>
              <a:t>Build/Test</a:t>
            </a:r>
          </a:p>
        </p:txBody>
      </p:sp>
      <p:sp>
        <p:nvSpPr>
          <p:cNvPr id="9" name="TextBox 8">
            <a:extLst>
              <a:ext uri="{FF2B5EF4-FFF2-40B4-BE49-F238E27FC236}">
                <a16:creationId xmlns:a16="http://schemas.microsoft.com/office/drawing/2014/main" id="{C9C448E6-020D-0408-11A3-C33152AA3FA9}"/>
              </a:ext>
            </a:extLst>
          </p:cNvPr>
          <p:cNvSpPr txBox="1"/>
          <p:nvPr/>
        </p:nvSpPr>
        <p:spPr>
          <a:xfrm>
            <a:off x="1346200" y="3594100"/>
            <a:ext cx="3911600" cy="461665"/>
          </a:xfrm>
          <a:prstGeom prst="rect">
            <a:avLst/>
          </a:prstGeom>
          <a:noFill/>
        </p:spPr>
        <p:txBody>
          <a:bodyPr vert="horz" wrap="square" lIns="0" tIns="0" rIns="0" bIns="0" rtlCol="0">
            <a:spAutoFit/>
          </a:bodyPr>
          <a:lstStyle/>
          <a:p>
            <a:r>
              <a:rPr lang="en-US" sz="3000" b="1">
                <a:solidFill>
                  <a:srgbClr val="171F2A"/>
                </a:solidFill>
                <a:latin typeface="Aptos" panose="020B0004020202020204" pitchFamily="34" charset="0"/>
              </a:rPr>
              <a:t>2/2 tests pass</a:t>
            </a:r>
          </a:p>
        </p:txBody>
      </p:sp>
      <p:sp>
        <p:nvSpPr>
          <p:cNvPr id="10" name="TextBox 9">
            <a:extLst>
              <a:ext uri="{FF2B5EF4-FFF2-40B4-BE49-F238E27FC236}">
                <a16:creationId xmlns:a16="http://schemas.microsoft.com/office/drawing/2014/main" id="{A3796630-DB02-038D-22CE-3B0D3D485B0B}"/>
              </a:ext>
            </a:extLst>
          </p:cNvPr>
          <p:cNvSpPr txBox="1"/>
          <p:nvPr/>
        </p:nvSpPr>
        <p:spPr>
          <a:xfrm>
            <a:off x="1346200" y="4254500"/>
            <a:ext cx="3911600" cy="523220"/>
          </a:xfrm>
          <a:prstGeom prst="rect">
            <a:avLst/>
          </a:prstGeom>
          <a:noFill/>
        </p:spPr>
        <p:txBody>
          <a:bodyPr vert="horz" wrap="square" lIns="0" tIns="0" rIns="0" bIns="0" rtlCol="0">
            <a:spAutoFit/>
          </a:bodyPr>
          <a:lstStyle/>
          <a:p>
            <a:r>
              <a:rPr lang="en-US" sz="1700">
                <a:solidFill>
                  <a:srgbClr val="5B6574"/>
                </a:solidFill>
                <a:latin typeface="Aptos" panose="020B0004020202020204" pitchFamily="34" charset="0"/>
              </a:rPr>
              <a:t>dotnet test pool-hub.sln: 1 AuthService unit test, 1 Swagger integration test.</a:t>
            </a:r>
          </a:p>
        </p:txBody>
      </p:sp>
      <p:sp>
        <p:nvSpPr>
          <p:cNvPr id="11" name="Rectangle 10">
            <a:extLst>
              <a:ext uri="{FF2B5EF4-FFF2-40B4-BE49-F238E27FC236}">
                <a16:creationId xmlns:a16="http://schemas.microsoft.com/office/drawing/2014/main" id="{4631B99E-43D5-3851-4AAC-AA3502FA7B2D}"/>
              </a:ext>
            </a:extLst>
          </p:cNvPr>
          <p:cNvSpPr/>
          <p:nvPr/>
        </p:nvSpPr>
        <p:spPr>
          <a:xfrm>
            <a:off x="5867400" y="2984500"/>
            <a:ext cx="4445000" cy="2159000"/>
          </a:xfrm>
          <a:prstGeom prst="rect">
            <a:avLst/>
          </a:prstGeom>
          <a:solidFill>
            <a:srgbClr val="E6EEFC"/>
          </a:solidFill>
          <a:ln w="12700">
            <a:solidFill>
              <a:srgbClr val="2D5DA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0723D0A-4512-2997-CF73-57B17E3EA3AB}"/>
              </a:ext>
            </a:extLst>
          </p:cNvPr>
          <p:cNvSpPr/>
          <p:nvPr/>
        </p:nvSpPr>
        <p:spPr>
          <a:xfrm>
            <a:off x="5867400" y="2984500"/>
            <a:ext cx="88900" cy="2159000"/>
          </a:xfrm>
          <a:prstGeom prst="rect">
            <a:avLst/>
          </a:prstGeom>
          <a:solidFill>
            <a:srgbClr val="2D5DA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0D467F9F-52A5-C42E-C1E0-216F76F0C36A}"/>
              </a:ext>
            </a:extLst>
          </p:cNvPr>
          <p:cNvSpPr txBox="1"/>
          <p:nvPr/>
        </p:nvSpPr>
        <p:spPr>
          <a:xfrm>
            <a:off x="6172200" y="3213100"/>
            <a:ext cx="3911600" cy="215444"/>
          </a:xfrm>
          <a:prstGeom prst="rect">
            <a:avLst/>
          </a:prstGeom>
          <a:noFill/>
        </p:spPr>
        <p:txBody>
          <a:bodyPr vert="horz" wrap="square" lIns="0" tIns="0" rIns="0" bIns="0" rtlCol="0">
            <a:spAutoFit/>
          </a:bodyPr>
          <a:lstStyle/>
          <a:p>
            <a:r>
              <a:rPr lang="en-US" sz="1400" b="1">
                <a:solidFill>
                  <a:srgbClr val="2D5DAB"/>
                </a:solidFill>
                <a:latin typeface="Aptos" panose="020B0004020202020204" pitchFamily="34" charset="0"/>
              </a:rPr>
              <a:t>Tài liệu demo</a:t>
            </a:r>
          </a:p>
        </p:txBody>
      </p:sp>
      <p:sp>
        <p:nvSpPr>
          <p:cNvPr id="14" name="TextBox 13">
            <a:extLst>
              <a:ext uri="{FF2B5EF4-FFF2-40B4-BE49-F238E27FC236}">
                <a16:creationId xmlns:a16="http://schemas.microsoft.com/office/drawing/2014/main" id="{2D1E2FF1-F70A-6E84-CF0E-6003FAE126EC}"/>
              </a:ext>
            </a:extLst>
          </p:cNvPr>
          <p:cNvSpPr txBox="1"/>
          <p:nvPr/>
        </p:nvSpPr>
        <p:spPr>
          <a:xfrm>
            <a:off x="6172200" y="3594100"/>
            <a:ext cx="3911600" cy="461665"/>
          </a:xfrm>
          <a:prstGeom prst="rect">
            <a:avLst/>
          </a:prstGeom>
          <a:noFill/>
        </p:spPr>
        <p:txBody>
          <a:bodyPr vert="horz" wrap="square" lIns="0" tIns="0" rIns="0" bIns="0" rtlCol="0">
            <a:spAutoFit/>
          </a:bodyPr>
          <a:lstStyle/>
          <a:p>
            <a:r>
              <a:rPr lang="en-US" sz="3000" b="1">
                <a:solidFill>
                  <a:srgbClr val="171F2A"/>
                </a:solidFill>
                <a:latin typeface="Aptos" panose="020B0004020202020204" pitchFamily="34" charset="0"/>
              </a:rPr>
              <a:t>Có Postman</a:t>
            </a:r>
          </a:p>
        </p:txBody>
      </p:sp>
      <p:sp>
        <p:nvSpPr>
          <p:cNvPr id="15" name="TextBox 14">
            <a:extLst>
              <a:ext uri="{FF2B5EF4-FFF2-40B4-BE49-F238E27FC236}">
                <a16:creationId xmlns:a16="http://schemas.microsoft.com/office/drawing/2014/main" id="{5A9010B2-A4ED-041F-AF0E-30A4E52444CB}"/>
              </a:ext>
            </a:extLst>
          </p:cNvPr>
          <p:cNvSpPr txBox="1"/>
          <p:nvPr/>
        </p:nvSpPr>
        <p:spPr>
          <a:xfrm>
            <a:off x="6172200" y="4254500"/>
            <a:ext cx="3911600" cy="784830"/>
          </a:xfrm>
          <a:prstGeom prst="rect">
            <a:avLst/>
          </a:prstGeom>
          <a:noFill/>
        </p:spPr>
        <p:txBody>
          <a:bodyPr vert="horz" wrap="square" lIns="0" tIns="0" rIns="0" bIns="0" rtlCol="0">
            <a:spAutoFit/>
          </a:bodyPr>
          <a:lstStyle/>
          <a:p>
            <a:r>
              <a:rPr lang="en-US" sz="1700">
                <a:solidFill>
                  <a:srgbClr val="5B6574"/>
                </a:solidFill>
                <a:latin typeface="Aptos" panose="020B0004020202020204" pitchFamily="34" charset="0"/>
              </a:rPr>
              <a:t>docs/postman có collection Week4 Auth và environment; README có seed accounts.</a:t>
            </a:r>
          </a:p>
        </p:txBody>
      </p:sp>
      <p:sp>
        <p:nvSpPr>
          <p:cNvPr id="16" name="Rectangle 15">
            <a:extLst>
              <a:ext uri="{FF2B5EF4-FFF2-40B4-BE49-F238E27FC236}">
                <a16:creationId xmlns:a16="http://schemas.microsoft.com/office/drawing/2014/main" id="{B21D91BF-C180-829E-159E-BC8C89259728}"/>
              </a:ext>
            </a:extLst>
          </p:cNvPr>
          <p:cNvSpPr/>
          <p:nvPr/>
        </p:nvSpPr>
        <p:spPr>
          <a:xfrm>
            <a:off x="10693400" y="2984500"/>
            <a:ext cx="4445000" cy="2159000"/>
          </a:xfrm>
          <a:prstGeom prst="rect">
            <a:avLst/>
          </a:prstGeom>
          <a:solidFill>
            <a:srgbClr val="FCEBDB"/>
          </a:solidFill>
          <a:ln w="12700">
            <a:solidFill>
              <a:srgbClr val="CD70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5CB6D3A-5F3F-8275-8BA2-B97D142F9CE3}"/>
              </a:ext>
            </a:extLst>
          </p:cNvPr>
          <p:cNvSpPr/>
          <p:nvPr/>
        </p:nvSpPr>
        <p:spPr>
          <a:xfrm>
            <a:off x="10693400" y="2984500"/>
            <a:ext cx="88900" cy="2159000"/>
          </a:xfrm>
          <a:prstGeom prst="rect">
            <a:avLst/>
          </a:prstGeom>
          <a:solidFill>
            <a:srgbClr val="CD702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E1B48ABC-5DCE-A1F1-11BD-8853C192EBA1}"/>
              </a:ext>
            </a:extLst>
          </p:cNvPr>
          <p:cNvSpPr txBox="1"/>
          <p:nvPr/>
        </p:nvSpPr>
        <p:spPr>
          <a:xfrm>
            <a:off x="10998200" y="3213100"/>
            <a:ext cx="3911600" cy="215444"/>
          </a:xfrm>
          <a:prstGeom prst="rect">
            <a:avLst/>
          </a:prstGeom>
          <a:noFill/>
        </p:spPr>
        <p:txBody>
          <a:bodyPr vert="horz" wrap="square" lIns="0" tIns="0" rIns="0" bIns="0" rtlCol="0">
            <a:spAutoFit/>
          </a:bodyPr>
          <a:lstStyle/>
          <a:p>
            <a:r>
              <a:rPr lang="en-US" sz="1400" b="1">
                <a:solidFill>
                  <a:srgbClr val="CD7027"/>
                </a:solidFill>
                <a:latin typeface="Aptos" panose="020B0004020202020204" pitchFamily="34" charset="0"/>
              </a:rPr>
              <a:t>Giới hạn</a:t>
            </a:r>
          </a:p>
        </p:txBody>
      </p:sp>
      <p:sp>
        <p:nvSpPr>
          <p:cNvPr id="19" name="TextBox 18">
            <a:extLst>
              <a:ext uri="{FF2B5EF4-FFF2-40B4-BE49-F238E27FC236}">
                <a16:creationId xmlns:a16="http://schemas.microsoft.com/office/drawing/2014/main" id="{0111345F-C2CC-16C4-5E51-7DFD00E857E4}"/>
              </a:ext>
            </a:extLst>
          </p:cNvPr>
          <p:cNvSpPr txBox="1"/>
          <p:nvPr/>
        </p:nvSpPr>
        <p:spPr>
          <a:xfrm>
            <a:off x="10998200" y="3594100"/>
            <a:ext cx="3911600" cy="461665"/>
          </a:xfrm>
          <a:prstGeom prst="rect">
            <a:avLst/>
          </a:prstGeom>
          <a:noFill/>
        </p:spPr>
        <p:txBody>
          <a:bodyPr vert="horz" wrap="square" lIns="0" tIns="0" rIns="0" bIns="0" rtlCol="0">
            <a:spAutoFit/>
          </a:bodyPr>
          <a:lstStyle/>
          <a:p>
            <a:r>
              <a:rPr lang="en-US" sz="3000" b="1">
                <a:solidFill>
                  <a:srgbClr val="171F2A"/>
                </a:solidFill>
                <a:latin typeface="Aptos" panose="020B0004020202020204" pitchFamily="34" charset="0"/>
              </a:rPr>
              <a:t>Coverage mỏng</a:t>
            </a:r>
          </a:p>
        </p:txBody>
      </p:sp>
      <p:sp>
        <p:nvSpPr>
          <p:cNvPr id="20" name="TextBox 19">
            <a:extLst>
              <a:ext uri="{FF2B5EF4-FFF2-40B4-BE49-F238E27FC236}">
                <a16:creationId xmlns:a16="http://schemas.microsoft.com/office/drawing/2014/main" id="{4CAAEA42-3489-5D75-5403-CEDF1A7BD350}"/>
              </a:ext>
            </a:extLst>
          </p:cNvPr>
          <p:cNvSpPr txBox="1"/>
          <p:nvPr/>
        </p:nvSpPr>
        <p:spPr>
          <a:xfrm>
            <a:off x="10998200" y="4254500"/>
            <a:ext cx="3911600" cy="784830"/>
          </a:xfrm>
          <a:prstGeom prst="rect">
            <a:avLst/>
          </a:prstGeom>
          <a:noFill/>
        </p:spPr>
        <p:txBody>
          <a:bodyPr vert="horz" wrap="square" lIns="0" tIns="0" rIns="0" bIns="0" rtlCol="0">
            <a:spAutoFit/>
          </a:bodyPr>
          <a:lstStyle/>
          <a:p>
            <a:r>
              <a:rPr lang="en-US" sz="1700">
                <a:solidFill>
                  <a:srgbClr val="5B6574"/>
                </a:solidFill>
                <a:latin typeface="Aptos" panose="020B0004020202020204" pitchFamily="34" charset="0"/>
              </a:rPr>
              <a:t>Chưa thấy test cho CRUD/domain flows, refresh token edge cases, role access matrix.</a:t>
            </a:r>
          </a:p>
        </p:txBody>
      </p:sp>
      <p:sp>
        <p:nvSpPr>
          <p:cNvPr id="21" name="TextBox 20">
            <a:extLst>
              <a:ext uri="{FF2B5EF4-FFF2-40B4-BE49-F238E27FC236}">
                <a16:creationId xmlns:a16="http://schemas.microsoft.com/office/drawing/2014/main" id="{A0D923D2-8512-57FD-099C-77277341B650}"/>
              </a:ext>
            </a:extLst>
          </p:cNvPr>
          <p:cNvSpPr txBox="1"/>
          <p:nvPr/>
        </p:nvSpPr>
        <p:spPr>
          <a:xfrm>
            <a:off x="1168400" y="6159500"/>
            <a:ext cx="6604000" cy="369332"/>
          </a:xfrm>
          <a:prstGeom prst="rect">
            <a:avLst/>
          </a:prstGeom>
          <a:noFill/>
        </p:spPr>
        <p:txBody>
          <a:bodyPr vert="horz" wrap="square" lIns="0" tIns="0" rIns="0" bIns="0" rtlCol="0">
            <a:spAutoFit/>
          </a:bodyPr>
          <a:lstStyle/>
          <a:p>
            <a:r>
              <a:rPr lang="en-US" sz="2400" b="1">
                <a:solidFill>
                  <a:srgbClr val="171F2A"/>
                </a:solidFill>
                <a:latin typeface="Aptos" panose="020B0004020202020204" pitchFamily="34" charset="0"/>
              </a:rPr>
              <a:t>Khoảng cách so với roadmap tuần 3-4</a:t>
            </a:r>
          </a:p>
        </p:txBody>
      </p:sp>
      <p:sp>
        <p:nvSpPr>
          <p:cNvPr id="22" name="TextBox 21">
            <a:extLst>
              <a:ext uri="{FF2B5EF4-FFF2-40B4-BE49-F238E27FC236}">
                <a16:creationId xmlns:a16="http://schemas.microsoft.com/office/drawing/2014/main" id="{18F570D6-12C3-5D78-7A16-A6606BB9A523}"/>
              </a:ext>
            </a:extLst>
          </p:cNvPr>
          <p:cNvSpPr txBox="1"/>
          <p:nvPr/>
        </p:nvSpPr>
        <p:spPr>
          <a:xfrm>
            <a:off x="1168400" y="6705600"/>
            <a:ext cx="13081000" cy="1374735"/>
          </a:xfrm>
          <a:prstGeom prst="rect">
            <a:avLst/>
          </a:prstGeom>
          <a:noFill/>
        </p:spPr>
        <p:txBody>
          <a:bodyPr vert="horz" wrap="square" lIns="0" tIns="0" rIns="0" bIns="0" rtlCol="0">
            <a:spAutoFit/>
          </a:bodyPr>
          <a:lstStyle/>
          <a:p>
            <a:pPr marL="457200" indent="-457200">
              <a:spcAft>
                <a:spcPts val="800"/>
              </a:spcAft>
              <a:buFont typeface="+mj-lt"/>
              <a:buAutoNum type="arabicPeriod"/>
            </a:pPr>
            <a:r>
              <a:rPr lang="vi-VN" sz="1900">
                <a:solidFill>
                  <a:srgbClr val="171F2A"/>
                </a:solidFill>
                <a:latin typeface="Aptos" panose="020B0004020202020204" pitchFamily="34" charset="0"/>
              </a:rPr>
              <a:t>Tuần 3: kiến trúc, EF, CRUD và async/await đã có; cần chuẩn hóa Repository/Service pattern và validation domain.</a:t>
            </a:r>
          </a:p>
          <a:p>
            <a:pPr marL="457200" indent="-457200">
              <a:spcAft>
                <a:spcPts val="800"/>
              </a:spcAft>
              <a:buFont typeface="+mj-lt"/>
              <a:buAutoNum type="arabicPeriod"/>
            </a:pPr>
            <a:r>
              <a:rPr lang="vi-VN" sz="1900">
                <a:solidFill>
                  <a:srgbClr val="171F2A"/>
                </a:solidFill>
                <a:latin typeface="Aptos" panose="020B0004020202020204" pitchFamily="34" charset="0"/>
              </a:rPr>
              <a:t>Tuần 4: JWT, password hashing, protected APIs, role authorization và refresh token đã có; cần bổ sung negative tests và demo Postman đầy đủ.</a:t>
            </a:r>
          </a:p>
          <a:p>
            <a:pPr marL="457200" indent="-457200">
              <a:spcAft>
                <a:spcPts val="800"/>
              </a:spcAft>
              <a:buFont typeface="+mj-lt"/>
              <a:buAutoNum type="arabicPeriod"/>
            </a:pPr>
            <a:r>
              <a:rPr lang="vi-VN" sz="1900">
                <a:solidFill>
                  <a:srgbClr val="171F2A"/>
                </a:solidFill>
                <a:latin typeface="Aptos" panose="020B0004020202020204" pitchFamily="34" charset="0"/>
              </a:rPr>
              <a:t>Frontend chưa phải checkpoint chính; vì vậy chưa đánh giá UI trong tuần 3-4.</a:t>
            </a:r>
            <a:endParaRPr lang="en-US" sz="1900">
              <a:solidFill>
                <a:srgbClr val="171F2A"/>
              </a:solidFill>
              <a:latin typeface="Aptos" panose="020B0004020202020204" pitchFamily="34" charset="0"/>
            </a:endParaRPr>
          </a:p>
        </p:txBody>
      </p:sp>
      <p:cxnSp>
        <p:nvCxnSpPr>
          <p:cNvPr id="23" name="Straight Connector 22">
            <a:extLst>
              <a:ext uri="{FF2B5EF4-FFF2-40B4-BE49-F238E27FC236}">
                <a16:creationId xmlns:a16="http://schemas.microsoft.com/office/drawing/2014/main" id="{803E4847-FA08-81C7-6657-9A88775515FF}"/>
              </a:ext>
            </a:extLst>
          </p:cNvPr>
          <p:cNvCxnSpPr/>
          <p:nvPr/>
        </p:nvCxnSpPr>
        <p:spPr>
          <a:xfrm>
            <a:off x="914400" y="8509000"/>
            <a:ext cx="14452600" cy="0"/>
          </a:xfrm>
          <a:prstGeom prst="line">
            <a:avLst/>
          </a:prstGeom>
          <a:ln w="12700">
            <a:solidFill>
              <a:srgbClr val="D6DBE1"/>
            </a:solidFill>
          </a:ln>
        </p:spPr>
        <p:style>
          <a:lnRef idx="1">
            <a:schemeClr val="accent1"/>
          </a:lnRef>
          <a:fillRef idx="0">
            <a:schemeClr val="accent1"/>
          </a:fillRef>
          <a:effectRef idx="0">
            <a:schemeClr val="accent1"/>
          </a:effectRef>
          <a:fontRef idx="minor">
            <a:schemeClr val="tx1"/>
          </a:fontRef>
        </p:style>
      </p:cxnSp>
      <p:sp>
        <p:nvSpPr>
          <p:cNvPr id="24" name="footer-source">
            <a:extLst>
              <a:ext uri="{FF2B5EF4-FFF2-40B4-BE49-F238E27FC236}">
                <a16:creationId xmlns:a16="http://schemas.microsoft.com/office/drawing/2014/main" id="{6B145307-3F21-3D0F-A4CA-91B064CD76B7}"/>
              </a:ext>
            </a:extLst>
          </p:cNvPr>
          <p:cNvSpPr txBox="1"/>
          <p:nvPr/>
        </p:nvSpPr>
        <p:spPr>
          <a:xfrm>
            <a:off x="914400" y="8661400"/>
            <a:ext cx="7112000" cy="169277"/>
          </a:xfrm>
          <a:prstGeom prst="rect">
            <a:avLst/>
          </a:prstGeom>
          <a:noFill/>
        </p:spPr>
        <p:txBody>
          <a:bodyPr vert="horz" wrap="square" lIns="0" tIns="0" rIns="0" bIns="0" rtlCol="0">
            <a:spAutoFit/>
          </a:bodyPr>
          <a:lstStyle/>
          <a:p>
            <a:r>
              <a:rPr lang="en-US" sz="1100">
                <a:solidFill>
                  <a:srgbClr val="5B6574"/>
                </a:solidFill>
                <a:latin typeface="Aptos" panose="020B0004020202020204" pitchFamily="34" charset="0"/>
              </a:rPr>
              <a:t>PoolHub | Tuần 3-4 backend checkpoint</a:t>
            </a:r>
          </a:p>
        </p:txBody>
      </p:sp>
      <p:sp>
        <p:nvSpPr>
          <p:cNvPr id="25" name="footer-page">
            <a:extLst>
              <a:ext uri="{FF2B5EF4-FFF2-40B4-BE49-F238E27FC236}">
                <a16:creationId xmlns:a16="http://schemas.microsoft.com/office/drawing/2014/main" id="{71BCC20A-900B-DF62-96FB-8634B8707D57}"/>
              </a:ext>
            </a:extLst>
          </p:cNvPr>
          <p:cNvSpPr txBox="1"/>
          <p:nvPr/>
        </p:nvSpPr>
        <p:spPr>
          <a:xfrm>
            <a:off x="14884400" y="8661400"/>
            <a:ext cx="482600" cy="169277"/>
          </a:xfrm>
          <a:prstGeom prst="rect">
            <a:avLst/>
          </a:prstGeom>
          <a:noFill/>
        </p:spPr>
        <p:txBody>
          <a:bodyPr vert="horz" wrap="square" lIns="0" tIns="0" rIns="0" bIns="0" rtlCol="0">
            <a:spAutoFit/>
          </a:bodyPr>
          <a:lstStyle/>
          <a:p>
            <a:r>
              <a:rPr lang="en-US" sz="1100">
                <a:solidFill>
                  <a:srgbClr val="5B6574"/>
                </a:solidFill>
                <a:latin typeface="Aptos" panose="020B0004020202020204" pitchFamily="34" charset="0"/>
              </a:rPr>
              <a:t>10</a:t>
            </a:r>
          </a:p>
        </p:txBody>
      </p:sp>
    </p:spTree>
    <p:extLst>
      <p:ext uri="{BB962C8B-B14F-4D97-AF65-F5344CB8AC3E}">
        <p14:creationId xmlns:p14="http://schemas.microsoft.com/office/powerpoint/2010/main" val="11691120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11-marker">
            <a:extLst>
              <a:ext uri="{FF2B5EF4-FFF2-40B4-BE49-F238E27FC236}">
                <a16:creationId xmlns:a16="http://schemas.microsoft.com/office/drawing/2014/main" id="{D6B6FB56-DC5B-7DA7-E2EA-26B7A8E37A03}"/>
              </a:ext>
            </a:extLst>
          </p:cNvPr>
          <p:cNvSpPr/>
          <p:nvPr/>
        </p:nvSpPr>
        <p:spPr>
          <a:xfrm>
            <a:off x="914400" y="685800"/>
            <a:ext cx="127000" cy="127000"/>
          </a:xfrm>
          <a:prstGeom prst="rect">
            <a:avLst/>
          </a:prstGeom>
          <a:solidFill>
            <a:srgbClr val="CD702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kicker-11-label">
            <a:extLst>
              <a:ext uri="{FF2B5EF4-FFF2-40B4-BE49-F238E27FC236}">
                <a16:creationId xmlns:a16="http://schemas.microsoft.com/office/drawing/2014/main" id="{BE262071-CB24-1E42-40A4-191931A861DF}"/>
              </a:ext>
            </a:extLst>
          </p:cNvPr>
          <p:cNvSpPr txBox="1"/>
          <p:nvPr/>
        </p:nvSpPr>
        <p:spPr>
          <a:xfrm>
            <a:off x="1193800" y="596900"/>
            <a:ext cx="6604000" cy="230832"/>
          </a:xfrm>
          <a:prstGeom prst="rect">
            <a:avLst/>
          </a:prstGeom>
          <a:noFill/>
        </p:spPr>
        <p:txBody>
          <a:bodyPr vert="horz" wrap="square" lIns="0" tIns="0" rIns="0" bIns="0" rtlCol="0">
            <a:spAutoFit/>
          </a:bodyPr>
          <a:lstStyle/>
          <a:p>
            <a:r>
              <a:rPr lang="en-US" sz="1500" b="1" cap="all">
                <a:solidFill>
                  <a:srgbClr val="CD7027"/>
                </a:solidFill>
                <a:latin typeface="Aptos" panose="020B0004020202020204" pitchFamily="34" charset="0"/>
              </a:rPr>
              <a:t>KẾT LUẬN</a:t>
            </a:r>
          </a:p>
        </p:txBody>
      </p:sp>
      <p:sp>
        <p:nvSpPr>
          <p:cNvPr id="4" name="slide-title">
            <a:extLst>
              <a:ext uri="{FF2B5EF4-FFF2-40B4-BE49-F238E27FC236}">
                <a16:creationId xmlns:a16="http://schemas.microsoft.com/office/drawing/2014/main" id="{62C9B14B-36CA-54EA-F074-81D00E8FEF52}"/>
              </a:ext>
            </a:extLst>
          </p:cNvPr>
          <p:cNvSpPr txBox="1"/>
          <p:nvPr/>
        </p:nvSpPr>
        <p:spPr>
          <a:xfrm>
            <a:off x="914400" y="1041400"/>
            <a:ext cx="13208000" cy="1169551"/>
          </a:xfrm>
          <a:prstGeom prst="rect">
            <a:avLst/>
          </a:prstGeom>
          <a:noFill/>
        </p:spPr>
        <p:txBody>
          <a:bodyPr vert="horz" wrap="square" lIns="0" tIns="0" rIns="0" bIns="0" rtlCol="0">
            <a:spAutoFit/>
          </a:bodyPr>
          <a:lstStyle/>
          <a:p>
            <a:r>
              <a:rPr lang="en-US" sz="3800" b="1">
                <a:solidFill>
                  <a:srgbClr val="171F2A"/>
                </a:solidFill>
                <a:latin typeface="Aptos" panose="020B0004020202020204" pitchFamily="34" charset="0"/>
              </a:rPr>
              <a:t>PoolHub đã hoàn thành mục tiêu tuần 3-4 và sẵn sàng đi vào business logic nâng cao.</a:t>
            </a:r>
          </a:p>
        </p:txBody>
      </p:sp>
      <p:sp>
        <p:nvSpPr>
          <p:cNvPr id="5" name="slide-subtitle">
            <a:extLst>
              <a:ext uri="{FF2B5EF4-FFF2-40B4-BE49-F238E27FC236}">
                <a16:creationId xmlns:a16="http://schemas.microsoft.com/office/drawing/2014/main" id="{E0356C8B-05E9-9CCB-5FF8-B9DA4F97E7F1}"/>
              </a:ext>
            </a:extLst>
          </p:cNvPr>
          <p:cNvSpPr txBox="1"/>
          <p:nvPr/>
        </p:nvSpPr>
        <p:spPr>
          <a:xfrm>
            <a:off x="914400" y="2286000"/>
            <a:ext cx="12446000" cy="307777"/>
          </a:xfrm>
          <a:prstGeom prst="rect">
            <a:avLst/>
          </a:prstGeom>
          <a:noFill/>
        </p:spPr>
        <p:txBody>
          <a:bodyPr vert="horz" wrap="square" lIns="0" tIns="0" rIns="0" bIns="0" rtlCol="0">
            <a:spAutoFit/>
          </a:bodyPr>
          <a:lstStyle/>
          <a:p>
            <a:r>
              <a:rPr lang="en-US" sz="2000">
                <a:solidFill>
                  <a:srgbClr val="5B6574"/>
                </a:solidFill>
                <a:latin typeface="Aptos" panose="020B0004020202020204" pitchFamily="34" charset="0"/>
              </a:rPr>
              <a:t>Thông điệp chính để chốt phần thuyết trình.</a:t>
            </a:r>
          </a:p>
        </p:txBody>
      </p:sp>
      <p:sp>
        <p:nvSpPr>
          <p:cNvPr id="6" name="TextBox 5">
            <a:extLst>
              <a:ext uri="{FF2B5EF4-FFF2-40B4-BE49-F238E27FC236}">
                <a16:creationId xmlns:a16="http://schemas.microsoft.com/office/drawing/2014/main" id="{BF59C6D8-AE94-8BE2-D532-9D8BC33A1F5F}"/>
              </a:ext>
            </a:extLst>
          </p:cNvPr>
          <p:cNvSpPr txBox="1"/>
          <p:nvPr/>
        </p:nvSpPr>
        <p:spPr>
          <a:xfrm>
            <a:off x="1168400" y="2794000"/>
            <a:ext cx="4572000" cy="369332"/>
          </a:xfrm>
          <a:prstGeom prst="rect">
            <a:avLst/>
          </a:prstGeom>
          <a:noFill/>
        </p:spPr>
        <p:txBody>
          <a:bodyPr vert="horz" wrap="square" lIns="0" tIns="0" rIns="0" bIns="0" rtlCol="0">
            <a:spAutoFit/>
          </a:bodyPr>
          <a:lstStyle/>
          <a:p>
            <a:r>
              <a:rPr lang="en-US" sz="2400" b="1">
                <a:solidFill>
                  <a:srgbClr val="171F2A"/>
                </a:solidFill>
                <a:latin typeface="Aptos" panose="020B0004020202020204" pitchFamily="34" charset="0"/>
              </a:rPr>
              <a:t>3 luận điểm trình bày</a:t>
            </a:r>
          </a:p>
        </p:txBody>
      </p:sp>
      <p:sp>
        <p:nvSpPr>
          <p:cNvPr id="7" name="TextBox 6">
            <a:extLst>
              <a:ext uri="{FF2B5EF4-FFF2-40B4-BE49-F238E27FC236}">
                <a16:creationId xmlns:a16="http://schemas.microsoft.com/office/drawing/2014/main" id="{49F070D3-15A2-A3F4-1F84-B55BE491ECFE}"/>
              </a:ext>
            </a:extLst>
          </p:cNvPr>
          <p:cNvSpPr txBox="1"/>
          <p:nvPr/>
        </p:nvSpPr>
        <p:spPr>
          <a:xfrm>
            <a:off x="1168400" y="3365500"/>
            <a:ext cx="13208000" cy="2236510"/>
          </a:xfrm>
          <a:prstGeom prst="rect">
            <a:avLst/>
          </a:prstGeom>
          <a:noFill/>
        </p:spPr>
        <p:txBody>
          <a:bodyPr vert="horz" wrap="square" lIns="0" tIns="0" rIns="0" bIns="0" rtlCol="0">
            <a:spAutoFit/>
          </a:bodyPr>
          <a:lstStyle/>
          <a:p>
            <a:pPr marL="457200" indent="-457200">
              <a:spcAft>
                <a:spcPts val="800"/>
              </a:spcAft>
              <a:buFont typeface="+mj-lt"/>
              <a:buAutoNum type="arabicPeriod"/>
            </a:pPr>
            <a:r>
              <a:rPr lang="vi-VN" sz="2200">
                <a:solidFill>
                  <a:srgbClr val="171F2A"/>
                </a:solidFill>
                <a:latin typeface="Aptos" panose="020B0004020202020204" pitchFamily="34" charset="0"/>
              </a:rPr>
              <a:t>Tuần 3 tạo nền backend: layered architecture, EF Core schema, migration, core CRUD APIs, Swagger và response/error handling thống nhất.</a:t>
            </a:r>
          </a:p>
          <a:p>
            <a:pPr marL="457200" indent="-457200">
              <a:spcAft>
                <a:spcPts val="800"/>
              </a:spcAft>
              <a:buFont typeface="+mj-lt"/>
              <a:buAutoNum type="arabicPeriod"/>
            </a:pPr>
            <a:r>
              <a:rPr lang="vi-VN" sz="2200">
                <a:solidFill>
                  <a:srgbClr val="171F2A"/>
                </a:solidFill>
                <a:latin typeface="Aptos" panose="020B0004020202020204" pitchFamily="34" charset="0"/>
              </a:rPr>
              <a:t>Tuần 4 tạo lớp bảo mật: JWT, BCrypt password hashing, refresh token, logout revoke và role-based authorization theo nhóm nghiệp vụ.</a:t>
            </a:r>
          </a:p>
          <a:p>
            <a:pPr marL="457200" indent="-457200">
              <a:spcAft>
                <a:spcPts val="800"/>
              </a:spcAft>
              <a:buFont typeface="+mj-lt"/>
              <a:buAutoNum type="arabicPeriod"/>
            </a:pPr>
            <a:r>
              <a:rPr lang="vi-VN" sz="2200">
                <a:solidFill>
                  <a:srgbClr val="171F2A"/>
                </a:solidFill>
                <a:latin typeface="Aptos" panose="020B0004020202020204" pitchFamily="34" charset="0"/>
              </a:rPr>
              <a:t>Trạng thái thực tế tốt hơn mức demo tối thiểu, nhưng cần thêm test, validation domain và tách service trước khi mở rộng tuần 5-6.</a:t>
            </a:r>
            <a:endParaRPr lang="en-US" sz="2200">
              <a:solidFill>
                <a:srgbClr val="171F2A"/>
              </a:solidFill>
              <a:latin typeface="Aptos" panose="020B0004020202020204" pitchFamily="34" charset="0"/>
            </a:endParaRPr>
          </a:p>
        </p:txBody>
      </p:sp>
      <p:sp>
        <p:nvSpPr>
          <p:cNvPr id="8" name="TextBox 7">
            <a:extLst>
              <a:ext uri="{FF2B5EF4-FFF2-40B4-BE49-F238E27FC236}">
                <a16:creationId xmlns:a16="http://schemas.microsoft.com/office/drawing/2014/main" id="{29D82A61-E17E-2EF5-430C-9FDE0505AA01}"/>
              </a:ext>
            </a:extLst>
          </p:cNvPr>
          <p:cNvSpPr txBox="1"/>
          <p:nvPr/>
        </p:nvSpPr>
        <p:spPr>
          <a:xfrm>
            <a:off x="1168400" y="5778500"/>
            <a:ext cx="5334000" cy="369332"/>
          </a:xfrm>
          <a:prstGeom prst="rect">
            <a:avLst/>
          </a:prstGeom>
          <a:noFill/>
        </p:spPr>
        <p:txBody>
          <a:bodyPr vert="horz" wrap="square" lIns="0" tIns="0" rIns="0" bIns="0" rtlCol="0">
            <a:spAutoFit/>
          </a:bodyPr>
          <a:lstStyle/>
          <a:p>
            <a:r>
              <a:rPr lang="en-US" sz="2400" b="1">
                <a:solidFill>
                  <a:srgbClr val="171F2A"/>
                </a:solidFill>
                <a:latin typeface="Aptos" panose="020B0004020202020204" pitchFamily="34" charset="0"/>
              </a:rPr>
              <a:t>Đề xuất công việc tiếp theo</a:t>
            </a:r>
          </a:p>
        </p:txBody>
      </p:sp>
      <p:sp>
        <p:nvSpPr>
          <p:cNvPr id="9" name="TextBox 8">
            <a:extLst>
              <a:ext uri="{FF2B5EF4-FFF2-40B4-BE49-F238E27FC236}">
                <a16:creationId xmlns:a16="http://schemas.microsoft.com/office/drawing/2014/main" id="{78359D9C-3012-3CA3-C51D-A6DF0C468D58}"/>
              </a:ext>
            </a:extLst>
          </p:cNvPr>
          <p:cNvSpPr txBox="1"/>
          <p:nvPr/>
        </p:nvSpPr>
        <p:spPr>
          <a:xfrm>
            <a:off x="1168400" y="6350000"/>
            <a:ext cx="13208000" cy="1477328"/>
          </a:xfrm>
          <a:prstGeom prst="rect">
            <a:avLst/>
          </a:prstGeom>
          <a:noFill/>
        </p:spPr>
        <p:txBody>
          <a:bodyPr vert="horz" wrap="square" lIns="0" tIns="0" rIns="0" bIns="0" rtlCol="0">
            <a:spAutoFit/>
          </a:bodyPr>
          <a:lstStyle/>
          <a:p>
            <a:pPr marL="457200" indent="-457200">
              <a:spcAft>
                <a:spcPts val="800"/>
              </a:spcAft>
              <a:buFont typeface="+mj-lt"/>
              <a:buAutoNum type="arabicPeriod"/>
            </a:pPr>
            <a:r>
              <a:rPr lang="en-US" sz="1900">
                <a:solidFill>
                  <a:srgbClr val="171F2A"/>
                </a:solidFill>
                <a:latin typeface="Aptos" panose="020B0004020202020204" pitchFamily="34" charset="0"/>
              </a:rPr>
              <a:t>Tách CrudService thành service theo module: Venue, Product, Booking.</a:t>
            </a:r>
          </a:p>
          <a:p>
            <a:pPr marL="457200" indent="-457200">
              <a:spcAft>
                <a:spcPts val="800"/>
              </a:spcAft>
              <a:buFont typeface="+mj-lt"/>
              <a:buAutoNum type="arabicPeriod"/>
            </a:pPr>
            <a:r>
              <a:rPr lang="en-US" sz="1900">
                <a:solidFill>
                  <a:srgbClr val="171F2A"/>
                </a:solidFill>
                <a:latin typeface="Aptos" panose="020B0004020202020204" pitchFamily="34" charset="0"/>
              </a:rPr>
              <a:t>Bổ sung validation cho toàn bộ Create/Update DTO và test negative cases.</a:t>
            </a:r>
          </a:p>
          <a:p>
            <a:pPr marL="457200" indent="-457200">
              <a:spcAft>
                <a:spcPts val="800"/>
              </a:spcAft>
              <a:buFont typeface="+mj-lt"/>
              <a:buAutoNum type="arabicPeriod"/>
            </a:pPr>
            <a:r>
              <a:rPr lang="en-US" sz="1900">
                <a:solidFill>
                  <a:srgbClr val="171F2A"/>
                </a:solidFill>
                <a:latin typeface="Aptos" panose="020B0004020202020204" pitchFamily="34" charset="0"/>
              </a:rPr>
              <a:t>Hoàn thiện business rules: booking conflict, session billing, invoice/payment, stock movement.</a:t>
            </a:r>
          </a:p>
          <a:p>
            <a:pPr marL="457200" indent="-457200">
              <a:spcAft>
                <a:spcPts val="800"/>
              </a:spcAft>
              <a:buFont typeface="+mj-lt"/>
              <a:buAutoNum type="arabicPeriod"/>
            </a:pPr>
            <a:r>
              <a:rPr lang="en-US" sz="1900">
                <a:solidFill>
                  <a:srgbClr val="171F2A"/>
                </a:solidFill>
                <a:latin typeface="Aptos" panose="020B0004020202020204" pitchFamily="34" charset="0"/>
              </a:rPr>
              <a:t>Chuẩn bị demo Postman theo kịch bản: login -&gt; protected API -&gt; role check -&gt; refresh/logout.</a:t>
            </a:r>
          </a:p>
        </p:txBody>
      </p:sp>
      <p:cxnSp>
        <p:nvCxnSpPr>
          <p:cNvPr id="10" name="Straight Connector 9">
            <a:extLst>
              <a:ext uri="{FF2B5EF4-FFF2-40B4-BE49-F238E27FC236}">
                <a16:creationId xmlns:a16="http://schemas.microsoft.com/office/drawing/2014/main" id="{794E282F-A05B-5687-48A3-02A2216A2ACF}"/>
              </a:ext>
            </a:extLst>
          </p:cNvPr>
          <p:cNvCxnSpPr/>
          <p:nvPr/>
        </p:nvCxnSpPr>
        <p:spPr>
          <a:xfrm>
            <a:off x="914400" y="8509000"/>
            <a:ext cx="14452600" cy="0"/>
          </a:xfrm>
          <a:prstGeom prst="line">
            <a:avLst/>
          </a:prstGeom>
          <a:ln w="12700">
            <a:solidFill>
              <a:srgbClr val="D6DBE1"/>
            </a:solidFill>
          </a:ln>
        </p:spPr>
        <p:style>
          <a:lnRef idx="1">
            <a:schemeClr val="accent1"/>
          </a:lnRef>
          <a:fillRef idx="0">
            <a:schemeClr val="accent1"/>
          </a:fillRef>
          <a:effectRef idx="0">
            <a:schemeClr val="accent1"/>
          </a:effectRef>
          <a:fontRef idx="minor">
            <a:schemeClr val="tx1"/>
          </a:fontRef>
        </p:style>
      </p:cxnSp>
      <p:sp>
        <p:nvSpPr>
          <p:cNvPr id="11" name="footer-source">
            <a:extLst>
              <a:ext uri="{FF2B5EF4-FFF2-40B4-BE49-F238E27FC236}">
                <a16:creationId xmlns:a16="http://schemas.microsoft.com/office/drawing/2014/main" id="{C610DE5F-09D1-ED57-9D9E-D6C6EA8DF727}"/>
              </a:ext>
            </a:extLst>
          </p:cNvPr>
          <p:cNvSpPr txBox="1"/>
          <p:nvPr/>
        </p:nvSpPr>
        <p:spPr>
          <a:xfrm>
            <a:off x="914400" y="8661400"/>
            <a:ext cx="7112000" cy="169277"/>
          </a:xfrm>
          <a:prstGeom prst="rect">
            <a:avLst/>
          </a:prstGeom>
          <a:noFill/>
        </p:spPr>
        <p:txBody>
          <a:bodyPr vert="horz" wrap="square" lIns="0" tIns="0" rIns="0" bIns="0" rtlCol="0">
            <a:spAutoFit/>
          </a:bodyPr>
          <a:lstStyle/>
          <a:p>
            <a:r>
              <a:rPr lang="en-US" sz="1100">
                <a:solidFill>
                  <a:srgbClr val="5B6574"/>
                </a:solidFill>
                <a:latin typeface="Aptos" panose="020B0004020202020204" pitchFamily="34" charset="0"/>
              </a:rPr>
              <a:t>PoolHub | Tuần 3-4 backend checkpoint</a:t>
            </a:r>
          </a:p>
        </p:txBody>
      </p:sp>
      <p:sp>
        <p:nvSpPr>
          <p:cNvPr id="12" name="footer-page">
            <a:extLst>
              <a:ext uri="{FF2B5EF4-FFF2-40B4-BE49-F238E27FC236}">
                <a16:creationId xmlns:a16="http://schemas.microsoft.com/office/drawing/2014/main" id="{EB52EEFD-A11B-029C-3B27-DAA60FAA06A0}"/>
              </a:ext>
            </a:extLst>
          </p:cNvPr>
          <p:cNvSpPr txBox="1"/>
          <p:nvPr/>
        </p:nvSpPr>
        <p:spPr>
          <a:xfrm>
            <a:off x="14884400" y="8661400"/>
            <a:ext cx="482600" cy="169277"/>
          </a:xfrm>
          <a:prstGeom prst="rect">
            <a:avLst/>
          </a:prstGeom>
          <a:noFill/>
        </p:spPr>
        <p:txBody>
          <a:bodyPr vert="horz" wrap="square" lIns="0" tIns="0" rIns="0" bIns="0" rtlCol="0">
            <a:spAutoFit/>
          </a:bodyPr>
          <a:lstStyle/>
          <a:p>
            <a:r>
              <a:rPr lang="en-US" sz="1100">
                <a:solidFill>
                  <a:srgbClr val="5B6574"/>
                </a:solidFill>
                <a:latin typeface="Aptos" panose="020B0004020202020204" pitchFamily="34" charset="0"/>
              </a:rPr>
              <a:t>11</a:t>
            </a:r>
          </a:p>
        </p:txBody>
      </p:sp>
    </p:spTree>
    <p:extLst>
      <p:ext uri="{BB962C8B-B14F-4D97-AF65-F5344CB8AC3E}">
        <p14:creationId xmlns:p14="http://schemas.microsoft.com/office/powerpoint/2010/main" val="22925389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1797</Words>
  <Application>Microsoft Office PowerPoint</Application>
  <PresentationFormat>Custom</PresentationFormat>
  <Paragraphs>245</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Huy Nguyễn</dc:creator>
  <cp:lastModifiedBy>Huy Nguyễn</cp:lastModifiedBy>
  <cp:revision>1</cp:revision>
  <dcterms:created xsi:type="dcterms:W3CDTF">2026-06-02T08:11:50Z</dcterms:created>
  <dcterms:modified xsi:type="dcterms:W3CDTF">2026-06-02T08:11:50Z</dcterms:modified>
</cp:coreProperties>
</file>